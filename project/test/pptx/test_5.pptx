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chốt đáp án $F'(x) = 3x^2 + 4x$. GV đặt vấn đề: 'Ngược lại, nếu cho $f(x) = 3x^2 + 4x$, có cách nào để tìm được hàm số $F(x)$ mà $F'(x) = f(x)$ không? Đây chính là nội dung chúng ta sẽ tìm hiểu trong bài học hôm nay: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Nhấn mạnh điều kiện 'trên một khoảng K' và ý nghĩa của F'(x) = f(x).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Giải thích ý nghĩa của hằng số C và tại sao nó xuất hiện. Hằng số C được gọi là hằng số tích phân.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có thể yêu cầu HS nhắc lại công thức đạo hàm tương ứng để xây dựng từng dòng của bảng.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Giao bài tập cho học sinh làm việc cá nhân hoặc theo nhóm nhỏ. GV quan sát, hỗ trợ khi cần thiết.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Hướng dẫn học sinh cách sử dụng điều kiện ban đầu để tìm giá trị cụ thể của hằng số 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chữa bài chi tiết, nhấn mạnh các lỗi thường gặp (ví dụ: quên hằng số C, tính toán sai), củng cố kiến thức về cách áp dụng công thức và tính chất.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Khuyến khích học sinh suy nghĩ về mối liên hệ giữa vận tốc và quãng đường trong vật lý, từ đó áp dụng kiến thức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chốt đáp án và mở rộng về ý nghĩa thực tiễn của nguyên hàm trong các lĩnh vực khác.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Nguyên hàm</a:t>
            </a:r>
          </a:p>
          <a:p>
            <a:pPr>
              <a:spcBef>
                <a:spcPts val="1000"/>
              </a:spcBef>
              <a:defRPr sz="2200">
                <a:solidFill>
                  <a:srgbClr val="2C3E50"/>
                </a:solidFill>
                <a:latin typeface="Times New Roman"/>
              </a:defRPr>
            </a:pPr>
            <a:r>
              <a:t>Khái niệm và các tính chất cơ bản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Cho hàm số F(x) = x³ + 2x² - 5 . Hãy tính đạo hàm F'(x) .</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F(x) = x^3 + 2x^2 - 5 \Rightarrow F'(x) = 3x^2 + 4x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 Định nghĩa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GV yêu cầu HS tìm một vài hàm F(x) sao cho F'(x) = 2x .</a:t>
            </a:r>
          </a:p>
          <a:p>
            <a:pPr>
              <a:spcAft>
                <a:spcPts val="1000"/>
              </a:spcAft>
            </a:pPr>
            <a:r>
              <a:rPr sz="1800">
                <a:solidFill>
                  <a:srgbClr val="2C3E50"/>
                </a:solidFill>
                <a:latin typeface="Times New Roman"/>
              </a:rPr>
              <a:t>• Giới thiệu định lí về sự tồn tại của nguyên hàm.</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Cho hàm số f(x) xác định trên khoảng K. Hàm số F(x) được gọi là nguyên hàm của f(x) trên K nếu F'(x) = f(x) với mọi x \in 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II. Họ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Nếu F(x) là một nguyên hàm của f(x) trên K , thì mọi nguyên hàm của f(x) trên K đều có dạng F(x) + C , với C là hằng số.</a:t>
            </a:r>
          </a:p>
          <a:p>
            <a:pPr>
              <a:spcAft>
                <a:spcPts val="1000"/>
              </a:spcAft>
            </a:pPr>
            <a:r>
              <a:rPr sz="1800">
                <a:solidFill>
                  <a:srgbClr val="2C3E50"/>
                </a:solidFill>
                <a:latin typeface="Times New Roman"/>
              </a:rPr>
              <a:t>• Kí hiệu họ nguyên hàm của f(x) là ∫ f(x) dx .</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\int f(x) dx = F(x) +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III. Tính chất của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Hằng số k khác 0 có thể đưa ra ngoài dấu tích phân.</a:t>
            </a:r>
          </a:p>
          <a:p>
            <a:pPr>
              <a:spcAft>
                <a:spcPts val="1000"/>
              </a:spcAft>
            </a:pPr>
            <a:r>
              <a:rPr sz="1800">
                <a:solidFill>
                  <a:srgbClr val="2C3E50"/>
                </a:solidFill>
                <a:latin typeface="Times New Roman"/>
              </a:rPr>
              <a:t>• Nguyên hàm của tổng hoặc hiệu bằng tổng hoặc hiệu các nguyên hàm.</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1) \int k f(x) dx = k \int f(x) dx (k \neq 0)\newline 2) \int [f(x) \pm g(x)] dx = \int f(x) dx \pm \int g(x) dx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IV. Bảng Nguyên hàm cơ bản</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Dựa trên bảng đạo hàm đã học để xây dựng bảng nguyên hàm.</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\begin{array}{|c|c|}\hline f(x) &amp; \int f(x) dx \\ \hline 0 &amp; C \\ \hline k &amp; kx + C \\ \hline x^n (n \neq -1) &amp; \frac{x^{n+1}}{n+1} + C \\ \hline \frac{1}{x} &amp; \ln|x| + C \\ \hline e^x &amp; e^x + C \\ \hline a^x (a&gt;0, a \neq 1) &amp; \frac{a^x}{\ln a} + C \\ \hline \cos x &amp; \sin x + C \\ \hline \sin x &amp; -\cos x + C \\ \hline \frac{1}{\cos^2 x} &amp; \tan x + C \\ \hline \frac{1}{\sin^2 x} &amp; -\cot x + C \\ \hline \end{array}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Bài tập vận dụng</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1. Tìm nguyên hàm của f(x) = x^4 - 3x² + 5 .</a:t>
            </a:r>
          </a:p>
          <a:p>
            <a:pPr>
              <a:spcAft>
                <a:spcPts val="1000"/>
              </a:spcAft>
            </a:pPr>
            <a:r>
              <a:rPr sz="1800">
                <a:solidFill>
                  <a:srgbClr val="2C3E50"/>
                </a:solidFill>
                <a:latin typeface="Times New Roman"/>
              </a:rPr>
              <a:t>• 2. Tìm nguyên hàm của g(x) = (2x+1)² .</a:t>
            </a:r>
          </a:p>
          <a:p>
            <a:pPr>
              <a:spcAft>
                <a:spcPts val="1000"/>
              </a:spcAft>
            </a:pPr>
            <a:r>
              <a:rPr sz="1800">
                <a:solidFill>
                  <a:srgbClr val="2C3E50"/>
                </a:solidFill>
                <a:latin typeface="Times New Roman"/>
              </a:rPr>
              <a:t>• 3. Tìm nguyên hàm của h(x) = 3sin x + 2e^x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Bài tập vận dụng (Tiếp)</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4. Tìm nguyên hàm F(x) của hàm số f(x) = 4x³ - 2x + 1 , biết F(1) = 3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Chữa bài tập</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1. x^55 - x³ + 5x + C</a:t>
            </a:r>
          </a:p>
          <a:p>
            <a:pPr>
              <a:spcAft>
                <a:spcPts val="1000"/>
              </a:spcAft>
            </a:pPr>
            <a:r>
              <a:rPr sz="1800">
                <a:solidFill>
                  <a:srgbClr val="2C3E50"/>
                </a:solidFill>
                <a:latin typeface="Times New Roman"/>
              </a:rPr>
              <a:t>• 2. ∫ (4x² + 4x + 1) dx = 4x³3 + 2x² + x + C</a:t>
            </a:r>
          </a:p>
          <a:p>
            <a:pPr>
              <a:spcAft>
                <a:spcPts val="1000"/>
              </a:spcAft>
            </a:pPr>
            <a:r>
              <a:rPr sz="1800">
                <a:solidFill>
                  <a:srgbClr val="2C3E50"/>
                </a:solidFill>
                <a:latin typeface="Times New Roman"/>
              </a:rPr>
              <a:t>• 3. -3cos x + 2e^x + C</a:t>
            </a:r>
          </a:p>
          <a:p>
            <a:pPr>
              <a:spcAft>
                <a:spcPts val="1000"/>
              </a:spcAft>
            </a:pPr>
            <a:r>
              <a:rPr sz="1800">
                <a:solidFill>
                  <a:srgbClr val="2C3E50"/>
                </a:solidFill>
                <a:latin typeface="Times New Roman"/>
              </a:rPr>
              <a:t>• 4. F(x) = x^4 - x² + x + C . Với F(1) = 3 ⇒ 1^4 - 1² + 1 + C = 3 ⇒ 1 + C = 3 ⇒ C = 2 . Vậy F(x) = x^4 - x² + x + 2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 Ứng dụng của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Một vật chuyển động với vận tốc v(t) = 3t² - 2t + 4 (m/s).</a:t>
            </a:r>
          </a:p>
          <a:p>
            <a:pPr>
              <a:spcAft>
                <a:spcPts val="1000"/>
              </a:spcAft>
            </a:pPr>
            <a:r>
              <a:rPr sz="1800">
                <a:solidFill>
                  <a:srgbClr val="2C3E50"/>
                </a:solidFill>
                <a:latin typeface="Times New Roman"/>
              </a:rPr>
              <a:t>• Tìm quãng đường S(t) mà vật đi được sau thời gian t , biết rằng khi t=0 thì S(0)=0 .</a:t>
            </a:r>
          </a:p>
          <a:p>
            <a:pPr>
              <a:spcAft>
                <a:spcPts val="1000"/>
              </a:spcAft>
            </a:pPr>
            <a:r>
              <a:rPr sz="1800">
                <a:solidFill>
                  <a:srgbClr val="2C3E50"/>
                </a:solidFill>
                <a:latin typeface="Times New Roman"/>
              </a:rPr>
              <a:t>• Gợi ý: Quãng đường là nguyên hàm của vận tốc.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Chữa bài tập ứng dụng</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S(t) = ∫ v(t) dt = ∫ (3t² - 2t + 4) dt = t³ - t² + 4t + C .</a:t>
            </a:r>
          </a:p>
          <a:p>
            <a:pPr>
              <a:spcAft>
                <a:spcPts val="1000"/>
              </a:spcAft>
            </a:pPr>
            <a:r>
              <a:rPr sz="1800">
                <a:solidFill>
                  <a:srgbClr val="2C3E50"/>
                </a:solidFill>
                <a:latin typeface="Times New Roman"/>
              </a:rPr>
              <a:t>• Vì S(0) = 0 ⇒ 0³ - 0² + 4(0) + C = 0 ⇒ C = 0 .</a:t>
            </a:r>
          </a:p>
          <a:p>
            <a:pPr>
              <a:spcAft>
                <a:spcPts val="1000"/>
              </a:spcAft>
            </a:pPr>
            <a:r>
              <a:rPr sz="1800">
                <a:solidFill>
                  <a:srgbClr val="2C3E50"/>
                </a:solidFill>
                <a:latin typeface="Times New Roman"/>
              </a:rPr>
              <a:t>• Vậy S(t) = t³ - t² + 4t .</a:t>
            </a:r>
          </a:p>
          <a:p>
            <a:pPr>
              <a:spcAft>
                <a:spcPts val="1000"/>
              </a:spcAft>
            </a:pPr>
            <a:r>
              <a:rPr sz="1800">
                <a:solidFill>
                  <a:srgbClr val="2C3E50"/>
                </a:solidFill>
                <a:latin typeface="Times New Roman"/>
              </a:rPr>
              <a:t>• Nguyên hàm có nhiều ứng dụng quan trọng trong vật lí, kinh tế, sinh học,... giúp chúng ta giải quyết các bài toán liên quan đến sự thay đổi và tích lũy.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Tổng kết bài học</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nghĩa nguyên hàm của hàm số trên một khoảng.</a:t>
            </a:r>
          </a:p>
          <a:p>
            <a:pPr>
              <a:spcAft>
                <a:spcPts val="1000"/>
              </a:spcAft>
            </a:pPr>
            <a:r>
              <a:rPr sz="1800">
                <a:solidFill>
                  <a:srgbClr val="2C3E50"/>
                </a:solidFill>
                <a:latin typeface="Times New Roman"/>
              </a:rPr>
              <a:t>• Họ nguyên hàm: ∫ f(x) dx = F(x) + C .</a:t>
            </a:r>
          </a:p>
          <a:p>
            <a:pPr>
              <a:spcAft>
                <a:spcPts val="1000"/>
              </a:spcAft>
            </a:pPr>
            <a:r>
              <a:rPr sz="1800">
                <a:solidFill>
                  <a:srgbClr val="2C3E50"/>
                </a:solidFill>
                <a:latin typeface="Times New Roman"/>
              </a:rPr>
              <a:t>• Các tính chất cơ bản của nguyên hàm.</a:t>
            </a:r>
          </a:p>
          <a:p>
            <a:pPr>
              <a:spcAft>
                <a:spcPts val="1000"/>
              </a:spcAft>
            </a:pPr>
            <a:r>
              <a:rPr sz="1800">
                <a:solidFill>
                  <a:srgbClr val="2C3E50"/>
                </a:solidFill>
                <a:latin typeface="Times New Roman"/>
              </a:rPr>
              <a:t>• Bảng nguyên hàm của một số hàm số cơ bản.</a:t>
            </a:r>
          </a:p>
          <a:p>
            <a:pPr>
              <a:spcAft>
                <a:spcPts val="1000"/>
              </a:spcAft>
            </a:pPr>
            <a:r>
              <a:rPr sz="1800">
                <a:solidFill>
                  <a:srgbClr val="2C3E50"/>
                </a:solidFill>
                <a:latin typeface="Times New Roman"/>
              </a:rPr>
              <a:t>• Ứng dụng của nguyên hàm trong các bài toán thực tế.</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