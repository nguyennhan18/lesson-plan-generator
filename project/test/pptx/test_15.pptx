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Giáo viên giới thiệu bài học mới, nêu rõ mục tiêu cần đạt về kiến thức, năng lực và phẩm chất theo định hướng phát triển năng lực của học sinh.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chiếu tình huống khởi động và yêu cầu HS làm việc cá nhân trong 2 phút. Sau đó, GV gọi 1-2 HS trả lời nhanh kết quả. HS sẽ chỉ ra dãy số là 10000, 15000, 20000, 25000, 30000 và quy luật là số hạng sau bằng số hạng trước cộng thêm 5000. GV dẫn dắt vào bài mới.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phân tích định nghĩa cấp số cộng từ tình huống thực tế của Nam (với công sai d = 5000). GV nhấn mạnh rằng công sai d có thể là số dương, số âm hoặc bằng 0. Nếu d = 0 thì cấp số cộng là một dãy số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dẫn dắt HS tự xây dựng công thức số hạng tổng quát bằng phương pháp quy nạp không hoàn toàn: u2 = u1 + d, u3 = u2 + d = u1 + 2d, u4 = u3 + d = u1 + 3d... Từ đó khái quát lên công thức tổng quát và nhấn mạnh hệ số của d luôn là n-1.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giới thiệu hai dạng công thức tính tổng Sn. GV có thể kể câu chuyện lịch sử về nhà toán học Gauss tính tổng từ 1 đến 100 khi còn nhỏ để giúp HS ghi nhớ công thức một cách trực quan và sâu sắc.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số 2, yêu cầu HS làm việc cá nhân trong 5 phút. Sau đó gọi 2 HS lên bảng trình bày lời giải. GV nhận xét, lưu ý lỗi sai phổ biến của HS là nhầm lẫn hệ số n-1 thành n khi tính số hạng thứ 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 chức cho HS thảo luận theo cặp đôi trong 5 phút để phân tích đề bài thực tế, xác định các đại lượng toán học tương ứng (u1, d, n). Sau đó gọi đại diện một nhóm trình bày. GV tổng kết và nhấn mạnh ý nghĩa thực tiễn của cấp số cộng trong đời sống.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hệ thống hóa lại toàn bộ kiến thức của bài học, nhấn mạnh các công thức quan trọng cần nhớ. GV dặn dò học sinh làm bài tập về nhà và chuẩn bị cho bài học tiếp theo là Cấp số nhân.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11</a:t>
            </a:r>
          </a:p>
          <a:p>
            <a:pPr>
              <a:spcBef>
                <a:spcPts val="1500"/>
              </a:spcBef>
              <a:defRPr sz="4000" b="1">
                <a:solidFill>
                  <a:srgbClr val="003366"/>
                </a:solidFill>
                <a:latin typeface="Times New Roman"/>
              </a:defRPr>
            </a:pPr>
            <a:r>
              <a:t>Cấp số cộng</a:t>
            </a:r>
          </a:p>
          <a:p>
            <a:pPr>
              <a:spcBef>
                <a:spcPts val="1000"/>
              </a:spcBef>
              <a:defRPr sz="2200">
                <a:solidFill>
                  <a:srgbClr val="2C3E50"/>
                </a:solidFill>
                <a:latin typeface="Times New Roman"/>
              </a:defRPr>
            </a:pPr>
            <a:r>
              <a:t>Môn Toán học - Lớp 11 (Chương trình GDPT 2018)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Tình huống khởi động: Tiết kiệm tiền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Bạn Nam tiết kiệm tiền để mua sách học tập.</a:t>
            </a:r>
          </a:p>
          <a:p>
            <a:pPr>
              <a:spcAft>
                <a:spcPts val="1000"/>
              </a:spcAft>
            </a:pPr>
            <a:r>
              <a:rPr sz="1800">
                <a:solidFill>
                  <a:srgbClr val="2C3E50"/>
                </a:solidFill>
                <a:latin typeface="Times New Roman"/>
              </a:rPr>
              <a:t>• Ngày đầu tiên Nam tiết kiệm được 10000 đồng.</a:t>
            </a:r>
          </a:p>
          <a:p>
            <a:pPr>
              <a:spcAft>
                <a:spcPts val="1000"/>
              </a:spcAft>
            </a:pPr>
            <a:r>
              <a:rPr sz="1800">
                <a:solidFill>
                  <a:srgbClr val="2C3E50"/>
                </a:solidFill>
                <a:latin typeface="Times New Roman"/>
              </a:rPr>
              <a:t>• Kể từ ngày thứ hai, mỗi ngày Nam tiết kiệm thêm 5000 đồng.</a:t>
            </a:r>
          </a:p>
          <a:p>
            <a:pPr>
              <a:spcAft>
                <a:spcPts val="1000"/>
              </a:spcAft>
            </a:pPr>
            <a:r>
              <a:rPr sz="1800">
                <a:solidFill>
                  <a:srgbClr val="2C3E50"/>
                </a:solidFill>
                <a:latin typeface="Times New Roman"/>
              </a:rPr>
              <a:t>• Hãy viết dãy số biểu diễn số tiền tiết kiệm của Nam trong 5 ngày đầu tiên.</a:t>
            </a:r>
          </a:p>
          <a:p>
            <a:pPr>
              <a:spcAft>
                <a:spcPts val="1000"/>
              </a:spcAft>
            </a:pPr>
            <a:r>
              <a:rPr sz="1800">
                <a:solidFill>
                  <a:srgbClr val="2C3E50"/>
                </a:solidFill>
                <a:latin typeface="Times New Roman"/>
              </a:rPr>
              <a:t>• Tìm quy luật liên hệ giữa các số hạng liên tiếp trong dãy số đó.</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Định nghĩa Cấp số cộng</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Cấp số cộng là một dãy số (hữu hạn hoặc vô hạn).</a:t>
            </a:r>
          </a:p>
          <a:p>
            <a:pPr>
              <a:spcAft>
                <a:spcPts val="1000"/>
              </a:spcAft>
            </a:pPr>
            <a:r>
              <a:rPr sz="1800">
                <a:solidFill>
                  <a:srgbClr val="2C3E50"/>
                </a:solidFill>
                <a:latin typeface="Times New Roman"/>
              </a:rPr>
              <a:t>• Trong đó, kể từ số hạng thứ hai, mỗi số hạng đều bằng số hạng đứng ngay trước nó cộng với một số không đổi d.</a:t>
            </a:r>
          </a:p>
          <a:p>
            <a:pPr>
              <a:spcAft>
                <a:spcPts val="1000"/>
              </a:spcAft>
            </a:pPr>
            <a:r>
              <a:rPr sz="1800">
                <a:solidFill>
                  <a:srgbClr val="2C3E50"/>
                </a:solidFill>
                <a:latin typeface="Times New Roman"/>
              </a:rPr>
              <a:t>• Số d được gọi là công sai của cấp số cộng.</a:t>
            </a:r>
          </a:p>
          <a:p>
            <a:pPr>
              <a:spcAft>
                <a:spcPts val="1000"/>
              </a:spcAft>
            </a:pPr>
            <a:r>
              <a:rPr sz="1800">
                <a:solidFill>
                  <a:srgbClr val="2C3E50"/>
                </a:solidFill>
                <a:latin typeface="Times New Roman"/>
              </a:rPr>
              <a:t>• Công thức truy hồi: uₙ₊₁ = uₙ + d với mọi n ∈ ℕ^*.</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4"/>
            <a:ext cx="3894667" cy="731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Công thức số hạng tổng quát</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một cấp số cộng có số hạng đầu u₁ và công sai d.</a:t>
            </a:r>
          </a:p>
          <a:p>
            <a:pPr>
              <a:spcAft>
                <a:spcPts val="1000"/>
              </a:spcAft>
            </a:pPr>
            <a:r>
              <a:rPr sz="1800">
                <a:solidFill>
                  <a:srgbClr val="2C3E50"/>
                </a:solidFill>
                <a:latin typeface="Times New Roman"/>
              </a:rPr>
              <a:t>• Số hạng tổng quát uₙ được tính theo công thức dưới đây.</a:t>
            </a:r>
          </a:p>
          <a:p>
            <a:pPr>
              <a:spcAft>
                <a:spcPts val="1000"/>
              </a:spcAft>
            </a:pPr>
            <a:r>
              <a:rPr sz="1800">
                <a:solidFill>
                  <a:srgbClr val="2C3E50"/>
                </a:solidFill>
                <a:latin typeface="Times New Roman"/>
              </a:rPr>
              <a:t>• Công thức: uₙ = u₁ + (n-1)d với mọi n ge 2.</a:t>
            </a:r>
          </a:p>
          <a:p>
            <a:pPr>
              <a:spcAft>
                <a:spcPts val="1000"/>
              </a:spcAft>
            </a:pPr>
            <a:r>
              <a:rPr sz="1800">
                <a:solidFill>
                  <a:srgbClr val="2C3E50"/>
                </a:solidFill>
                <a:latin typeface="Times New Roman"/>
              </a:rPr>
              <a:t>• Ý nghĩa: Giúp tìm số hạng thứ n bất kỳ mà không cần tính toàn bộ các số hạng trước nó.</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4"/>
            <a:ext cx="5005493"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n số hạng đầu tiên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Ký hiệu Sₙ là tổng của n số hạng đầu tiên của một cấp số cộng.</a:t>
            </a:r>
          </a:p>
          <a:p>
            <a:pPr>
              <a:spcAft>
                <a:spcPts val="1000"/>
              </a:spcAft>
            </a:pPr>
            <a:r>
              <a:rPr sz="1800">
                <a:solidFill>
                  <a:srgbClr val="2C3E50"/>
                </a:solidFill>
                <a:latin typeface="Times New Roman"/>
              </a:rPr>
              <a:t>• Ta có: Sₙ = u₁ + u₂ + u₃ + ... + uₙ.</a:t>
            </a:r>
          </a:p>
          <a:p>
            <a:pPr>
              <a:spcAft>
                <a:spcPts val="1000"/>
              </a:spcAft>
            </a:pPr>
            <a:r>
              <a:rPr sz="1800">
                <a:solidFill>
                  <a:srgbClr val="2C3E50"/>
                </a:solidFill>
                <a:latin typeface="Times New Roman"/>
              </a:rPr>
              <a:t>• Công thức tính theo số hạng đầu và số hạng cuối: Sₙ = fracn(u₁ + uₙ)2.</a:t>
            </a:r>
          </a:p>
          <a:p>
            <a:pPr>
              <a:spcAft>
                <a:spcPts val="1000"/>
              </a:spcAft>
            </a:pPr>
            <a:r>
              <a:rPr sz="1800">
                <a:solidFill>
                  <a:srgbClr val="2C3E50"/>
                </a:solidFill>
                <a:latin typeface="Times New Roman"/>
              </a:rPr>
              <a:t>• Công thức tính theo số hạng đầu và công sai: Sₙ = fracn[2u₁ + (n-1)d]2.</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4"/>
            <a:ext cx="3807108"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Áp dụng công thức cơ bản</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Bài toán: Cho cấp số cộng có số hạng đầu u₁ = 2 và công sai d = 3.</a:t>
            </a:r>
          </a:p>
          <a:p>
            <a:pPr>
              <a:spcAft>
                <a:spcPts val="1000"/>
              </a:spcAft>
            </a:pPr>
            <a:r>
              <a:rPr sz="1800">
                <a:solidFill>
                  <a:srgbClr val="2C3E50"/>
                </a:solidFill>
                <a:latin typeface="Times New Roman"/>
              </a:rPr>
              <a:t>• Yêu cầu 1: Hãy tìm số hạng thứ 15 (u₁₅) của cấp số cộng này.</a:t>
            </a:r>
          </a:p>
          <a:p>
            <a:pPr>
              <a:spcAft>
                <a:spcPts val="1000"/>
              </a:spcAft>
            </a:pPr>
            <a:r>
              <a:rPr sz="1800">
                <a:solidFill>
                  <a:srgbClr val="2C3E50"/>
                </a:solidFill>
                <a:latin typeface="Times New Roman"/>
              </a:rPr>
              <a:t>• Yêu cầu 2: Tính tổng của 15 số hạng đầu tiên (S₁₅).</a:t>
            </a:r>
          </a:p>
          <a:p>
            <a:pPr>
              <a:spcAft>
                <a:spcPts val="1000"/>
              </a:spcAft>
            </a:pPr>
            <a:r>
              <a:rPr sz="1800">
                <a:solidFill>
                  <a:srgbClr val="2C3E50"/>
                </a:solidFill>
                <a:latin typeface="Times New Roman"/>
              </a:rPr>
              <a:t>• Hướng dẫn giải:</a:t>
            </a:r>
          </a:p>
          <a:p>
            <a:pPr>
              <a:spcAft>
                <a:spcPts val="1000"/>
              </a:spcAft>
            </a:pPr>
            <a:r>
              <a:rPr sz="1800">
                <a:solidFill>
                  <a:srgbClr val="2C3E50"/>
                </a:solidFill>
                <a:latin typeface="Times New Roman"/>
              </a:rPr>
              <a:t>• - Áp dụng công thức số hạng tổng quát: u₁₅ = u₁ + 14d = 2 + 14 × 3 = 44.</a:t>
            </a:r>
          </a:p>
          <a:p>
            <a:pPr>
              <a:spcAft>
                <a:spcPts val="1000"/>
              </a:spcAft>
            </a:pPr>
            <a:r>
              <a:rPr sz="1800">
                <a:solidFill>
                  <a:srgbClr val="2C3E50"/>
                </a:solidFill>
                <a:latin typeface="Times New Roman"/>
              </a:rPr>
              <a:t>• - Áp dụng công thức tính tổng: S₁₅ = frac15(u₁ + u₁₅)2 = frac15(2 + 44)2 = 345.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thực tế: Thiết kế khán đài nhà hát</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Tình huống: Một khán đài nhà hát có tổng cộng 20 hàng ghế.</a:t>
            </a:r>
          </a:p>
          <a:p>
            <a:pPr>
              <a:spcAft>
                <a:spcPts val="1000"/>
              </a:spcAft>
            </a:pPr>
            <a:r>
              <a:rPr sz="1800">
                <a:solidFill>
                  <a:srgbClr val="2C3E50"/>
                </a:solidFill>
                <a:latin typeface="Times New Roman"/>
              </a:rPr>
              <a:t>• Hàng đầu tiên có 15 ghế, mỗi hàng sau nhiều hơn hàng ngay trước nó 3 ghế.</a:t>
            </a:r>
          </a:p>
          <a:p>
            <a:pPr>
              <a:spcAft>
                <a:spcPts val="1000"/>
              </a:spcAft>
            </a:pPr>
            <a:r>
              <a:rPr sz="1800">
                <a:solidFill>
                  <a:srgbClr val="2C3E50"/>
                </a:solidFill>
                <a:latin typeface="Times New Roman"/>
              </a:rPr>
              <a:t>• Hãy tính số ghế ở hàng thứ 20.</a:t>
            </a:r>
          </a:p>
          <a:p>
            <a:pPr>
              <a:spcAft>
                <a:spcPts val="1000"/>
              </a:spcAft>
            </a:pPr>
            <a:r>
              <a:rPr sz="1800">
                <a:solidFill>
                  <a:srgbClr val="2C3E50"/>
                </a:solidFill>
                <a:latin typeface="Times New Roman"/>
              </a:rPr>
              <a:t>• Tính tổng số ghế của toàn bộ khán đài đó.</a:t>
            </a:r>
          </a:p>
          <a:p>
            <a:pPr>
              <a:spcAft>
                <a:spcPts val="1000"/>
              </a:spcAft>
            </a:pPr>
            <a:r>
              <a:rPr sz="1800">
                <a:solidFill>
                  <a:srgbClr val="2C3E50"/>
                </a:solidFill>
                <a:latin typeface="Times New Roman"/>
              </a:rPr>
              <a:t>• Mô hình hóa toán học:</a:t>
            </a:r>
          </a:p>
          <a:p>
            <a:pPr>
              <a:spcAft>
                <a:spcPts val="1000"/>
              </a:spcAft>
            </a:pPr>
            <a:r>
              <a:rPr sz="1800">
                <a:solidFill>
                  <a:srgbClr val="2C3E50"/>
                </a:solidFill>
                <a:latin typeface="Times New Roman"/>
              </a:rPr>
              <a:t>• - Dãy số ghế các hàng lập thành cấp số cộng với u₁ = 15, d = 3, n = 20.</a:t>
            </a:r>
          </a:p>
          <a:p>
            <a:pPr>
              <a:spcAft>
                <a:spcPts val="1000"/>
              </a:spcAft>
            </a:pPr>
            <a:r>
              <a:rPr sz="1800">
                <a:solidFill>
                  <a:srgbClr val="2C3E50"/>
                </a:solidFill>
                <a:latin typeface="Times New Roman"/>
              </a:rPr>
              <a:t>• - Số ghế hàng thứ 20: u₂₀ = 15 + 19 × 3 = 72 ghế.</a:t>
            </a:r>
          </a:p>
          <a:p>
            <a:pPr>
              <a:spcAft>
                <a:spcPts val="1000"/>
              </a:spcAft>
            </a:pPr>
            <a:r>
              <a:rPr sz="1800">
                <a:solidFill>
                  <a:srgbClr val="2C3E50"/>
                </a:solidFill>
                <a:latin typeface="Times New Roman"/>
              </a:rPr>
              <a:t>• - Tổng số ghế: S₂₀ = frac20(15 + 72)2 = 870 ghế.</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Tóm tắt bài học &amp; Nhiệm vụ về nhà</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cấp số cộng: uₙ₊₁ = uₙ + d.</a:t>
            </a:r>
          </a:p>
          <a:p>
            <a:pPr>
              <a:spcAft>
                <a:spcPts val="1000"/>
              </a:spcAft>
            </a:pPr>
            <a:r>
              <a:rPr sz="1800">
                <a:solidFill>
                  <a:srgbClr val="2C3E50"/>
                </a:solidFill>
                <a:latin typeface="Times New Roman"/>
              </a:rPr>
              <a:t>• Số hạng tổng quát: uₙ = u₁ + (n-1)d.</a:t>
            </a:r>
          </a:p>
          <a:p>
            <a:pPr>
              <a:spcAft>
                <a:spcPts val="1000"/>
              </a:spcAft>
            </a:pPr>
            <a:r>
              <a:rPr sz="1800">
                <a:solidFill>
                  <a:srgbClr val="2C3E50"/>
                </a:solidFill>
                <a:latin typeface="Times New Roman"/>
              </a:rPr>
              <a:t>• Tổng n số hạng đầu: Sₙ = fracn(u₁ + uₙ)2 = fracn[2u₁ + (n-1)d]2.</a:t>
            </a:r>
          </a:p>
          <a:p>
            <a:pPr>
              <a:spcAft>
                <a:spcPts val="1000"/>
              </a:spcAft>
            </a:pPr>
            <a:r>
              <a:rPr sz="1800">
                <a:solidFill>
                  <a:srgbClr val="2C3E50"/>
                </a:solidFill>
                <a:latin typeface="Times New Roman"/>
              </a:rPr>
              <a:t>• Nhiệm vụ học tập về nhà:</a:t>
            </a:r>
          </a:p>
          <a:p>
            <a:pPr>
              <a:spcAft>
                <a:spcPts val="1000"/>
              </a:spcAft>
            </a:pPr>
            <a:r>
              <a:rPr sz="1800">
                <a:solidFill>
                  <a:srgbClr val="2C3E50"/>
                </a:solidFill>
                <a:latin typeface="Times New Roman"/>
              </a:rPr>
              <a:t>• - Học thuộc các công thức cốt lõi.</a:t>
            </a:r>
          </a:p>
          <a:p>
            <a:pPr>
              <a:spcAft>
                <a:spcPts val="1000"/>
              </a:spcAft>
            </a:pPr>
            <a:r>
              <a:rPr sz="1800">
                <a:solidFill>
                  <a:srgbClr val="2C3E50"/>
                </a:solidFill>
                <a:latin typeface="Times New Roman"/>
              </a:rPr>
              <a:t>• - Hoàn thành các bài tập trong Sách giáo khoa.</a:t>
            </a:r>
          </a:p>
          <a:p>
            <a:pPr>
              <a:spcAft>
                <a:spcPts val="1000"/>
              </a:spcAft>
            </a:pPr>
            <a:r>
              <a:rPr sz="1800">
                <a:solidFill>
                  <a:srgbClr val="2C3E50"/>
                </a:solidFill>
                <a:latin typeface="Times New Roman"/>
              </a:rPr>
              <a:t>• - Tìm thêm ít nhất 1 ví dụ thực tế liên quan đến cấp số cộng.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