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Nguyên hàm. Đây là một khái niệm quan trọng, là phép toán ngược của phép tính đạo hàm mà chúng ta đã học. Trong bài học này, chúng ta sẽ cùng nhau tìm hiểu về định nghĩa, tính chất và cách tìm nguyên hàm của một số hàm số cơ bản. Bài học hôm nay sẽ giúp các em phát triển năng lực tư duy, lập luận toán học và giải quyết các bài toán thực tiễn.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đặt câu hỏi gợi mở cho học sinh. Yêu cầu HS suy nghĩ cá nhân, sau đó có thể trao đổi nhanh với bạn. GV gọi 1-2 HS trình bày kết quả, khuyến khích các em đưa ra nhiều đáp án cho câu hỏi đầu tiên. GV nhấn mạnh sự tồn tại của nhiều hàm số có cùng đạo hàm và dẫn dắt vào bài học: việc tìm $F(x)$ khi biết $F'(x)$ chính là phép tính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định nghĩa một cách rõ ràng, nhấn mạnh rằng nguyên hàm là phép toán ngược của đạo hàm. Yêu cầu học sinh nhắc lại định nghĩa đạo hàm để so sánh. GV có thể đặt câu hỏi: 'Tại sao lại cần 'trên khoảng $K$' mà không phải trên một tập hợp bất kỳ?' để học sinh suy nghĩ về tính liên tục và khả vi.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ý nghĩa của hằng số $C$ trong họ nguyên hàm, liên hệ với ví dụ khởi động (ví dụ: $x^2$, $x^2+1$, $x^2-5$). Giới thiệu ký hiệu $\int$ (dấu tích phân) và cách đọc. Nhấn mạnh rằng $C$ là hằng số tùy ý và nó đại diện cho vô số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giới thiệu các tính chất cơ bản của nguyên hàm. Yêu cầu học sinh liên hệ với các tính chất tương ứng của phép tính đạo hàm để thấy sự tương đồng. Nhấn mạnh rằng các tính chất này giúp chúng ta tính nguyên hàm của các hàm số phức tạp hơn bằng cách chia nhỏ thành các hàm số đơn giản.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giới thiệu bảng nguyên hàm cơ bản. Yêu cầu học sinh ghi nhớ các công thức này. GV có thể gợi ý học sinh kiểm tra lại bằng cách lấy đạo hàm của vế phải để xem có ra vế trái hay không. Đặc biệt nhấn mạnh điều kiện của $n$ trong công thức nguyên hàm của $x^n$ và nguyên hàm của $\frac{1}{x}$.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Tiếp tục với bảng nguyên hàm cơ bản cho các hàm lượng giác. Yêu cầu học sinh chú ý đến dấu trừ trong nguyên hàm của $\sin x$ và $\frac{1}{\sin^2 x}$. Nhấn mạnh các điều kiện xác định của $\tan x$ và $\cot x$. GV có thể hỏi: 'Tại sao nguyên hàm của $\sin x$ lại là $-\cos x$?' để học sinh suy nghĩ về đạo hàm của $\cos 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hoặc chiếu bài tập lên bảng. Yêu cầu HS làm việc cá nhân trong khoảng 2-3 phút. Sau đó, GV gọi 1 HS lên bảng trình bày lời giải. Các HS khác theo dõi và nhận xét. GV chữa bài và nhấn mạnh việc áp dụng tính chất tổng/hiệu và công thức nguyên hàm của $x^n$.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Tiếp tục với bài tập thứ hai. GV gợi ý HS nhớ lại cách biến đổi $\frac{1}{x^2}$ về dạng $x^n$. Yêu cầu HS không quên hằng số $C$ khi tìm họ nguyên hàm. GV gọi 1 HS lên bảng trình bày, sau đó chữa bài và chốt lại các bước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đưa ra bài tập thứ ba. Gợi ý HS khai triển hằng đẳng thức trước khi áp dụng các công thức nguyên hàm cơ bản. Đây là một lỗi thường gặp nếu HS cố gắng áp dụng công thức cho $(ax+b)^n$ mà chưa học. GV gọi 1 HS lên bảng trình bày, chữa bài và nhấn mạnh tầm quan trọng của việc biến đổi biểu thức về dạng cơ bản trước khi tính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đưa ra bài toán vận dụng thực tế. Yêu cầu học sinh suy nghĩ về mối liên hệ giữa vận tốc và quãng đường (quãng đường là nguyên hàm của vận tốc). Hướng dẫn HS tìm hàm $S(t)$ và dùng điều kiện $S(0)=0$ để xác định hằng số $C$. GV gọi 1 HS trình bày lời giải, sau đó chốt lời giải đúng và nhấn mạnh ý nghĩa của nguyên hàm trong các bài toán vật lý.</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tổng kết lại các kiến thức trọng tâm của bài học: định nghĩa, ký hiệu, tính chất và bảng nguyên hàm cơ bản. Yêu cầu một vài học sinh nhắc lại các nội dung chính để củng cố kiến thức. Nhấn mạnh tầm quan trọng của việc hiểu rõ định nghĩa và nắm vững các công thức cơ bản.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nhiệm vụ về nhà cho học sinh. Khuyến khích các em tự giác tìm hiểu thêm về các phương pháp tính nguyên hàm phức tạp hơn để chuẩn bị cho bài học tiếp theo. Dặn dò học sinh nếu có bất kỳ thắc mắc nào, hãy hỏi giáo viên vào buổi học kế tiếp. 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Phép toán ngược của Đạo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một hàm số F(x) sao cho F'(x) = 2x.</a:t>
            </a:r>
          </a:p>
          <a:p>
            <a:pPr>
              <a:spcAft>
                <a:spcPts val="1000"/>
              </a:spcAft>
            </a:pPr>
            <a:r>
              <a:rPr sz="1800">
                <a:solidFill>
                  <a:srgbClr val="2C3E50"/>
                </a:solidFill>
                <a:latin typeface="Times New Roman"/>
              </a:rPr>
              <a:t>• Có bao nhiêu hàm số như vậy? Nêu một vài ví dụ.</a:t>
            </a:r>
          </a:p>
          <a:p>
            <a:pPr>
              <a:spcAft>
                <a:spcPts val="1000"/>
              </a:spcAft>
            </a:pPr>
            <a:r>
              <a:rPr sz="1800">
                <a:solidFill>
                  <a:srgbClr val="2C3E50"/>
                </a:solidFill>
                <a:latin typeface="Times New Roman"/>
              </a:rPr>
              <a:t>• Nếu biết thêm F(1) = 3, thì F(x) là hàm số nào?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 Định nghĩa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Aft>
                <a:spcPts val="1000"/>
              </a:spcAft>
            </a:pPr>
            <a:r>
              <a:rPr sz="1800">
                <a:solidFill>
                  <a:srgbClr val="2C3E50"/>
                </a:solidFill>
                <a:latin typeface="Times New Roman"/>
              </a:rPr>
              <a:t>• Hàm số F(x) được gọi là một nguyên hàm của f(x) trên K nếu F'(x) = f(x) với mọi x ∈ K.</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F'(x) = f(x)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 Ký hiệu và Họ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 thì mọi nguyên hàm của f(x) trên K đều có dạng G(x) = F(x) + C, với C là một hằng số tùy ý.</a:t>
            </a:r>
          </a:p>
          <a:p>
            <a:pPr>
              <a:spcAft>
                <a:spcPts val="1000"/>
              </a:spcAft>
            </a:pPr>
            <a:r>
              <a:rPr sz="1800">
                <a:solidFill>
                  <a:srgbClr val="2C3E50"/>
                </a:solidFill>
                <a:latin typeface="Times New Roman"/>
              </a:rPr>
              <a:t>• Tập hợp tất cả các nguyên hàm F(x) + C được gọi là họ nguyên hàm của f(x) trên K.</a:t>
            </a:r>
          </a:p>
          <a:p>
            <a:pPr>
              <a:spcAft>
                <a:spcPts val="1000"/>
              </a:spcAft>
            </a:pPr>
            <a:r>
              <a:rPr sz="1800">
                <a:solidFill>
                  <a:srgbClr val="2C3E50"/>
                </a:solidFill>
                <a:latin typeface="Times New Roman"/>
              </a:rPr>
              <a:t>• Ký hiệu: ∫ f(x)dx = F(x) + C.</a:t>
            </a:r>
          </a:p>
          <a:p>
            <a:pPr>
              <a:spcAft>
                <a:spcPts val="1000"/>
              </a:spcAft>
            </a:pPr>
            <a:r>
              <a:rPr sz="1800">
                <a:solidFill>
                  <a:srgbClr val="2C3E50"/>
                </a:solidFill>
                <a:latin typeface="Times New Roman"/>
              </a:rPr>
              <a:t>• Đọc là 'nguyên hàm của f(x) theo biến x'.</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 f(x)dx = F(x) +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III. Tính chất của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Nguyên hàm của tích một hằng số với một hàm số:</a:t>
            </a:r>
          </a:p>
          <a:p>
            <a:pPr>
              <a:spcAft>
                <a:spcPts val="1000"/>
              </a:spcAft>
            </a:pPr>
            <a:r>
              <a:rPr sz="1800">
                <a:solidFill>
                  <a:srgbClr val="2C3E50"/>
                </a:solidFill>
                <a:latin typeface="Times New Roman"/>
              </a:rPr>
              <a:t>• ∫ k f(x)dx = k ∫ f(x)dx (với k là hằng số khác 0)</a:t>
            </a:r>
          </a:p>
          <a:p>
            <a:pPr>
              <a:spcAft>
                <a:spcPts val="1000"/>
              </a:spcAft>
            </a:pPr>
            <a:r>
              <a:rPr sz="1800">
                <a:solidFill>
                  <a:srgbClr val="2C3E50"/>
                </a:solidFill>
                <a:latin typeface="Times New Roman"/>
              </a:rPr>
              <a:t>• Tính chất 2: Nguyên hàm của tổng (hiệu) hai hàm số:</a:t>
            </a:r>
          </a:p>
          <a:p>
            <a:pPr>
              <a:spcAft>
                <a:spcPts val="1000"/>
              </a:spcAft>
            </a:pPr>
            <a:r>
              <a:rPr sz="1800">
                <a:solidFill>
                  <a:srgbClr val="2C3E50"/>
                </a:solidFill>
                <a:latin typeface="Times New Roman"/>
              </a:rPr>
              <a:t>• ∫ [f(x) ± g(x)]dx = ∫ f(x)dx ± ∫ g(x)dx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IV. Bảng Nguyên hàm cơ bản (Phần 1)</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1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ln|x| + C</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0 &lt; a ne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IV. Bảng Nguyên hàm cơ bản (Phần 2)</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 (với x ne fracπ2 + kπ)</a:t>
            </a:r>
          </a:p>
          <a:p>
            <a:pPr>
              <a:spcAft>
                <a:spcPts val="1000"/>
              </a:spcAft>
            </a:pPr>
            <a:r>
              <a:rPr sz="1800">
                <a:solidFill>
                  <a:srgbClr val="2C3E50"/>
                </a:solidFill>
                <a:latin typeface="Times New Roman"/>
              </a:rPr>
              <a:t>• ∫ frac1sin² x dx = -cot x + C (với x ne kπ)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1: Tìm nguyên hàm đơn giản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một nguyên hàm của hàm số f(x) = x³ - 2x + 1.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2: Tìm họ nguyên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họ nguyên hàm của hàm số g(x) = 3cos x - frac2x².</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3: Biến đổi trước khi tính</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h(x) = (x+1)².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chuyển động</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+ 1 (m/s).</a:t>
            </a:r>
          </a:p>
          <a:p>
            <a:pPr>
              <a:spcAft>
                <a:spcPts val="1000"/>
              </a:spcAft>
            </a:pPr>
            <a:r>
              <a:rPr sz="1800">
                <a:solidFill>
                  <a:srgbClr val="2C3E50"/>
                </a:solidFill>
                <a:latin typeface="Times New Roman"/>
              </a:rPr>
              <a:t>• Tìm hàm số biểu thị quãng đường S(t) mà vật đi được sau thời gian t, biết rằng tại thời điểm ban đầu t=0, vật chưa đi được quãng đường nào (tức là S(0)=0).</a:t>
            </a:r>
          </a:p>
          <a:p>
            <a:pPr>
              <a:spcAft>
                <a:spcPts val="1000"/>
              </a:spcAft>
            </a:pPr>
            <a:r>
              <a:rPr sz="1800">
                <a:solidFill>
                  <a:srgbClr val="2C3E50"/>
                </a:solidFill>
                <a:latin typeface="Times New Roman"/>
              </a:rPr>
              <a:t>• Gợi ý: Mối liên hệ giữa vận tốc và quãng đường. Sử dụng điều kiện ban đầu để xác định hằng số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F(x) là nguyên hàm của f(x) trên K nếu F'(x) = f(x) với mọi x ∈ K.</a:t>
            </a:r>
          </a:p>
          <a:p>
            <a:pPr>
              <a:spcAft>
                <a:spcPts val="1000"/>
              </a:spcAft>
            </a:pPr>
            <a:r>
              <a:rPr sz="1800">
                <a:solidFill>
                  <a:srgbClr val="2C3E50"/>
                </a:solidFill>
                <a:latin typeface="Times New Roman"/>
              </a:rPr>
              <a:t>• Họ nguyên hàm: ∫ f(x)dx = F(x) + C.</a:t>
            </a:r>
          </a:p>
          <a:p>
            <a:pPr>
              <a:spcAft>
                <a:spcPts val="1000"/>
              </a:spcAft>
            </a:pPr>
            <a:r>
              <a:rPr sz="1800">
                <a:solidFill>
                  <a:srgbClr val="2C3E50"/>
                </a:solidFill>
                <a:latin typeface="Times New Roman"/>
              </a:rPr>
              <a:t>• Tính chất: ∫ kf(x)dx = k ∫ f(x)dx; ∫ [f(x) ± g(x)]dx = ∫ f(x)dx ± ∫ g(x)dx.</a:t>
            </a:r>
          </a:p>
          <a:p>
            <a:pPr>
              <a:spcAft>
                <a:spcPts val="1000"/>
              </a:spcAft>
            </a:pPr>
            <a:r>
              <a:rPr sz="1800">
                <a:solidFill>
                  <a:srgbClr val="2C3E50"/>
                </a:solidFill>
                <a:latin typeface="Times New Roman"/>
              </a:rPr>
              <a:t>• Bảng nguyên hàm cơ bản: Các công thức quan trọng cần ghi nhớ và áp dụng.</a:t>
            </a:r>
          </a:p>
          <a:p>
            <a:pPr>
              <a:spcAft>
                <a:spcPts val="1000"/>
              </a:spcAft>
            </a:pPr>
            <a:r>
              <a:rPr sz="1800">
                <a:solidFill>
                  <a:srgbClr val="2C3E50"/>
                </a:solidFill>
                <a:latin typeface="Times New Roman"/>
              </a:rPr>
              <a:t>• Ứng dụng: Giải quyết các bài toán liên quan đến tốc độ, quãng đường, v.v.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Nhiệm vụ về nhà</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Học thuộc định nghĩa, các tính chất và bảng nguyên hàm cơ bản.</a:t>
            </a:r>
          </a:p>
          <a:p>
            <a:pPr>
              <a:spcAft>
                <a:spcPts val="1000"/>
              </a:spcAft>
            </a:pPr>
            <a:r>
              <a:rPr sz="1800">
                <a:solidFill>
                  <a:srgbClr val="2C3E50"/>
                </a:solidFill>
                <a:latin typeface="Times New Roman"/>
              </a:rPr>
              <a:t>• Làm các bài tập trong SGK (hoặc phiếu bài tập bổ sung) để củng cố kiến thức.</a:t>
            </a:r>
          </a:p>
          <a:p>
            <a:pPr>
              <a:spcAft>
                <a:spcPts val="1000"/>
              </a:spcAft>
            </a:pPr>
            <a:r>
              <a:rPr sz="1800">
                <a:solidFill>
                  <a:srgbClr val="2C3E50"/>
                </a:solidFill>
                <a:latin typeface="Times New Roman"/>
              </a:rPr>
              <a:t>• Chuẩn bị bài mới: Các phương pháp tính nguyên hàm (nếu có, ví dụ: Nguyên hàm từng phần, Nguyên hàm đổi biến).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