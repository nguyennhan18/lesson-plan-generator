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mới: Nguyên hàm. Trong bài học này, chúng ta sẽ khám phá một khái niệm quan trọng, đối ngược với đạo hàm mà chúng ta đã học. Mục tiêu của bài học là giúp các em nắm vững định nghĩa, các công thức và tính chất cơ bản của nguyên hàm để có thể giải quyết các bài toán liên quan. Hãy cùng nhau tìm hiểu nhé!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đặt câu hỏi khởi động, gợi nhớ kiến thức về đạo hàm. GV có thể gợi ý bằng cách hỏi: 'Đạo hàm của $x^2$ là gì? Đạo hàm của $x^2+1$ là gì?'. Yêu cầu học sinh suy nghĩ cá nhân và đưa ra các hàm số $F(x)$ mà các em tìm được. GV gọi 2-3 HS trình bày kết quả và giải thích. GV nhấn mạnh rằng có vô số hàm số có cùng đạo hàm, từ đó dẫn dắt vào bài học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chuẩn hóa định nghĩa nguyên hàm sau khi các nhóm đã thảo luận. GV nhấn mạnh các thành phần quan trọng của định nghĩa: 'hàm số $F(x)$', 'hàm số $f(x)$', và đặc biệt là 'trên khoảng $K$'. Giải thích tại sao điều kiện 'trên khoảng $K$' lại quan trọng trong định nghĩa này, ví dụ như hàm $\frac{1}{x}$ có đạo hàm là $-\frac{1}{x^2}$ nhưng không liên tục qua $x=0$.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bày định lí về mối liên hệ giữa các nguyên hàm. Quay lại ví dụ khởi động ($F'(x) = 2x$) để minh họa rằng $x^2$, $x^2+1$, $x^2-5$ đều là các nguyên hàm của $2x$ và chúng chỉ khác nhau bởi một hằng số $C$. Giải thích ý nghĩa của hằng số $C$ và giới thiệu ký hiệu $\int$ để chỉ họ nguyên hàm, đọc là 'nguyên hàm của $f(x)$ theo biến $x$'.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trình chiếu bảng nguyên hàm cơ bản. Yêu cầu học sinh đọc lại từng công thức và cố gắng ghi nhớ. GV có thể gợi ý cách nhớ bằng cách liên hệ ngược với bảng đạo hàm đã học. Nhấn mạnh các trường hợp đặc biệt như $n=-1$ cho $x^n$ và điều kiện của $x$ trong $\ln|x|$. Yêu cầu HS ghi chép cẩn thận vào vở.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chốt lại hai tính chất quan trọng của nguyên hàm. Giải thích rõ ràng từng tính chất và ý nghĩa của chúng. Nhấn mạnh rằng các tính chất này giúp chúng ta tính nguyên hàm của các hàm số phức tạp hơn bằng cách đưa về các nguyên hàm cơ bản. Yêu cầu HS ghi nhớ và hiểu rõ cách áp dụng.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bài tập đầu tiên. Yêu cầu một học sinh lên bảng trình bày lời giải. Các học sinh khác làm vào vở và nhận xét bài của bạn. GV nhấn mạnh từng bước áp dụng tính chất tuyến tính và công thức nguyên hàm của $x^n$. Đặc biệt lưu ý việc thêm hằng số $C$ vào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với bài tập thứ hai. Gọi một học sinh khác lên bảng giải. Nhắc nhở học sinh cần chú ý đến điều kiện của $x$ khi tính nguyên hàm của $\frac{1}{x}$ là $\ln|x|$. Đảm bảo học sinh áp dụng đúng công thức nguyên hàm của hàm lượng giác.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bài tập thứ ba. Hướng dẫn học sinh biến đổi $\frac{1}{x^2}$ thành $x^{-2}$ để có thể áp dụng công thức nguyên hàm của $x^n$. Chú ý đến dấu khi thực hiện phép tính. Sau khi học sinh trình bày, GV sửa chữa lỗi sai nếu có và chốt lại phương pháp giải các bài tập tìm nguyên hàm bằng cách sử dụng bảng và tính chất.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đưa ra bài toán vận dụng thực tế. Hướng dẫn học sinh nhận ra mối quan hệ giữa vận tốc và quãng đường (quãng đường là nguyên hàm của vận tốc). Giải thích cách sử dụng điều kiện ban đầu ($s(0)=5$) để tìm giá trị cụ thể của hằng số $C$. Gọi một HS lên bảng trình bày lời giải. GV nhấn mạnh ý nghĩa của nguyên hàm trong việc giải quyết các bài toán vật lý và các lĩnh vực khác.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tóm tắt lại các kiến thức chính của bài học. Yêu cầu học sinh nhắc lại định nghĩa, định lí, một vài công thức cơ bản và các tính chất. Giải đáp các thắc mắc của học sinh nếu có. Củng cố lại sự tự tin cho học sinh khi giải các bài toán nguyên hàm cơ bản.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bài tập về nhà cho học sinh để củng cố kiến thức đã học. Nhấn mạnh tầm quan trọng của việc ôn tập thường xuyên và chuẩn bị bài mới để tiếp thu tốt hơn các phương pháp tìm nguyên hàm phức tạp hơn trong các buổi học tới. Khuyến khích các em tìm hiểu thêm tài liệu trên mạng nếu có điều kiện.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Bài toán ngược của Đạo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một hàm số F(x) sao cho F'(x) = 2x.</a:t>
            </a:r>
          </a:p>
          <a:p>
            <a:pPr>
              <a:spcAft>
                <a:spcPts val="1000"/>
              </a:spcAft>
            </a:pPr>
            <a:r>
              <a:rPr sz="1800">
                <a:solidFill>
                  <a:srgbClr val="2C3E50"/>
                </a:solidFill>
                <a:latin typeface="Times New Roman"/>
              </a:rPr>
              <a:t>• Có bao nhiêu hàm số F(x) như vậy?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Hàm số F(x) được gọi là một nguyên hàm của hàm số f(x) trên khoảng K nếu F'(x) = f(x) với mọi x ∈ K.</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F'(x) = f(x)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Định lí về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khoảng K, thì mọi nguyên hàm của f(x) trên K đều có dạng F(x) + C, với C là hằng số.</a:t>
            </a:r>
          </a:p>
          <a:p>
            <a:pPr>
              <a:spcAft>
                <a:spcPts val="1000"/>
              </a:spcAft>
            </a:pPr>
            <a:r>
              <a:rPr sz="1800">
                <a:solidFill>
                  <a:srgbClr val="2C3E50"/>
                </a:solidFill>
                <a:latin typeface="Times New Roman"/>
              </a:rPr>
              <a:t>• Ký hiệu họ nguyên hàm của f(x) là ∫ f(x)dx = F(x) + C.</a:t>
            </a:r>
          </a:p>
          <a:p>
            <a:pPr>
              <a:spcBef>
                <a:spcPts val="1500"/>
              </a:spcBef>
              <a:spcAft>
                <a:spcPts val="500"/>
              </a:spcAft>
            </a:pPr>
            <a:r>
              <a:rPr b="1" sz="2000">
                <a:solidFill>
                  <a:srgbClr val="0066CC"/>
                </a:solidFill>
                <a:latin typeface="Times New Roman"/>
              </a:rPr>
              <a:t>Công thức trọng tâm:  </a:t>
            </a:r>
            <a:r>
              <a:rPr b="1" sz="2000">
                <a:solidFill>
                  <a:srgbClr val="0066CC"/>
                </a:solidFill>
                <a:latin typeface="Times New Roman"/>
              </a:rPr>
              <a:t>∫ f(x)dx = F(x) +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Bảng nguyên hàm của một số hàm số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dx = x + C</a:t>
            </a:r>
          </a:p>
          <a:p>
            <a:pPr>
              <a:spcAft>
                <a:spcPts val="1000"/>
              </a:spcAft>
            </a:pPr>
            <a:r>
              <a:rPr sz="1800">
                <a:solidFill>
                  <a:srgbClr val="2C3E50"/>
                </a:solidFill>
                <a:latin typeface="Times New Roman"/>
              </a:rPr>
              <a:t>• ∫ xⁿ dx = fracxⁿ⁺¹n+1 + C (với n ne -1)</a:t>
            </a:r>
          </a:p>
          <a:p>
            <a:pPr>
              <a:spcAft>
                <a:spcPts val="1000"/>
              </a:spcAft>
            </a:pPr>
            <a:r>
              <a:rPr sz="1800">
                <a:solidFill>
                  <a:srgbClr val="2C3E50"/>
                </a:solidFill>
                <a:latin typeface="Times New Roman"/>
              </a:rPr>
              <a:t>• ∫ frac1x dx = ln|x| + C (với x ne 0)</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(với 0 &lt; a ne 1)</a:t>
            </a:r>
          </a:p>
          <a:p>
            <a:pP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a:t>
            </a:r>
          </a:p>
          <a:p>
            <a:pPr>
              <a:spcAft>
                <a:spcPts val="1000"/>
              </a:spcAft>
            </a:pPr>
            <a:r>
              <a:rPr sz="1800">
                <a:solidFill>
                  <a:srgbClr val="2C3E50"/>
                </a:solidFill>
                <a:latin typeface="Times New Roman"/>
              </a:rPr>
              <a:t>• ∫ frac1sin² x dx = -cot x + 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Tính chất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Nguyên hàm của tổng (hiệu) bằng tổng (hiệu) các nguyên hàm.</a:t>
            </a:r>
          </a:p>
          <a:p>
            <a:pPr>
              <a:spcAft>
                <a:spcPts val="1000"/>
              </a:spcAft>
            </a:pPr>
            <a:r>
              <a:rPr sz="1800">
                <a:solidFill>
                  <a:srgbClr val="2C3E50"/>
                </a:solidFill>
                <a:latin typeface="Times New Roman"/>
              </a:rPr>
              <a:t>• ∫ (f(x) ± g(x))dx = ∫ f(x)dx ± ∫ g(x)dx</a:t>
            </a:r>
          </a:p>
          <a:p>
            <a:pPr>
              <a:spcAft>
                <a:spcPts val="1000"/>
              </a:spcAft>
            </a:pPr>
            <a:r>
              <a:rPr sz="1800">
                <a:solidFill>
                  <a:srgbClr val="2C3E50"/>
                </a:solidFill>
                <a:latin typeface="Times New Roman"/>
              </a:rPr>
              <a:t>• Tính chất 2: Hằng số có thể đưa ra ngoài dấu nguyên hàm.</a:t>
            </a:r>
          </a:p>
          <a:p>
            <a:pPr>
              <a:spcAft>
                <a:spcPts val="1000"/>
              </a:spcAft>
            </a:pPr>
            <a:r>
              <a:rPr sz="1800">
                <a:solidFill>
                  <a:srgbClr val="2C3E50"/>
                </a:solidFill>
                <a:latin typeface="Times New Roman"/>
              </a:rPr>
              <a:t>• ∫ k f(x)dx = k ∫ f(x)dx (với k là hằng số khác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1: Tìm nguyên hàm của f(x) = 3x² - 4x + 5.</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 (3x² - 4x + 5)dx = ∫ 3x² dx - ∫ 4x dx + ∫ 5 dx</a:t>
            </a:r>
          </a:p>
          <a:p>
            <a:pPr>
              <a:spcAft>
                <a:spcPts val="1000"/>
              </a:spcAft>
            </a:pPr>
            <a:r>
              <a:rPr sz="1800">
                <a:solidFill>
                  <a:srgbClr val="2C3E50"/>
                </a:solidFill>
                <a:latin typeface="Times New Roman"/>
              </a:rPr>
              <a:t>• = 3 ∫ x² dx - 4 ∫ x dx + 5 ∫ dx</a:t>
            </a:r>
          </a:p>
          <a:p>
            <a:pPr>
              <a:spcAft>
                <a:spcPts val="1000"/>
              </a:spcAft>
            </a:pPr>
            <a:r>
              <a:rPr sz="1800">
                <a:solidFill>
                  <a:srgbClr val="2C3E50"/>
                </a:solidFill>
                <a:latin typeface="Times New Roman"/>
              </a:rPr>
              <a:t>• = 3 · fracx³3 - 4 · fracx²2 + 5x + C</a:t>
            </a:r>
          </a:p>
          <a:p>
            <a:pPr>
              <a:spcAft>
                <a:spcPts val="1000"/>
              </a:spcAft>
            </a:pPr>
            <a:r>
              <a:rPr sz="1800">
                <a:solidFill>
                  <a:srgbClr val="2C3E50"/>
                </a:solidFill>
                <a:latin typeface="Times New Roman"/>
              </a:rPr>
              <a:t>• = x³ - 2x² + 5x + 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(tiếp theo)</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2: Tìm nguyên hàm của g(x) = frac1x + 2cos x.</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 ( frac1x + 2cos x)dx = ∫ frac1x dx + ∫ 2cos x dx</a:t>
            </a:r>
          </a:p>
          <a:p>
            <a:pPr>
              <a:spcAft>
                <a:spcPts val="1000"/>
              </a:spcAft>
            </a:pPr>
            <a:r>
              <a:rPr sz="1800">
                <a:solidFill>
                  <a:srgbClr val="2C3E50"/>
                </a:solidFill>
                <a:latin typeface="Times New Roman"/>
              </a:rPr>
              <a:t>• = ln|x| + 2 ∫ cos x dx</a:t>
            </a:r>
          </a:p>
          <a:p>
            <a:pPr>
              <a:spcAft>
                <a:spcPts val="1000"/>
              </a:spcAft>
            </a:pPr>
            <a:r>
              <a:rPr sz="1800">
                <a:solidFill>
                  <a:srgbClr val="2C3E50"/>
                </a:solidFill>
                <a:latin typeface="Times New Roman"/>
              </a:rPr>
              <a:t>• = ln|x| + 2 sin x +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 (tiếp theo)</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3: Tìm nguyên hàm của h(x) = eˣ - frac1x².</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 (eˣ - frac1x²)dx = ∫ eˣ dx - ∫ x⁻² dx</a:t>
            </a:r>
          </a:p>
          <a:p>
            <a:pPr>
              <a:spcAft>
                <a:spcPts val="1000"/>
              </a:spcAft>
            </a:pPr>
            <a:r>
              <a:rPr sz="1800">
                <a:solidFill>
                  <a:srgbClr val="2C3E50"/>
                </a:solidFill>
                <a:latin typeface="Times New Roman"/>
              </a:rPr>
              <a:t>• = eˣ - fracx⁻²⁺¹-2+1 + C</a:t>
            </a:r>
          </a:p>
          <a:p>
            <a:pPr>
              <a:spcAft>
                <a:spcPts val="1000"/>
              </a:spcAft>
            </a:pPr>
            <a:r>
              <a:rPr sz="1800">
                <a:solidFill>
                  <a:srgbClr val="2C3E50"/>
                </a:solidFill>
                <a:latin typeface="Times New Roman"/>
              </a:rPr>
              <a:t>• = eˣ - fracx⁻¹-1 + C</a:t>
            </a:r>
          </a:p>
          <a:p>
            <a:pPr>
              <a:spcAft>
                <a:spcPts val="1000"/>
              </a:spcAft>
            </a:pPr>
            <a:r>
              <a:rPr sz="1800">
                <a:solidFill>
                  <a:srgbClr val="2C3E50"/>
                </a:solidFill>
                <a:latin typeface="Times New Roman"/>
              </a:rPr>
              <a:t>• = eˣ + frac1x +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Bài toán chuyển động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+ 1 (m/s).</a:t>
            </a:r>
          </a:p>
          <a:p>
            <a:pPr>
              <a:spcAft>
                <a:spcPts val="1000"/>
              </a:spcAft>
            </a:pPr>
            <a:r>
              <a:rPr sz="1800">
                <a:solidFill>
                  <a:srgbClr val="2C3E50"/>
                </a:solidFill>
                <a:latin typeface="Times New Roman"/>
              </a:rPr>
              <a:t>• Hãy tìm hàm số quãng đường s(t) mà vật đi được, biết rằng tại thời điểm ban đầu t=0, vật đang ở vị trí s(0) = 5 m.</a:t>
            </a:r>
          </a:p>
          <a:p>
            <a:pPr>
              <a:spcAft>
                <a:spcPts val="1000"/>
              </a:spcAft>
            </a:pPr>
            <a:r>
              <a:rPr sz="1800">
                <a:solidFill>
                  <a:srgbClr val="2C3E50"/>
                </a:solidFill>
                <a:latin typeface="Times New Roman"/>
              </a:rPr>
              <a:t>• Lời giải:</a:t>
            </a:r>
          </a:p>
          <a:p>
            <a:pPr>
              <a:spcAft>
                <a:spcPts val="1000"/>
              </a:spcAft>
            </a:pPr>
            <a:r>
              <a:rPr sz="1800">
                <a:solidFill>
                  <a:srgbClr val="2C3E50"/>
                </a:solidFill>
                <a:latin typeface="Times New Roman"/>
              </a:rPr>
              <a:t>• Quãng đường s(t) là nguyên hàm của vận tốc v(t).</a:t>
            </a:r>
          </a:p>
          <a:p>
            <a:pPr>
              <a:spcAft>
                <a:spcPts val="1000"/>
              </a:spcAft>
            </a:pPr>
            <a:r>
              <a:rPr sz="1800">
                <a:solidFill>
                  <a:srgbClr val="2C3E50"/>
                </a:solidFill>
                <a:latin typeface="Times New Roman"/>
              </a:rPr>
              <a:t>• s(t) = ∫ (3t² + 2t + 1)dt = t³ + t² + t + C.</a:t>
            </a:r>
          </a:p>
          <a:p>
            <a:pPr>
              <a:spcAft>
                <a:spcPts val="1000"/>
              </a:spcAft>
            </a:pPr>
            <a:r>
              <a:rPr sz="1800">
                <a:solidFill>
                  <a:srgbClr val="2C3E50"/>
                </a:solidFill>
                <a:latin typeface="Times New Roman"/>
              </a:rPr>
              <a:t>• Tại t=0, s(0)=5 ⇒ 0³ + 0² + 0 + C = 5 ⇒ C = 5.</a:t>
            </a:r>
          </a:p>
          <a:p>
            <a:pPr>
              <a:spcAft>
                <a:spcPts val="1000"/>
              </a:spcAft>
            </a:pPr>
            <a:r>
              <a:rPr sz="1800">
                <a:solidFill>
                  <a:srgbClr val="2C3E50"/>
                </a:solidFill>
                <a:latin typeface="Times New Roman"/>
              </a:rPr>
              <a:t>• Vậy hàm số quãng đường là s(t) = t³ + t² + t + 5 (m).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 trên khoảng K.</a:t>
            </a:r>
          </a:p>
          <a:p>
            <a:pPr>
              <a:spcAft>
                <a:spcPts val="1000"/>
              </a:spcAft>
            </a:pPr>
            <a:r>
              <a:rPr sz="1800">
                <a:solidFill>
                  <a:srgbClr val="2C3E50"/>
                </a:solidFill>
                <a:latin typeface="Times New Roman"/>
              </a:rPr>
              <a:t>• Họ nguyên hàm: ∫ f(x)dx = F(x) + C.</a:t>
            </a:r>
          </a:p>
          <a:p>
            <a:pPr>
              <a:spcAft>
                <a:spcPts val="1000"/>
              </a:spcAft>
            </a:pPr>
            <a:r>
              <a:rPr sz="1800">
                <a:solidFill>
                  <a:srgbClr val="2C3E50"/>
                </a:solidFill>
                <a:latin typeface="Times New Roman"/>
              </a:rPr>
              <a:t>• Bảng nguyên hàm của một số hàm số cơ bản.</a:t>
            </a:r>
          </a:p>
          <a:p>
            <a:pPr>
              <a:spcAft>
                <a:spcPts val="1000"/>
              </a:spcAft>
            </a:pPr>
            <a:r>
              <a:rPr sz="1800">
                <a:solidFill>
                  <a:srgbClr val="2C3E50"/>
                </a:solidFill>
                <a:latin typeface="Times New Roman"/>
              </a:rPr>
              <a:t>• Tính chất của nguyên hàm: Tuyến tính (nguyên hàm của tổng/hiệu, nhân với hằng số).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Bài tập về nhà</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Ôn tập thật kĩ định nghĩa, định lí, bảng nguyên hàm cơ bản và các tính chất.</a:t>
            </a:r>
          </a:p>
          <a:p>
            <a:pPr>
              <a:spcAft>
                <a:spcPts val="1000"/>
              </a:spcAft>
            </a:pPr>
            <a:r>
              <a:rPr sz="1800">
                <a:solidFill>
                  <a:srgbClr val="2C3E50"/>
                </a:solidFill>
                <a:latin typeface="Times New Roman"/>
              </a:rPr>
              <a:t>• Làm các bài tập trong sách giáo khoa (hoặc sách bài tập): Trang ..., Bài 1, 2, 3.</a:t>
            </a:r>
          </a:p>
          <a:p>
            <a:pPr>
              <a:spcAft>
                <a:spcPts val="1000"/>
              </a:spcAft>
            </a:pPr>
            <a:r>
              <a:rPr sz="1800">
                <a:solidFill>
                  <a:srgbClr val="2C3E50"/>
                </a:solidFill>
                <a:latin typeface="Times New Roman"/>
              </a:rPr>
              <a:t>• Chuẩn bị bài học tiếp theo: Các phương pháp tìm nguyên hàm (nguyên hàm từng phần, đổi biến số).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