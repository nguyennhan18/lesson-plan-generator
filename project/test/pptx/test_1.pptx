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mừng các em đến với bài học đầu tiên của chương Nguyên hàm – Tích phân và Ứng dụng. Hôm nay chúng ta sẽ tìm hiểu về khái niệm cơ bản nhất: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yêu cầu HS tính đạo hàm và trình bày kết quả. Sau đó đặt vấn đề về việc tìm hàm số gốc từ đạo hàm của nó, dẫn dắt vào bài học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trình bày định nghĩa một cách rõ ràng. Sau đó yêu cầu học sinh tự tìm một nguyên hàm của hàm $f(x) = \frac{1}{\cos^2 x}$ dựa trên kiến thức đạo hàm đã học. Đáp án là $F(x) = \tan 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giải thích rõ về 'hằng số C' và ý nghĩa của họ nguyên hàm. Nhấn mạnh hai tính chất cơ bản giúp ta tính nguyên hàm của nhiều hàm phức tạp hơn.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yêu cầu học sinh ghi nhớ bảng nguyên hàm này vì đây là nền tảng để giải quyết các bài toán nguyên hàm. Có thể dành thời gian để học sinh đọc và nhẩm lại.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hướng dẫn học sinh áp dụng tính chất tổng/hiệu và các công thức trong bảng nguyên hàm cơ bản để giải bài tập này.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chia nhóm và phát phiếu bài tập. Hướng dẫn học sinh thảo luận và trình bày lời giải. Sau đó chuẩn hóa đáp án.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gợi ý học sinh khai triển biểu thức $(x+2)^2$ trước khi tìm nguyên hàm hoặc sử dụng công thức nguyên hàm của hàm hợp đơn giản.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nhấn mạnh đây là dạng bài tập tìm nguyên hàm cụ thể, cần sử dụng điều kiện ban đầu để xác định giá trị của hằng số C. Hướng dẫn học sinh cách thay giá trị để tìm 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tổng kết lại các kiến thức trọng tâm của bài học và nhấn mạnh tầm quan trọng của nguyên hàm, giới thiệu về các ứng dụng thực tế để tạo hứng thú cho học sinh tiếp tục học các bài sau.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Chương II: Nguyên hàm – Tích phân và Ứng dụng</a:t>
            </a:r>
          </a:p>
          <a:p>
            <a:pPr>
              <a:spcBef>
                <a:spcPts val="1000"/>
              </a:spcBef>
              <a:defRPr sz="2200">
                <a:solidFill>
                  <a:srgbClr val="2C3E50"/>
                </a:solidFill>
                <a:latin typeface="Times New Roman"/>
              </a:defRPr>
            </a:pPr>
            <a:r>
              <a:t>Bài 1: Nguyên hàm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Nhắc lại Đạo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đạo hàm của các hàm số sau:</a:t>
            </a:r>
          </a:p>
          <a:p>
            <a:pPr>
              <a:spcAft>
                <a:spcPts val="1000"/>
              </a:spcAft>
            </a:pPr>
            <a:r>
              <a:rPr sz="1800">
                <a:solidFill>
                  <a:srgbClr val="2C3E50"/>
                </a:solidFill>
                <a:latin typeface="Times New Roman"/>
              </a:rPr>
              <a:t>•  </a:t>
            </a:r>
            <m:oMath xmlns:m="http://schemas.openxmlformats.org/officeDocument/2006/math">
              <m:box>
                <m:e>
                  <m:sSub>
                    <m:e>
                      <m:r>
                        <m:rPr>
                          <m:sty m:val="i"/>
                        </m:rPr>
                        <m:t>F</m:t>
                      </m:r>
                    </m:e>
                    <m:sub>
                      <m:r>
                        <m:rPr>
                          <m:sty m:val="p"/>
                        </m:rPr>
                        <m:t>1</m:t>
                      </m:r>
                    </m:sub>
                  </m:sSub>
                  <m:r>
                    <m:rPr>
                      <m:sty m:val="p"/>
                    </m:rPr>
                    <m:t>(</m:t>
                  </m:r>
                  <m:r>
                    <m:rPr>
                      <m:sty m:val="i"/>
                    </m:rPr>
                    <m:t>x</m:t>
                  </m:r>
                  <m:r>
                    <m:rPr>
                      <m:sty m:val="p"/>
                    </m:rPr>
                    <m:t>)</m:t>
                  </m:r>
                  <m:r>
                    <m:rPr>
                      <m:sty m:val="p"/>
                    </m:rPr>
                    <m:t>=</m:t>
                  </m:r>
                  <m:sSup>
                    <m:e>
                      <m:r>
                        <m:rPr>
                          <m:sty m:val="i"/>
                        </m:rPr>
                        <m:t>x</m:t>
                      </m:r>
                    </m:e>
                    <m:sup>
                      <m:r>
                        <m:rPr>
                          <m:sty m:val="p"/>
                        </m:rPr>
                        <m:t>3</m:t>
                      </m:r>
                    </m:sup>
                  </m:sSup>
                </m:e>
              </m:box>
            </m:oMath>
          </a:p>
          <a:p>
            <a:pPr>
              <a:spcAft>
                <a:spcPts val="1000"/>
              </a:spcAft>
            </a:pPr>
            <a:r>
              <a:rPr sz="1800">
                <a:solidFill>
                  <a:srgbClr val="2C3E50"/>
                </a:solidFill>
                <a:latin typeface="Times New Roman"/>
              </a:rPr>
              <a:t>•  </a:t>
            </a:r>
            <m:oMath xmlns:m="http://schemas.openxmlformats.org/officeDocument/2006/math">
              <m:box>
                <m:e>
                  <m:sSub>
                    <m:e>
                      <m:r>
                        <m:rPr>
                          <m:sty m:val="i"/>
                        </m:rPr>
                        <m:t>F</m:t>
                      </m:r>
                    </m:e>
                    <m:sub>
                      <m:r>
                        <m:rPr>
                          <m:sty m:val="p"/>
                        </m:rPr>
                        <m:t>2</m:t>
                      </m:r>
                    </m:sub>
                  </m:sSub>
                  <m:r>
                    <m:rPr>
                      <m:sty m:val="p"/>
                    </m:rPr>
                    <m:t>(</m:t>
                  </m:r>
                  <m:r>
                    <m:rPr>
                      <m:sty m:val="i"/>
                    </m:rPr>
                    <m:t>x</m:t>
                  </m:r>
                  <m:r>
                    <m:rPr>
                      <m:sty m:val="p"/>
                    </m:rPr>
                    <m:t>)</m:t>
                  </m:r>
                  <m:r>
                    <m:rPr>
                      <m:sty m:val="p"/>
                    </m:rPr>
                    <m:t>=</m:t>
                  </m:r>
                  <m:sSup>
                    <m:e>
                      <m:r>
                        <m:rPr>
                          <m:sty m:val="i"/>
                        </m:rPr>
                        <m:t>x</m:t>
                      </m:r>
                    </m:e>
                    <m:sup>
                      <m:r>
                        <m:rPr>
                          <m:sty m:val="p"/>
                        </m:rPr>
                        <m:t>3</m:t>
                      </m:r>
                    </m:sup>
                  </m:sSup>
                  <m:r>
                    <m:rPr>
                      <m:sty m:val="p"/>
                    </m:rPr>
                    <m:t>+</m:t>
                  </m:r>
                  <m:r>
                    <m:rPr>
                      <m:sty m:val="p"/>
                    </m:rPr>
                    <m:t>2</m:t>
                  </m:r>
                </m:e>
              </m:box>
            </m:oMath>
          </a:p>
          <a:p>
            <a:pPr>
              <a:spcAft>
                <a:spcPts val="1000"/>
              </a:spcAft>
            </a:pPr>
            <a:r>
              <a:rPr sz="1800">
                <a:solidFill>
                  <a:srgbClr val="2C3E50"/>
                </a:solidFill>
                <a:latin typeface="Times New Roman"/>
              </a:rPr>
              <a:t>•  </a:t>
            </a:r>
            <m:oMath xmlns:m="http://schemas.openxmlformats.org/officeDocument/2006/math">
              <m:box>
                <m:e>
                  <m:sSub>
                    <m:e>
                      <m:r>
                        <m:rPr>
                          <m:sty m:val="i"/>
                        </m:rPr>
                        <m:t>F</m:t>
                      </m:r>
                    </m:e>
                    <m:sub>
                      <m:r>
                        <m:rPr>
                          <m:sty m:val="p"/>
                        </m:rPr>
                        <m:t>3</m:t>
                      </m:r>
                    </m:sub>
                  </m:sSub>
                  <m:r>
                    <m:rPr>
                      <m:sty m:val="p"/>
                    </m:rPr>
                    <m:t>(</m:t>
                  </m:r>
                  <m:r>
                    <m:rPr>
                      <m:sty m:val="i"/>
                    </m:rPr>
                    <m:t>x</m:t>
                  </m:r>
                  <m:r>
                    <m:rPr>
                      <m:sty m:val="p"/>
                    </m:rPr>
                    <m:t>)</m:t>
                  </m:r>
                  <m:r>
                    <m:rPr>
                      <m:sty m:val="p"/>
                    </m:rPr>
                    <m:t>=</m:t>
                  </m:r>
                  <m:sSup>
                    <m:e>
                      <m:r>
                        <m:rPr>
                          <m:sty m:val="i"/>
                        </m:rPr>
                        <m:t>x</m:t>
                      </m:r>
                    </m:e>
                    <m:sup>
                      <m:r>
                        <m:rPr>
                          <m:sty m:val="p"/>
                        </m:rPr>
                        <m:t>3</m:t>
                      </m:r>
                    </m:sup>
                  </m:sSup>
                  <m:r>
                    <m:rPr>
                      <m:sty m:val="p"/>
                    </m:rPr>
                    <m:t>−</m:t>
                  </m:r>
                  <m:r>
                    <m:rPr>
                      <m:sty m:val="p"/>
                    </m:rPr>
                    <m:t>5</m:t>
                  </m:r>
                </m:e>
              </m:box>
            </m:oMath>
          </a:p>
          <a:p>
            <a:pPr>
              <a:spcAft>
                <a:spcPts val="1000"/>
              </a:spcAft>
            </a:pPr>
            <a:r>
              <a:rPr sz="1800">
                <a:solidFill>
                  <a:srgbClr val="2C3E50"/>
                </a:solidFill>
                <a:latin typeface="Times New Roman"/>
              </a:rPr>
              <a:t>•  Nếu biết đạo hàm của một hàm số là </a:t>
            </a:r>
            <m:oMath xmlns:m="http://schemas.openxmlformats.org/officeDocument/2006/math">
              <m:box>
                <m:e>
                  <m:r>
                    <m:rPr>
                      <m:sty m:val="i"/>
                    </m:rPr>
                    <m:t>f</m:t>
                  </m:r>
                  <m:r>
                    <m:rPr>
                      <m:sty m:val="p"/>
                    </m:rPr>
                    <m:t>(</m:t>
                  </m:r>
                  <m:r>
                    <m:rPr>
                      <m:sty m:val="i"/>
                    </m:rPr>
                    <m:t>x</m:t>
                  </m:r>
                  <m:r>
                    <m:rPr>
                      <m:sty m:val="p"/>
                    </m:rPr>
                    <m:t>)</m:t>
                  </m:r>
                  <m:r>
                    <m:rPr>
                      <m:sty m:val="p"/>
                    </m:rPr>
                    <m:t>=</m:t>
                  </m:r>
                  <m:r>
                    <m:rPr>
                      <m:sty m:val="p"/>
                    </m:rPr>
                    <m:t>3</m:t>
                  </m:r>
                  <m:sSup>
                    <m:e>
                      <m:r>
                        <m:rPr>
                          <m:sty m:val="i"/>
                        </m:rPr>
                        <m:t>x</m:t>
                      </m:r>
                    </m:e>
                    <m:sup>
                      <m:r>
                        <m:rPr>
                          <m:sty m:val="p"/>
                        </m:rPr>
                        <m:t>2</m:t>
                      </m:r>
                    </m:sup>
                  </m:sSup>
                </m:e>
              </m:box>
            </m:oMath>
            <a:r>
              <a:rPr sz="1800">
                <a:solidFill>
                  <a:srgbClr val="2C3E50"/>
                </a:solidFill>
                <a:latin typeface="Times New Roman"/>
              </a:rPr>
              <a:t>, làm thế nào để tìm hàm số ban đầu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 Định nghĩa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xác định trên khoảng </a:t>
            </a:r>
            <m:oMath xmlns:m="http://schemas.openxmlformats.org/officeDocument/2006/math">
              <m:box>
                <m:e>
                  <m:r>
                    <m:rPr>
                      <m:sty m:val="i"/>
                    </m:rPr>
                    <m:t>K</m:t>
                  </m:r>
                </m:e>
              </m:box>
            </m:oMath>
            <a:r>
              <a:rPr sz="1800">
                <a:solidFill>
                  <a:srgbClr val="2C3E50"/>
                </a:solidFill>
                <a:latin typeface="Times New Roman"/>
              </a:rPr>
              <a:t>.</a:t>
            </a:r>
          </a:p>
          <a:p>
            <a:pPr>
              <a:spcAft>
                <a:spcPts val="1000"/>
              </a:spcAft>
            </a:pPr>
            <a:r>
              <a:rPr sz="1800">
                <a:solidFill>
                  <a:srgbClr val="2C3E50"/>
                </a:solidFill>
                <a:latin typeface="Times New Roman"/>
              </a:rPr>
              <a:t>•  Hàm số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được gọi là nguyên hàm của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trên </a:t>
            </a:r>
            <m:oMath xmlns:m="http://schemas.openxmlformats.org/officeDocument/2006/math">
              <m:box>
                <m:e>
                  <m:r>
                    <m:rPr>
                      <m:sty m:val="i"/>
                    </m:rPr>
                    <m:t>K</m:t>
                  </m:r>
                </m:e>
              </m:box>
            </m:oMath>
            <a:r>
              <a:rPr sz="1800">
                <a:solidFill>
                  <a:srgbClr val="2C3E50"/>
                </a:solidFill>
                <a:latin typeface="Times New Roman"/>
              </a:rPr>
              <a:t> nếu </a:t>
            </a:r>
            <m:oMath xmlns:m="http://schemas.openxmlformats.org/officeDocument/2006/math">
              <m:box>
                <m:e>
                  <m:sSup>
                    <m:e>
                      <m:r>
                        <m:rPr>
                          <m:sty m:val="i"/>
                        </m:rPr>
                        <m:t>F</m:t>
                      </m:r>
                    </m:e>
                    <m:sup>
                      <m:r>
                        <m:rPr>
                          <m:sty m:val="i"/>
                        </m:rPr>
                        <m:t>′</m:t>
                      </m:r>
                    </m:sup>
                  </m:sSup>
                  <m:r>
                    <m:rPr>
                      <m:sty m:val="p"/>
                    </m:rPr>
                    <m:t>(</m:t>
                  </m:r>
                  <m:r>
                    <m:rPr>
                      <m:sty m:val="i"/>
                    </m:rPr>
                    <m:t>x</m:t>
                  </m:r>
                  <m:r>
                    <m:rPr>
                      <m:sty m:val="p"/>
                    </m:rPr>
                    <m:t>)</m:t>
                  </m:r>
                  <m:r>
                    <m:rPr>
                      <m:sty m:val="p"/>
                    </m:rPr>
                    <m:t>=</m:t>
                  </m:r>
                  <m:r>
                    <m:rPr>
                      <m:sty m:val="i"/>
                    </m:rPr>
                    <m:t>f</m:t>
                  </m:r>
                  <m:r>
                    <m:rPr>
                      <m:sty m:val="p"/>
                    </m:rPr>
                    <m:t>(</m:t>
                  </m:r>
                  <m:r>
                    <m:rPr>
                      <m:sty m:val="i"/>
                    </m:rPr>
                    <m:t>x</m:t>
                  </m:r>
                  <m:r>
                    <m:rPr>
                      <m:sty m:val="p"/>
                    </m:rPr>
                    <m:t>)</m:t>
                  </m:r>
                </m:e>
              </m:box>
            </m:oMath>
            <a:r>
              <a:rPr sz="1800">
                <a:solidFill>
                  <a:srgbClr val="2C3E50"/>
                </a:solidFill>
                <a:latin typeface="Times New Roman"/>
              </a:rPr>
              <a:t> với mọi </a:t>
            </a:r>
            <m:oMath xmlns:m="http://schemas.openxmlformats.org/officeDocument/2006/math">
              <m:box>
                <m:e>
                  <m:r>
                    <m:rPr>
                      <m:sty m:val="i"/>
                    </m:rPr>
                    <m:t>x</m:t>
                  </m:r>
                  <m:r>
                    <m:rPr>
                      <m:nor/>
                    </m:rPr>
                    <m:t> thuộc </m:t>
                  </m:r>
                  <m:r>
                    <m:rPr>
                      <m:sty m:val="i"/>
                    </m:rPr>
                    <m:t>K</m:t>
                  </m:r>
                </m:e>
              </m:box>
            </m:oMath>
            <a:r>
              <a:rPr sz="1800">
                <a:solidFill>
                  <a:srgbClr val="2C3E50"/>
                </a:solidFill>
                <a:latin typeface="Times New Roman"/>
              </a:rPr>
              <a:t>.</a:t>
            </a:r>
          </a:p>
          <a:p>
            <a:pPr>
              <a:spcAft>
                <a:spcPts val="1000"/>
              </a:spcAft>
            </a:pPr>
            <a:r>
              <a:rPr sz="1800">
                <a:solidFill>
                  <a:srgbClr val="2C3E50"/>
                </a:solidFill>
                <a:latin typeface="Times New Roman"/>
              </a:rPr>
              <a:t>•  Ví dụ: Tìm một nguyên hàm của </a:t>
            </a:r>
            <m:oMath xmlns:m="http://schemas.openxmlformats.org/officeDocument/2006/math">
              <m:box>
                <m:e>
                  <m:r>
                    <m:rPr>
                      <m:sty m:val="i"/>
                    </m:rPr>
                    <m:t>f</m:t>
                  </m:r>
                  <m:r>
                    <m:rPr>
                      <m:sty m:val="p"/>
                    </m:rPr>
                    <m:t>(</m:t>
                  </m:r>
                  <m:r>
                    <m:rPr>
                      <m:sty m:val="i"/>
                    </m:rPr>
                    <m:t>x</m:t>
                  </m:r>
                  <m:r>
                    <m:rPr>
                      <m:sty m:val="p"/>
                    </m:rPr>
                    <m:t>)</m:t>
                  </m:r>
                  <m:r>
                    <m:rPr>
                      <m:sty m:val="p"/>
                    </m:rPr>
                    <m:t>=</m:t>
                  </m:r>
                  <m:f>
                    <m:num>
                      <m:box>
                        <m:e>
                          <m:r>
                            <m:rPr>
                              <m:sty m:val="p"/>
                            </m:rPr>
                            <m:t>1</m:t>
                          </m:r>
                        </m:e>
                      </m:box>
                    </m:num>
                    <m:den>
                      <m:box>
                        <m:e>
                          <m:sSup>
                            <m:e>
                              <m:r>
                                <m:rPr>
                                  <m:sty m:val="p"/>
                                </m:rPr>
                                <m:t>cos</m:t>
                              </m:r>
                            </m:e>
                            <m:sup>
                              <m:r>
                                <m:rPr>
                                  <m:sty m:val="p"/>
                                </m:rPr>
                                <m:t>2</m:t>
                              </m:r>
                            </m:sup>
                          </m:sSup>
                          <m:r>
                            <m:rPr>
                              <m:sty m:val="i"/>
                            </m:rPr>
                            <m:t>x</m:t>
                          </m:r>
                        </m:e>
                      </m:box>
                    </m:den>
                  </m:f>
                </m:e>
              </m:box>
            </m:oMath>
            <a:r>
              <a:rPr sz="1800">
                <a:solidFill>
                  <a:srgbClr val="2C3E50"/>
                </a:solidFill>
                <a:latin typeface="Times New Roman"/>
              </a:rPr>
              <a:t>.</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sSup>
                    <m:e>
                      <m:r>
                        <m:rPr>
                          <m:sty m:val="i"/>
                        </m:rPr>
                        <m:t>F</m:t>
                      </m:r>
                    </m:e>
                    <m:sup>
                      <m:r>
                        <m:rPr>
                          <m:sty m:val="i"/>
                        </m:rPr>
                        <m:t>′</m:t>
                      </m:r>
                    </m:sup>
                  </m:sSup>
                  <m:r>
                    <m:rPr>
                      <m:sty m:val="p"/>
                    </m:rPr>
                    <m:t>(</m:t>
                  </m:r>
                  <m:r>
                    <m:rPr>
                      <m:sty m:val="i"/>
                    </m:rPr>
                    <m:t>x</m:t>
                  </m:r>
                  <m:r>
                    <m:rPr>
                      <m:sty m:val="p"/>
                    </m:rPr>
                    <m:t>)</m:t>
                  </m:r>
                  <m:r>
                    <m:rPr>
                      <m:sty m:val="p"/>
                    </m:rPr>
                    <m:t>=</m:t>
                  </m:r>
                  <m:r>
                    <m:rPr>
                      <m:sty m:val="i"/>
                    </m:rPr>
                    <m:t>f</m:t>
                  </m:r>
                  <m:r>
                    <m:rPr>
                      <m:sty m:val="p"/>
                    </m:rPr>
                    <m:t>(</m:t>
                  </m:r>
                  <m:r>
                    <m:rPr>
                      <m:sty m:val="i"/>
                    </m:rPr>
                    <m:t>x</m:t>
                  </m:r>
                  <m:r>
                    <m:rPr>
                      <m:sty m:val="p"/>
                    </m:rPr>
                    <m:t>)</m:t>
                  </m:r>
                </m:e>
              </m:box>
            </m:oMath>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II. Tính chất của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lí: Nếu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là một nguyên hàm của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trên </a:t>
            </a:r>
            <m:oMath xmlns:m="http://schemas.openxmlformats.org/officeDocument/2006/math">
              <m:box>
                <m:e>
                  <m:r>
                    <m:rPr>
                      <m:sty m:val="i"/>
                    </m:rPr>
                    <m:t>K</m:t>
                  </m:r>
                </m:e>
              </m:box>
            </m:oMath>
            <a:r>
              <a:rPr sz="1800">
                <a:solidFill>
                  <a:srgbClr val="2C3E50"/>
                </a:solidFill>
                <a:latin typeface="Times New Roman"/>
              </a:rPr>
              <a:t> thì mọi nguyên hàm của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trên </a:t>
            </a:r>
            <m:oMath xmlns:m="http://schemas.openxmlformats.org/officeDocument/2006/math">
              <m:box>
                <m:e>
                  <m:r>
                    <m:rPr>
                      <m:sty m:val="i"/>
                    </m:rPr>
                    <m:t>K</m:t>
                  </m:r>
                </m:e>
              </m:box>
            </m:oMath>
            <a:r>
              <a:rPr sz="1800">
                <a:solidFill>
                  <a:srgbClr val="2C3E50"/>
                </a:solidFill>
                <a:latin typeface="Times New Roman"/>
              </a:rPr>
              <a:t> đều có dạng </a:t>
            </a:r>
            <m:oMath xmlns:m="http://schemas.openxmlformats.org/officeDocument/2006/math">
              <m:box>
                <m:e>
                  <m:r>
                    <m:rPr>
                      <m:sty m:val="i"/>
                    </m:rPr>
                    <m:t>F</m:t>
                  </m:r>
                  <m:r>
                    <m:rPr>
                      <m:sty m:val="p"/>
                    </m:rPr>
                    <m:t>(</m:t>
                  </m:r>
                  <m:r>
                    <m:rPr>
                      <m:sty m:val="i"/>
                    </m:rPr>
                    <m:t>x</m:t>
                  </m:r>
                  <m:r>
                    <m:rPr>
                      <m:sty m:val="p"/>
                    </m:rPr>
                    <m:t>)</m:t>
                  </m:r>
                  <m:r>
                    <m:rPr>
                      <m:sty m:val="p"/>
                    </m:rPr>
                    <m:t>+</m:t>
                  </m:r>
                  <m:r>
                    <m:rPr>
                      <m:sty m:val="i"/>
                    </m:rPr>
                    <m:t>C</m:t>
                  </m:r>
                </m:e>
              </m:box>
            </m:oMath>
            <a:r>
              <a:rPr sz="1800">
                <a:solidFill>
                  <a:srgbClr val="2C3E50"/>
                </a:solidFill>
                <a:latin typeface="Times New Roman"/>
              </a:rPr>
              <a:t>, với </a:t>
            </a:r>
            <m:oMath xmlns:m="http://schemas.openxmlformats.org/officeDocument/2006/math">
              <m:box>
                <m:e>
                  <m:r>
                    <m:rPr>
                      <m:sty m:val="i"/>
                    </m:rPr>
                    <m:t>C</m:t>
                  </m:r>
                </m:e>
              </m:box>
            </m:oMath>
            <a:r>
              <a:rPr sz="1800">
                <a:solidFill>
                  <a:srgbClr val="2C3E50"/>
                </a:solidFill>
                <a:latin typeface="Times New Roman"/>
              </a:rPr>
              <a:t> là hằng số.</a:t>
            </a:r>
          </a:p>
          <a:p>
            <a:pPr>
              <a:spcAft>
                <a:spcPts val="1000"/>
              </a:spcAft>
            </a:pPr>
            <a:r>
              <a:rPr sz="1800">
                <a:solidFill>
                  <a:srgbClr val="2C3E50"/>
                </a:solidFill>
                <a:latin typeface="Times New Roman"/>
              </a:rPr>
              <a:t>•  Kí hiệu: </a:t>
            </a:r>
            <m:oMath xmlns:m="http://schemas.openxmlformats.org/officeDocument/2006/math">
              <m:box>
                <m:e>
                  <m:r>
                    <m:rPr>
                      <m:sty m:val="p"/>
                    </m:rPr>
                    <m:t>∫</m:t>
                  </m:r>
                  <m:r>
                    <m:rPr>
                      <m:sty m:val="i"/>
                    </m:rPr>
                    <m:t>f</m:t>
                  </m:r>
                  <m:r>
                    <m:rPr>
                      <m:sty m:val="p"/>
                    </m:rPr>
                    <m:t>(</m:t>
                  </m:r>
                  <m:r>
                    <m:rPr>
                      <m:sty m:val="i"/>
                    </m:rPr>
                    <m:t>x</m:t>
                  </m:r>
                  <m:r>
                    <m:rPr>
                      <m:sty m:val="p"/>
                    </m:rPr>
                    <m:t>)</m:t>
                  </m:r>
                  <m:r>
                    <m:rPr>
                      <m:sty m:val="i"/>
                    </m:rPr>
                    <m:t>d</m:t>
                  </m:r>
                  <m:r>
                    <m:rPr>
                      <m:sty m:val="i"/>
                    </m:rPr>
                    <m:t>x</m:t>
                  </m:r>
                  <m:r>
                    <m:rPr>
                      <m:sty m:val="p"/>
                    </m:rPr>
                    <m:t>=</m:t>
                  </m:r>
                  <m:r>
                    <m:rPr>
                      <m:sty m:val="i"/>
                    </m:rPr>
                    <m:t>F</m:t>
                  </m:r>
                  <m:r>
                    <m:rPr>
                      <m:sty m:val="p"/>
                    </m:rPr>
                    <m:t>(</m:t>
                  </m:r>
                  <m:r>
                    <m:rPr>
                      <m:sty m:val="i"/>
                    </m:rPr>
                    <m:t>x</m:t>
                  </m:r>
                  <m:r>
                    <m:rPr>
                      <m:sty m:val="p"/>
                    </m:rPr>
                    <m:t>)</m:t>
                  </m:r>
                  <m:r>
                    <m:rPr>
                      <m:sty m:val="p"/>
                    </m:rPr>
                    <m:t>+</m:t>
                  </m:r>
                  <m:r>
                    <m:rPr>
                      <m:sty m:val="i"/>
                    </m:rPr>
                    <m:t>C</m:t>
                  </m:r>
                </m:e>
              </m:box>
            </m:oMath>
          </a:p>
          <a:p>
            <a:pPr>
              <a:spcAft>
                <a:spcPts val="1000"/>
              </a:spcAft>
            </a:pPr>
            <a:r>
              <a:rPr sz="1800">
                <a:solidFill>
                  <a:srgbClr val="2C3E50"/>
                </a:solidFill>
                <a:latin typeface="Times New Roman"/>
              </a:rPr>
              <a:t>•  Tính chất 1: </a:t>
            </a:r>
            <m:oMath xmlns:m="http://schemas.openxmlformats.org/officeDocument/2006/math">
              <m:box>
                <m:e>
                  <m:r>
                    <m:rPr>
                      <m:sty m:val="p"/>
                    </m:rPr>
                    <m:t>∫</m:t>
                  </m:r>
                  <m:r>
                    <m:rPr>
                      <m:sty m:val="i"/>
                    </m:rPr>
                    <m:t>k</m:t>
                  </m:r>
                  <m:r>
                    <m:rPr>
                      <m:sty m:val="i"/>
                    </m:rPr>
                    <m:t>f</m:t>
                  </m:r>
                  <m:r>
                    <m:rPr>
                      <m:sty m:val="p"/>
                    </m:rPr>
                    <m:t>(</m:t>
                  </m:r>
                  <m:r>
                    <m:rPr>
                      <m:sty m:val="i"/>
                    </m:rPr>
                    <m:t>x</m:t>
                  </m:r>
                  <m:r>
                    <m:rPr>
                      <m:sty m:val="p"/>
                    </m:rPr>
                    <m:t>)</m:t>
                  </m:r>
                  <m:r>
                    <m:rPr>
                      <m:sty m:val="i"/>
                    </m:rPr>
                    <m:t>d</m:t>
                  </m:r>
                  <m:r>
                    <m:rPr>
                      <m:sty m:val="i"/>
                    </m:rPr>
                    <m:t>x</m:t>
                  </m:r>
                  <m:r>
                    <m:rPr>
                      <m:sty m:val="p"/>
                    </m:rPr>
                    <m:t>=</m:t>
                  </m:r>
                  <m:r>
                    <m:rPr>
                      <m:sty m:val="i"/>
                    </m:rPr>
                    <m:t>k</m:t>
                  </m:r>
                  <m:r>
                    <m:rPr>
                      <m:sty m:val="p"/>
                    </m:rPr>
                    <m:t>∫</m:t>
                  </m:r>
                  <m:r>
                    <m:rPr>
                      <m:sty m:val="i"/>
                    </m:rPr>
                    <m:t>f</m:t>
                  </m:r>
                  <m:r>
                    <m:rPr>
                      <m:sty m:val="p"/>
                    </m:rPr>
                    <m:t>(</m:t>
                  </m:r>
                  <m:r>
                    <m:rPr>
                      <m:sty m:val="i"/>
                    </m:rPr>
                    <m:t>x</m:t>
                  </m:r>
                  <m:r>
                    <m:rPr>
                      <m:sty m:val="p"/>
                    </m:rPr>
                    <m:t>)</m:t>
                  </m:r>
                  <m:r>
                    <m:rPr>
                      <m:sty m:val="i"/>
                    </m:rPr>
                    <m:t>d</m:t>
                  </m:r>
                  <m:r>
                    <m:rPr>
                      <m:sty m:val="i"/>
                    </m:rPr>
                    <m:t>x</m:t>
                  </m:r>
                </m:e>
              </m:box>
            </m:oMath>
            <a:r>
              <a:rPr sz="1800">
                <a:solidFill>
                  <a:srgbClr val="2C3E50"/>
                </a:solidFill>
                <a:latin typeface="Times New Roman"/>
              </a:rPr>
              <a:t> (với </a:t>
            </a:r>
            <m:oMath xmlns:m="http://schemas.openxmlformats.org/officeDocument/2006/math">
              <m:box>
                <m:e>
                  <m:r>
                    <m:rPr>
                      <m:sty m:val="i"/>
                    </m:rPr>
                    <m:t>k</m:t>
                  </m:r>
                </m:e>
              </m:box>
            </m:oMath>
            <a:r>
              <a:rPr sz="1800">
                <a:solidFill>
                  <a:srgbClr val="2C3E50"/>
                </a:solidFill>
                <a:latin typeface="Times New Roman"/>
              </a:rPr>
              <a:t> là hằng số)</a:t>
            </a:r>
          </a:p>
          <a:p>
            <a:pPr>
              <a:spcAft>
                <a:spcPts val="1000"/>
              </a:spcAft>
            </a:pPr>
            <a:r>
              <a:rPr sz="1800">
                <a:solidFill>
                  <a:srgbClr val="2C3E50"/>
                </a:solidFill>
                <a:latin typeface="Times New Roman"/>
              </a:rPr>
              <a:t>•  Tính chất 2: </a:t>
            </a:r>
            <m:oMath xmlns:m="http://schemas.openxmlformats.org/officeDocument/2006/math">
              <m:box>
                <m:e>
                  <m:r>
                    <m:rPr>
                      <m:sty m:val="p"/>
                    </m:rPr>
                    <m:t>∫</m:t>
                  </m:r>
                  <m:r>
                    <m:rPr>
                      <m:sty m:val="p"/>
                    </m:rPr>
                    <m:t>[</m:t>
                  </m:r>
                  <m:r>
                    <m:rPr>
                      <m:sty m:val="i"/>
                    </m:rPr>
                    <m:t>f</m:t>
                  </m:r>
                  <m:r>
                    <m:rPr>
                      <m:sty m:val="p"/>
                    </m:rPr>
                    <m:t>(</m:t>
                  </m:r>
                  <m:r>
                    <m:rPr>
                      <m:sty m:val="i"/>
                    </m:rPr>
                    <m:t>x</m:t>
                  </m:r>
                  <m:r>
                    <m:rPr>
                      <m:sty m:val="p"/>
                    </m:rPr>
                    <m:t>)</m:t>
                  </m:r>
                  <m:r>
                    <m:rPr>
                      <m:sty m:val="i"/>
                    </m:rPr>
                    <m:t>±</m:t>
                  </m:r>
                  <m:r>
                    <m:rPr>
                      <m:sty m:val="i"/>
                    </m:rPr>
                    <m:t>g</m:t>
                  </m:r>
                  <m:r>
                    <m:rPr>
                      <m:sty m:val="p"/>
                    </m:rPr>
                    <m:t>(</m:t>
                  </m:r>
                  <m:r>
                    <m:rPr>
                      <m:sty m:val="i"/>
                    </m:rPr>
                    <m:t>x</m:t>
                  </m:r>
                  <m:r>
                    <m:rPr>
                      <m:sty m:val="p"/>
                    </m:rPr>
                    <m:t>)</m:t>
                  </m:r>
                  <m:r>
                    <m:rPr>
                      <m:sty m:val="p"/>
                    </m:rPr>
                    <m:t>]</m:t>
                  </m:r>
                  <m:r>
                    <m:rPr>
                      <m:sty m:val="i"/>
                    </m:rPr>
                    <m:t>d</m:t>
                  </m:r>
                  <m:r>
                    <m:rPr>
                      <m:sty m:val="i"/>
                    </m:rPr>
                    <m:t>x</m:t>
                  </m:r>
                  <m:r>
                    <m:rPr>
                      <m:sty m:val="p"/>
                    </m:rPr>
                    <m:t>=</m:t>
                  </m:r>
                  <m:r>
                    <m:rPr>
                      <m:sty m:val="p"/>
                    </m:rPr>
                    <m:t>∫</m:t>
                  </m:r>
                  <m:r>
                    <m:rPr>
                      <m:sty m:val="i"/>
                    </m:rPr>
                    <m:t>f</m:t>
                  </m:r>
                  <m:r>
                    <m:rPr>
                      <m:sty m:val="p"/>
                    </m:rPr>
                    <m:t>(</m:t>
                  </m:r>
                  <m:r>
                    <m:rPr>
                      <m:sty m:val="i"/>
                    </m:rPr>
                    <m:t>x</m:t>
                  </m:r>
                  <m:r>
                    <m:rPr>
                      <m:sty m:val="p"/>
                    </m:rPr>
                    <m:t>)</m:t>
                  </m:r>
                  <m:r>
                    <m:rPr>
                      <m:sty m:val="i"/>
                    </m:rPr>
                    <m:t>d</m:t>
                  </m:r>
                  <m:r>
                    <m:rPr>
                      <m:sty m:val="i"/>
                    </m:rPr>
                    <m:t>x</m:t>
                  </m:r>
                  <m:r>
                    <m:rPr>
                      <m:sty m:val="i"/>
                    </m:rPr>
                    <m:t>±</m:t>
                  </m:r>
                  <m:r>
                    <m:rPr>
                      <m:sty m:val="p"/>
                    </m:rPr>
                    <m:t>∫</m:t>
                  </m:r>
                  <m:r>
                    <m:rPr>
                      <m:sty m:val="i"/>
                    </m:rPr>
                    <m:t>g</m:t>
                  </m:r>
                  <m:r>
                    <m:rPr>
                      <m:sty m:val="p"/>
                    </m:rPr>
                    <m:t>(</m:t>
                  </m:r>
                  <m:r>
                    <m:rPr>
                      <m:sty m:val="i"/>
                    </m:rPr>
                    <m:t>x</m:t>
                  </m:r>
                  <m:r>
                    <m:rPr>
                      <m:sty m:val="p"/>
                    </m:rPr>
                    <m:t>)</m:t>
                  </m:r>
                  <m:r>
                    <m:rPr>
                      <m:sty m:val="i"/>
                    </m:rPr>
                    <m:t>d</m:t>
                  </m:r>
                  <m:r>
                    <m:rPr>
                      <m:sty m:val="i"/>
                    </m:rPr>
                    <m:t>x</m:t>
                  </m:r>
                </m:e>
              </m:box>
            </m:oMath>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III. Bảng Nguyên hàm cơ bản</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a:t>
            </a:r>
            <m:oMath xmlns:m="http://schemas.openxmlformats.org/officeDocument/2006/math">
              <m:box>
                <m:e>
                  <m:r>
                    <m:rPr>
                      <m:sty m:val="p"/>
                    </m:rPr>
                    <m:t>∫</m:t>
                  </m:r>
                  <m:r>
                    <m:rPr>
                      <m:sty m:val="p"/>
                    </m:rPr>
                    <m:t>0</m:t>
                  </m:r>
                  <m:r>
                    <m:rPr>
                      <m:sty m:val="i"/>
                    </m:rPr>
                    <m:t>d</m:t>
                  </m:r>
                  <m:r>
                    <m:rPr>
                      <m:sty m:val="i"/>
                    </m:rPr>
                    <m:t>x</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r>
                    <m:rPr>
                      <m:sty m:val="i"/>
                    </m:rPr>
                    <m:t>d</m:t>
                  </m:r>
                  <m:r>
                    <m:rPr>
                      <m:sty m:val="i"/>
                    </m:rPr>
                    <m:t>x</m:t>
                  </m:r>
                  <m:r>
                    <m:rPr>
                      <m:sty m:val="p"/>
                    </m:rPr>
                    <m:t>=</m:t>
                  </m:r>
                  <m:r>
                    <m:rPr>
                      <m:sty m:val="i"/>
                    </m:rPr>
                    <m:t>x</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sSup>
                    <m:e>
                      <m:r>
                        <m:rPr>
                          <m:sty m:val="i"/>
                        </m:rPr>
                        <m:t>x</m:t>
                      </m:r>
                    </m:e>
                    <m:sup>
                      <m:r>
                        <m:rPr>
                          <m:sty m:val="i"/>
                        </m:rPr>
                        <m:t>n</m:t>
                      </m:r>
                    </m:sup>
                  </m:sSup>
                  <m:r>
                    <m:rPr>
                      <m:sty m:val="i"/>
                    </m:rPr>
                    <m:t>d</m:t>
                  </m:r>
                  <m:r>
                    <m:rPr>
                      <m:sty m:val="i"/>
                    </m:rPr>
                    <m:t>x</m:t>
                  </m:r>
                  <m:r>
                    <m:rPr>
                      <m:sty m:val="p"/>
                    </m:rPr>
                    <m:t>=</m:t>
                  </m:r>
                  <m:f>
                    <m:num>
                      <m:box>
                        <m:e>
                          <m:sSup>
                            <m:e>
                              <m:r>
                                <m:rPr>
                                  <m:sty m:val="i"/>
                                </m:rPr>
                                <m:t>x</m:t>
                              </m:r>
                            </m:e>
                            <m:sup>
                              <m:box>
                                <m:e>
                                  <m:r>
                                    <m:rPr>
                                      <m:sty m:val="i"/>
                                    </m:rPr>
                                    <m:t>n</m:t>
                                  </m:r>
                                  <m:r>
                                    <m:rPr>
                                      <m:sty m:val="p"/>
                                    </m:rPr>
                                    <m:t>+</m:t>
                                  </m:r>
                                  <m:r>
                                    <m:rPr>
                                      <m:sty m:val="p"/>
                                    </m:rPr>
                                    <m:t>1</m:t>
                                  </m:r>
                                </m:e>
                              </m:box>
                            </m:sup>
                          </m:sSup>
                        </m:e>
                      </m:box>
                    </m:num>
                    <m:den>
                      <m:box>
                        <m:e>
                          <m:r>
                            <m:rPr>
                              <m:sty m:val="i"/>
                            </m:rPr>
                            <m:t>n</m:t>
                          </m:r>
                          <m:r>
                            <m:rPr>
                              <m:sty m:val="p"/>
                            </m:rPr>
                            <m:t>+</m:t>
                          </m:r>
                          <m:r>
                            <m:rPr>
                              <m:sty m:val="p"/>
                            </m:rPr>
                            <m:t>1</m:t>
                          </m:r>
                        </m:e>
                      </m:box>
                    </m:den>
                  </m:f>
                  <m:r>
                    <m:rPr>
                      <m:sty m:val="p"/>
                    </m:rPr>
                    <m:t>+</m:t>
                  </m:r>
                  <m:r>
                    <m:rPr>
                      <m:sty m:val="i"/>
                    </m:rPr>
                    <m:t>C</m:t>
                  </m:r>
                  <m:r>
                    <m:rPr>
                      <m:sty m:val="p"/>
                    </m:rPr>
                    <m:t>(</m:t>
                  </m:r>
                  <m:r>
                    <m:rPr>
                      <m:sty m:val="i"/>
                    </m:rPr>
                    <m:t>n</m:t>
                  </m:r>
                  <m:r>
                    <m:rPr>
                      <m:sty m:val="p"/>
                    </m:rPr>
                    <m:t>≠</m:t>
                  </m:r>
                  <m:r>
                    <m:rPr>
                      <m:sty m:val="p"/>
                    </m:rPr>
                    <m:t>−</m:t>
                  </m:r>
                  <m:r>
                    <m:rPr>
                      <m:sty m:val="p"/>
                    </m:rPr>
                    <m:t>1</m:t>
                  </m:r>
                  <m:r>
                    <m:rPr>
                      <m:sty m:val="p"/>
                    </m:rPr>
                    <m:t>)</m:t>
                  </m:r>
                </m:e>
              </m:box>
            </m:oMath>
          </a:p>
          <a:p>
            <a:pPr>
              <a:spcAft>
                <a:spcPts val="1000"/>
              </a:spcAft>
            </a:pPr>
            <a:r>
              <a:rPr sz="1800">
                <a:solidFill>
                  <a:srgbClr val="2C3E50"/>
                </a:solidFill>
                <a:latin typeface="Times New Roman"/>
              </a:rPr>
              <a:t>•  </a:t>
            </a:r>
            <m:oMath xmlns:m="http://schemas.openxmlformats.org/officeDocument/2006/math">
              <m:box>
                <m:e>
                  <m:r>
                    <m:rPr>
                      <m:sty m:val="p"/>
                    </m:rPr>
                    <m:t>∫</m:t>
                  </m:r>
                  <m:f>
                    <m:num>
                      <m:box>
                        <m:e>
                          <m:r>
                            <m:rPr>
                              <m:sty m:val="p"/>
                            </m:rPr>
                            <m:t>1</m:t>
                          </m:r>
                        </m:e>
                      </m:box>
                    </m:num>
                    <m:den>
                      <m:box>
                        <m:e>
                          <m:r>
                            <m:rPr>
                              <m:sty m:val="i"/>
                            </m:rPr>
                            <m:t>x</m:t>
                          </m:r>
                        </m:e>
                      </m:box>
                    </m:den>
                  </m:f>
                  <m:r>
                    <m:rPr>
                      <m:sty m:val="i"/>
                    </m:rPr>
                    <m:t>d</m:t>
                  </m:r>
                  <m:r>
                    <m:rPr>
                      <m:sty m:val="i"/>
                    </m:rPr>
                    <m:t>x</m:t>
                  </m:r>
                  <m:r>
                    <m:rPr>
                      <m:sty m:val="p"/>
                    </m:rPr>
                    <m:t>=</m:t>
                  </m:r>
                  <m:r>
                    <m:rPr>
                      <m:sty m:val="p"/>
                    </m:rPr>
                    <m:t>ln</m:t>
                  </m:r>
                  <m:r>
                    <m:rPr>
                      <m:sty m:val="p"/>
                    </m:rPr>
                    <m:t>|</m:t>
                  </m:r>
                  <m:r>
                    <m:rPr>
                      <m:sty m:val="i"/>
                    </m:rPr>
                    <m:t>x</m:t>
                  </m:r>
                  <m:r>
                    <m:rPr>
                      <m:sty m:val="p"/>
                    </m:rPr>
                    <m:t>|</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sSup>
                    <m:e>
                      <m:r>
                        <m:rPr>
                          <m:sty m:val="i"/>
                        </m:rPr>
                        <m:t>e</m:t>
                      </m:r>
                    </m:e>
                    <m:sup>
                      <m:r>
                        <m:rPr>
                          <m:sty m:val="i"/>
                        </m:rPr>
                        <m:t>x</m:t>
                      </m:r>
                    </m:sup>
                  </m:sSup>
                  <m:r>
                    <m:rPr>
                      <m:sty m:val="i"/>
                    </m:rPr>
                    <m:t>d</m:t>
                  </m:r>
                  <m:r>
                    <m:rPr>
                      <m:sty m:val="i"/>
                    </m:rPr>
                    <m:t>x</m:t>
                  </m:r>
                  <m:r>
                    <m:rPr>
                      <m:sty m:val="p"/>
                    </m:rPr>
                    <m:t>=</m:t>
                  </m:r>
                  <m:sSup>
                    <m:e>
                      <m:r>
                        <m:rPr>
                          <m:sty m:val="i"/>
                        </m:rPr>
                        <m:t>e</m:t>
                      </m:r>
                    </m:e>
                    <m:sup>
                      <m:r>
                        <m:rPr>
                          <m:sty m:val="i"/>
                        </m:rPr>
                        <m:t>x</m:t>
                      </m:r>
                    </m:sup>
                  </m:sSup>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sSup>
                    <m:e>
                      <m:r>
                        <m:rPr>
                          <m:sty m:val="i"/>
                        </m:rPr>
                        <m:t>a</m:t>
                      </m:r>
                    </m:e>
                    <m:sup>
                      <m:r>
                        <m:rPr>
                          <m:sty m:val="i"/>
                        </m:rPr>
                        <m:t>x</m:t>
                      </m:r>
                    </m:sup>
                  </m:sSup>
                  <m:r>
                    <m:rPr>
                      <m:sty m:val="i"/>
                    </m:rPr>
                    <m:t>d</m:t>
                  </m:r>
                  <m:r>
                    <m:rPr>
                      <m:sty m:val="i"/>
                    </m:rPr>
                    <m:t>x</m:t>
                  </m:r>
                  <m:r>
                    <m:rPr>
                      <m:sty m:val="p"/>
                    </m:rPr>
                    <m:t>=</m:t>
                  </m:r>
                  <m:f>
                    <m:num>
                      <m:box>
                        <m:e>
                          <m:sSup>
                            <m:e>
                              <m:r>
                                <m:rPr>
                                  <m:sty m:val="i"/>
                                </m:rPr>
                                <m:t>a</m:t>
                              </m:r>
                            </m:e>
                            <m:sup>
                              <m:r>
                                <m:rPr>
                                  <m:sty m:val="i"/>
                                </m:rPr>
                                <m:t>x</m:t>
                              </m:r>
                            </m:sup>
                          </m:sSup>
                        </m:e>
                      </m:box>
                    </m:num>
                    <m:den>
                      <m:box>
                        <m:e>
                          <m:r>
                            <m:rPr>
                              <m:sty m:val="p"/>
                            </m:rPr>
                            <m:t>ln</m:t>
                          </m:r>
                          <m:r>
                            <m:rPr>
                              <m:sty m:val="i"/>
                            </m:rPr>
                            <m:t>a</m:t>
                          </m:r>
                        </m:e>
                      </m:box>
                    </m:den>
                  </m:f>
                  <m:r>
                    <m:rPr>
                      <m:sty m:val="p"/>
                    </m:rPr>
                    <m:t>+</m:t>
                  </m:r>
                  <m:r>
                    <m:rPr>
                      <m:sty m:val="i"/>
                    </m:rPr>
                    <m:t>C</m:t>
                  </m:r>
                  <m:r>
                    <m:rPr>
                      <m:sty m:val="p"/>
                    </m:rPr>
                    <m:t>(</m:t>
                  </m:r>
                  <m:r>
                    <m:rPr>
                      <m:sty m:val="i"/>
                    </m:rPr>
                    <m:t>a</m:t>
                  </m:r>
                  <m:r>
                    <m:rPr>
                      <m:sty m:val="p"/>
                    </m:rPr>
                    <m:t>&gt;</m:t>
                  </m:r>
                  <m:r>
                    <m:rPr>
                      <m:sty m:val="p"/>
                    </m:rPr>
                    <m:t>0</m:t>
                  </m:r>
                  <m:r>
                    <m:rPr>
                      <m:sty m:val="p"/>
                    </m:rPr>
                    <m:t>,</m:t>
                  </m:r>
                  <m:r>
                    <m:rPr>
                      <m:sty m:val="i"/>
                    </m:rPr>
                    <m:t>a</m:t>
                  </m:r>
                  <m:r>
                    <m:rPr>
                      <m:sty m:val="p"/>
                    </m:rPr>
                    <m:t>≠</m:t>
                  </m:r>
                  <m:r>
                    <m:rPr>
                      <m:sty m:val="p"/>
                    </m:rPr>
                    <m:t>1</m:t>
                  </m:r>
                  <m:r>
                    <m:rPr>
                      <m:sty m:val="p"/>
                    </m:rPr>
                    <m:t>)</m:t>
                  </m:r>
                </m:e>
              </m:box>
            </m:oMath>
          </a:p>
          <a:p>
            <a:pPr>
              <a:spcAft>
                <a:spcPts val="1000"/>
              </a:spcAft>
            </a:pPr>
            <a:r>
              <a:rPr sz="1800">
                <a:solidFill>
                  <a:srgbClr val="2C3E50"/>
                </a:solidFill>
                <a:latin typeface="Times New Roman"/>
              </a:rPr>
              <a:t>•  </a:t>
            </a:r>
            <m:oMath xmlns:m="http://schemas.openxmlformats.org/officeDocument/2006/math">
              <m:box>
                <m:e>
                  <m:r>
                    <m:rPr>
                      <m:sty m:val="p"/>
                    </m:rPr>
                    <m:t>∫</m:t>
                  </m:r>
                  <m:r>
                    <m:rPr>
                      <m:sty m:val="p"/>
                    </m:rPr>
                    <m:t>cos</m:t>
                  </m:r>
                  <m:r>
                    <m:rPr>
                      <m:sty m:val="i"/>
                    </m:rPr>
                    <m:t>x</m:t>
                  </m:r>
                  <m:r>
                    <m:rPr>
                      <m:sty m:val="i"/>
                    </m:rPr>
                    <m:t>d</m:t>
                  </m:r>
                  <m:r>
                    <m:rPr>
                      <m:sty m:val="i"/>
                    </m:rPr>
                    <m:t>x</m:t>
                  </m:r>
                  <m:r>
                    <m:rPr>
                      <m:sty m:val="p"/>
                    </m:rPr>
                    <m:t>=</m:t>
                  </m:r>
                  <m:r>
                    <m:rPr>
                      <m:sty m:val="p"/>
                    </m:rPr>
                    <m:t>sin</m:t>
                  </m:r>
                  <m:r>
                    <m:rPr>
                      <m:sty m:val="i"/>
                    </m:rPr>
                    <m:t>x</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r>
                    <m:rPr>
                      <m:sty m:val="p"/>
                    </m:rPr>
                    <m:t>sin</m:t>
                  </m:r>
                  <m:r>
                    <m:rPr>
                      <m:sty m:val="i"/>
                    </m:rPr>
                    <m:t>x</m:t>
                  </m:r>
                  <m:r>
                    <m:rPr>
                      <m:sty m:val="i"/>
                    </m:rPr>
                    <m:t>d</m:t>
                  </m:r>
                  <m:r>
                    <m:rPr>
                      <m:sty m:val="i"/>
                    </m:rPr>
                    <m:t>x</m:t>
                  </m:r>
                  <m:r>
                    <m:rPr>
                      <m:sty m:val="p"/>
                    </m:rPr>
                    <m:t>=</m:t>
                  </m:r>
                  <m:r>
                    <m:rPr>
                      <m:sty m:val="p"/>
                    </m:rPr>
                    <m:t>−</m:t>
                  </m:r>
                  <m:r>
                    <m:rPr>
                      <m:sty m:val="p"/>
                    </m:rPr>
                    <m:t>cos</m:t>
                  </m:r>
                  <m:r>
                    <m:rPr>
                      <m:sty m:val="i"/>
                    </m:rPr>
                    <m:t>x</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f>
                    <m:num>
                      <m:box>
                        <m:e>
                          <m:r>
                            <m:rPr>
                              <m:sty m:val="p"/>
                            </m:rPr>
                            <m:t>1</m:t>
                          </m:r>
                        </m:e>
                      </m:box>
                    </m:num>
                    <m:den>
                      <m:box>
                        <m:e>
                          <m:sSup>
                            <m:e>
                              <m:r>
                                <m:rPr>
                                  <m:sty m:val="p"/>
                                </m:rPr>
                                <m:t>cos</m:t>
                              </m:r>
                            </m:e>
                            <m:sup>
                              <m:r>
                                <m:rPr>
                                  <m:sty m:val="p"/>
                                </m:rPr>
                                <m:t>2</m:t>
                              </m:r>
                            </m:sup>
                          </m:sSup>
                          <m:r>
                            <m:rPr>
                              <m:sty m:val="i"/>
                            </m:rPr>
                            <m:t>x</m:t>
                          </m:r>
                        </m:e>
                      </m:box>
                    </m:den>
                  </m:f>
                  <m:r>
                    <m:rPr>
                      <m:sty m:val="i"/>
                    </m:rPr>
                    <m:t>d</m:t>
                  </m:r>
                  <m:r>
                    <m:rPr>
                      <m:sty m:val="i"/>
                    </m:rPr>
                    <m:t>x</m:t>
                  </m:r>
                  <m:r>
                    <m:rPr>
                      <m:sty m:val="p"/>
                    </m:rPr>
                    <m:t>=</m:t>
                  </m:r>
                  <m:r>
                    <m:rPr>
                      <m:sty m:val="p"/>
                    </m:rPr>
                    <m:t>tan</m:t>
                  </m:r>
                  <m:r>
                    <m:rPr>
                      <m:sty m:val="i"/>
                    </m:rPr>
                    <m:t>x</m:t>
                  </m:r>
                  <m:r>
                    <m:rPr>
                      <m:sty m:val="p"/>
                    </m:rPr>
                    <m:t>+</m:t>
                  </m:r>
                  <m:r>
                    <m:rPr>
                      <m:sty m:val="i"/>
                    </m:rPr>
                    <m:t>C</m:t>
                  </m:r>
                </m:e>
              </m:box>
            </m:oMath>
          </a:p>
          <a:p>
            <a:pPr>
              <a:spcAft>
                <a:spcPts val="1000"/>
              </a:spcAft>
            </a:pPr>
            <a:r>
              <a:rPr sz="1800">
                <a:solidFill>
                  <a:srgbClr val="2C3E50"/>
                </a:solidFill>
                <a:latin typeface="Times New Roman"/>
              </a:rPr>
              <a:t>•  </a:t>
            </a:r>
            <m:oMath xmlns:m="http://schemas.openxmlformats.org/officeDocument/2006/math">
              <m:box>
                <m:e>
                  <m:r>
                    <m:rPr>
                      <m:sty m:val="p"/>
                    </m:rPr>
                    <m:t>∫</m:t>
                  </m:r>
                  <m:f>
                    <m:num>
                      <m:box>
                        <m:e>
                          <m:r>
                            <m:rPr>
                              <m:sty m:val="p"/>
                            </m:rPr>
                            <m:t>1</m:t>
                          </m:r>
                        </m:e>
                      </m:box>
                    </m:num>
                    <m:den>
                      <m:box>
                        <m:e>
                          <m:sSup>
                            <m:e>
                              <m:r>
                                <m:rPr>
                                  <m:sty m:val="p"/>
                                </m:rPr>
                                <m:t>sin</m:t>
                              </m:r>
                            </m:e>
                            <m:sup>
                              <m:r>
                                <m:rPr>
                                  <m:sty m:val="p"/>
                                </m:rPr>
                                <m:t>2</m:t>
                              </m:r>
                            </m:sup>
                          </m:sSup>
                          <m:r>
                            <m:rPr>
                              <m:sty m:val="i"/>
                            </m:rPr>
                            <m:t>x</m:t>
                          </m:r>
                        </m:e>
                      </m:box>
                    </m:den>
                  </m:f>
                  <m:r>
                    <m:rPr>
                      <m:sty m:val="i"/>
                    </m:rPr>
                    <m:t>d</m:t>
                  </m:r>
                  <m:r>
                    <m:rPr>
                      <m:sty m:val="i"/>
                    </m:rPr>
                    <m:t>x</m:t>
                  </m:r>
                  <m:r>
                    <m:rPr>
                      <m:sty m:val="p"/>
                    </m:rPr>
                    <m:t>=</m:t>
                  </m:r>
                  <m:r>
                    <m:rPr>
                      <m:sty m:val="p"/>
                    </m:rPr>
                    <m:t>−</m:t>
                  </m:r>
                  <m:r>
                    <m:rPr>
                      <m:sty m:val="p"/>
                    </m:rPr>
                    <m:t>cot</m:t>
                  </m:r>
                  <m:r>
                    <m:rPr>
                      <m:sty m:val="i"/>
                    </m:rPr>
                    <m:t>x</m:t>
                  </m:r>
                  <m:r>
                    <m:rPr>
                      <m:sty m:val="p"/>
                    </m:rPr>
                    <m:t>+</m:t>
                  </m:r>
                  <m:r>
                    <m:rPr>
                      <m:sty m:val="i"/>
                    </m:rPr>
                    <m:t>C</m:t>
                  </m:r>
                </m:e>
              </m:box>
            </m:oMath>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Ví dụ Áp dụng</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a:t>
            </a:r>
            <m:oMath xmlns:m="http://schemas.openxmlformats.org/officeDocument/2006/math">
              <m:box>
                <m:e>
                  <m:r>
                    <m:rPr>
                      <m:sty m:val="i"/>
                    </m:rPr>
                    <m:t>f</m:t>
                  </m:r>
                  <m:r>
                    <m:rPr>
                      <m:sty m:val="p"/>
                    </m:rPr>
                    <m:t>(</m:t>
                  </m:r>
                  <m:r>
                    <m:rPr>
                      <m:sty m:val="i"/>
                    </m:rPr>
                    <m:t>x</m:t>
                  </m:r>
                  <m:r>
                    <m:rPr>
                      <m:sty m:val="p"/>
                    </m:rPr>
                    <m:t>)</m:t>
                  </m:r>
                  <m:r>
                    <m:rPr>
                      <m:sty m:val="p"/>
                    </m:rPr>
                    <m:t>=</m:t>
                  </m:r>
                  <m:sSup>
                    <m:e>
                      <m:r>
                        <m:rPr>
                          <m:sty m:val="i"/>
                        </m:rPr>
                        <m:t>x</m:t>
                      </m:r>
                    </m:e>
                    <m:sup>
                      <m:r>
                        <m:rPr>
                          <m:sty m:val="p"/>
                        </m:rPr>
                        <m:t>4</m:t>
                      </m:r>
                    </m:sup>
                  </m:sSup>
                  <m:r>
                    <m:rPr>
                      <m:sty m:val="p"/>
                    </m:rPr>
                    <m:t>−</m:t>
                  </m:r>
                  <m:r>
                    <m:rPr>
                      <m:sty m:val="p"/>
                    </m:rPr>
                    <m:t>2</m:t>
                  </m:r>
                  <m:r>
                    <m:rPr>
                      <m:sty m:val="i"/>
                    </m:rPr>
                    <m:t>x</m:t>
                  </m:r>
                  <m:r>
                    <m:rPr>
                      <m:sty m:val="p"/>
                    </m:rPr>
                    <m:t>+</m:t>
                  </m:r>
                  <m:r>
                    <m:rPr>
                      <m:sty m:val="p"/>
                    </m:rPr>
                    <m:t>1</m:t>
                  </m:r>
                  <m:r>
                    <m:rPr>
                      <m:sty m:val="p"/>
                    </m:rPr>
                    <m:t>+</m:t>
                  </m:r>
                  <m:sSup>
                    <m:e>
                      <m:r>
                        <m:rPr>
                          <m:sty m:val="i"/>
                        </m:rPr>
                        <m:t>e</m:t>
                      </m:r>
                    </m:e>
                    <m:sup>
                      <m:r>
                        <m:rPr>
                          <m:sty m:val="i"/>
                        </m:rPr>
                        <m:t>x</m:t>
                      </m:r>
                    </m:sup>
                  </m:sSup>
                </m:e>
              </m:box>
            </m:oMath>
            <a:r>
              <a:rPr sz="1800">
                <a:solidFill>
                  <a:srgbClr val="2C3E50"/>
                </a:solidFill>
                <a:latin typeface="Times New Roman"/>
              </a:rPr>
              <a:t>.</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r>
                    <m:rPr>
                      <m:sty m:val="p"/>
                    </m:rPr>
                    <m:t>∫</m:t>
                  </m:r>
                  <m:r>
                    <m:rPr>
                      <m:sty m:val="p"/>
                    </m:rPr>
                    <m:t>(</m:t>
                  </m:r>
                  <m:sSup>
                    <m:e>
                      <m:r>
                        <m:rPr>
                          <m:sty m:val="i"/>
                        </m:rPr>
                        <m:t>x</m:t>
                      </m:r>
                    </m:e>
                    <m:sup>
                      <m:r>
                        <m:rPr>
                          <m:sty m:val="p"/>
                        </m:rPr>
                        <m:t>4</m:t>
                      </m:r>
                    </m:sup>
                  </m:sSup>
                  <m:r>
                    <m:rPr>
                      <m:sty m:val="p"/>
                    </m:rPr>
                    <m:t>−</m:t>
                  </m:r>
                  <m:r>
                    <m:rPr>
                      <m:sty m:val="p"/>
                    </m:rPr>
                    <m:t>2</m:t>
                  </m:r>
                  <m:r>
                    <m:rPr>
                      <m:sty m:val="i"/>
                    </m:rPr>
                    <m:t>x</m:t>
                  </m:r>
                  <m:r>
                    <m:rPr>
                      <m:sty m:val="p"/>
                    </m:rPr>
                    <m:t>+</m:t>
                  </m:r>
                  <m:r>
                    <m:rPr>
                      <m:sty m:val="p"/>
                    </m:rPr>
                    <m:t>1</m:t>
                  </m:r>
                  <m:r>
                    <m:rPr>
                      <m:sty m:val="p"/>
                    </m:rPr>
                    <m:t>+</m:t>
                  </m:r>
                  <m:sSup>
                    <m:e>
                      <m:r>
                        <m:rPr>
                          <m:sty m:val="i"/>
                        </m:rPr>
                        <m:t>e</m:t>
                      </m:r>
                    </m:e>
                    <m:sup>
                      <m:r>
                        <m:rPr>
                          <m:sty m:val="i"/>
                        </m:rPr>
                        <m:t>x</m:t>
                      </m:r>
                    </m:sup>
                  </m:sSup>
                  <m:r>
                    <m:rPr>
                      <m:sty m:val="p"/>
                    </m:rPr>
                    <m:t>)</m:t>
                  </m:r>
                  <m:r>
                    <m:rPr>
                      <m:sty m:val="i"/>
                    </m:rPr>
                    <m:t>d</m:t>
                  </m:r>
                  <m:r>
                    <m:rPr>
                      <m:sty m:val="i"/>
                    </m:rPr>
                    <m:t>x</m:t>
                  </m:r>
                  <m:r>
                    <m:rPr>
                      <m:sty m:val="p"/>
                    </m:rPr>
                    <m:t>=</m:t>
                  </m:r>
                  <m:f>
                    <m:num>
                      <m:box>
                        <m:e>
                          <m:sSup>
                            <m:e>
                              <m:r>
                                <m:rPr>
                                  <m:sty m:val="i"/>
                                </m:rPr>
                                <m:t>x</m:t>
                              </m:r>
                            </m:e>
                            <m:sup>
                              <m:r>
                                <m:rPr>
                                  <m:sty m:val="p"/>
                                </m:rPr>
                                <m:t>5</m:t>
                              </m:r>
                            </m:sup>
                          </m:sSup>
                        </m:e>
                      </m:box>
                    </m:num>
                    <m:den>
                      <m:box>
                        <m:e>
                          <m:r>
                            <m:rPr>
                              <m:sty m:val="p"/>
                            </m:rPr>
                            <m:t>5</m:t>
                          </m:r>
                        </m:e>
                      </m:box>
                    </m:den>
                  </m:f>
                  <m:r>
                    <m:rPr>
                      <m:sty m:val="p"/>
                    </m:rPr>
                    <m:t>−</m:t>
                  </m:r>
                  <m:sSup>
                    <m:e>
                      <m:r>
                        <m:rPr>
                          <m:sty m:val="i"/>
                        </m:rPr>
                        <m:t>x</m:t>
                      </m:r>
                    </m:e>
                    <m:sup>
                      <m:r>
                        <m:rPr>
                          <m:sty m:val="p"/>
                        </m:rPr>
                        <m:t>2</m:t>
                      </m:r>
                    </m:sup>
                  </m:sSup>
                  <m:r>
                    <m:rPr>
                      <m:sty m:val="p"/>
                    </m:rPr>
                    <m:t>+</m:t>
                  </m:r>
                  <m:r>
                    <m:rPr>
                      <m:sty m:val="i"/>
                    </m:rPr>
                    <m:t>x</m:t>
                  </m:r>
                  <m:r>
                    <m:rPr>
                      <m:sty m:val="p"/>
                    </m:rPr>
                    <m:t>+</m:t>
                  </m:r>
                  <m:sSup>
                    <m:e>
                      <m:r>
                        <m:rPr>
                          <m:sty m:val="i"/>
                        </m:rPr>
                        <m:t>e</m:t>
                      </m:r>
                    </m:e>
                    <m:sup>
                      <m:r>
                        <m:rPr>
                          <m:sty m:val="i"/>
                        </m:rPr>
                        <m:t>x</m:t>
                      </m:r>
                    </m:sup>
                  </m:sSup>
                  <m:r>
                    <m:rPr>
                      <m:sty m:val="p"/>
                    </m:rPr>
                    <m:t>+</m:t>
                  </m:r>
                  <m:r>
                    <m:rPr>
                      <m:sty m:val="i"/>
                    </m:rPr>
                    <m:t>C</m:t>
                  </m:r>
                </m:e>
              </m:box>
            </m:oMath>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Bài tập Nhóm 1</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a:t>
            </a:r>
            <m:oMath xmlns:m="http://schemas.openxmlformats.org/officeDocument/2006/math">
              <m:box>
                <m:e>
                  <m:r>
                    <m:rPr>
                      <m:sty m:val="i"/>
                    </m:rPr>
                    <m:t>f</m:t>
                  </m:r>
                  <m:r>
                    <m:rPr>
                      <m:sty m:val="p"/>
                    </m:rPr>
                    <m:t>(</m:t>
                  </m:r>
                  <m:r>
                    <m:rPr>
                      <m:sty m:val="i"/>
                    </m:rPr>
                    <m:t>x</m:t>
                  </m:r>
                  <m:r>
                    <m:rPr>
                      <m:sty m:val="p"/>
                    </m:rPr>
                    <m:t>)</m:t>
                  </m:r>
                  <m:r>
                    <m:rPr>
                      <m:sty m:val="p"/>
                    </m:rPr>
                    <m:t>=</m:t>
                  </m:r>
                  <m:r>
                    <m:rPr>
                      <m:sty m:val="p"/>
                    </m:rPr>
                    <m:t>3</m:t>
                  </m:r>
                  <m:sSup>
                    <m:e>
                      <m:r>
                        <m:rPr>
                          <m:sty m:val="i"/>
                        </m:rPr>
                        <m:t>x</m:t>
                      </m:r>
                    </m:e>
                    <m:sup>
                      <m:r>
                        <m:rPr>
                          <m:sty m:val="p"/>
                        </m:rPr>
                        <m:t>2</m:t>
                      </m:r>
                    </m:sup>
                  </m:sSup>
                  <m:r>
                    <m:rPr>
                      <m:sty m:val="p"/>
                    </m:rPr>
                    <m:t>+</m:t>
                  </m:r>
                  <m:f>
                    <m:num>
                      <m:box>
                        <m:e>
                          <m:r>
                            <m:rPr>
                              <m:sty m:val="p"/>
                            </m:rPr>
                            <m:t>1</m:t>
                          </m:r>
                        </m:e>
                      </m:box>
                    </m:num>
                    <m:den>
                      <m:box>
                        <m:e>
                          <m:r>
                            <m:rPr>
                              <m:sty m:val="i"/>
                            </m:rPr>
                            <m:t>x</m:t>
                          </m:r>
                        </m:e>
                      </m:box>
                    </m:den>
                  </m:f>
                  <m:r>
                    <m:rPr>
                      <m:sty m:val="p"/>
                    </m:rPr>
                    <m:t>−</m:t>
                  </m:r>
                  <m:f>
                    <m:num>
                      <m:box>
                        <m:e>
                          <m:r>
                            <m:rPr>
                              <m:sty m:val="p"/>
                            </m:rPr>
                            <m:t>1</m:t>
                          </m:r>
                        </m:e>
                      </m:box>
                    </m:num>
                    <m:den>
                      <m:box>
                        <m:e>
                          <m:rad>
                            <m:e>
                              <m:box>
                                <m:e>
                                  <m:box>
                                    <m:e>
                                      <m:r>
                                        <m:rPr>
                                          <m:sty m:val="i"/>
                                        </m:rPr>
                                        <m:t>x</m:t>
                                      </m:r>
                                    </m:e>
                                  </m:box>
                                </m:e>
                              </m:box>
                            </m:e>
                          </m:rad>
                        </m:e>
                      </m:box>
                    </m:den>
                  </m:f>
                </m:e>
              </m:box>
            </m:oMath>
            <a:r>
              <a:rPr sz="1800">
                <a:solidFill>
                  <a:srgbClr val="2C3E50"/>
                </a:solidFill>
                <a:latin typeface="Times New Roman"/>
              </a:rPr>
              <a:t>.</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r>
                    <m:rPr>
                      <m:sty m:val="p"/>
                    </m:rPr>
                    <m:t>∫</m:t>
                  </m:r>
                  <m:r>
                    <m:rPr>
                      <m:sty m:val="p"/>
                    </m:rPr>
                    <m:t>(</m:t>
                  </m:r>
                  <m:r>
                    <m:rPr>
                      <m:sty m:val="p"/>
                    </m:rPr>
                    <m:t>3</m:t>
                  </m:r>
                  <m:sSup>
                    <m:e>
                      <m:r>
                        <m:rPr>
                          <m:sty m:val="i"/>
                        </m:rPr>
                        <m:t>x</m:t>
                      </m:r>
                    </m:e>
                    <m:sup>
                      <m:r>
                        <m:rPr>
                          <m:sty m:val="p"/>
                        </m:rPr>
                        <m:t>2</m:t>
                      </m:r>
                    </m:sup>
                  </m:sSup>
                  <m:r>
                    <m:rPr>
                      <m:sty m:val="p"/>
                    </m:rPr>
                    <m:t>+</m:t>
                  </m:r>
                  <m:f>
                    <m:num>
                      <m:box>
                        <m:e>
                          <m:r>
                            <m:rPr>
                              <m:sty m:val="p"/>
                            </m:rPr>
                            <m:t>1</m:t>
                          </m:r>
                        </m:e>
                      </m:box>
                    </m:num>
                    <m:den>
                      <m:box>
                        <m:e>
                          <m:r>
                            <m:rPr>
                              <m:sty m:val="i"/>
                            </m:rPr>
                            <m:t>x</m:t>
                          </m:r>
                        </m:e>
                      </m:box>
                    </m:den>
                  </m:f>
                  <m:r>
                    <m:rPr>
                      <m:sty m:val="p"/>
                    </m:rPr>
                    <m:t>−</m:t>
                  </m:r>
                  <m:f>
                    <m:num>
                      <m:box>
                        <m:e>
                          <m:r>
                            <m:rPr>
                              <m:sty m:val="p"/>
                            </m:rPr>
                            <m:t>1</m:t>
                          </m:r>
                        </m:e>
                      </m:box>
                    </m:num>
                    <m:den>
                      <m:box>
                        <m:e>
                          <m:rad>
                            <m:e>
                              <m:box>
                                <m:e>
                                  <m:box>
                                    <m:e>
                                      <m:r>
                                        <m:rPr>
                                          <m:sty m:val="i"/>
                                        </m:rPr>
                                        <m:t>x</m:t>
                                      </m:r>
                                    </m:e>
                                  </m:box>
                                </m:e>
                              </m:box>
                            </m:e>
                          </m:rad>
                        </m:e>
                      </m:box>
                    </m:den>
                  </m:f>
                  <m:r>
                    <m:rPr>
                      <m:sty m:val="p"/>
                    </m:rPr>
                    <m:t>)</m:t>
                  </m:r>
                  <m:r>
                    <m:rPr>
                      <m:sty m:val="i"/>
                    </m:rPr>
                    <m:t>d</m:t>
                  </m:r>
                  <m:r>
                    <m:rPr>
                      <m:sty m:val="i"/>
                    </m:rPr>
                    <m:t>x</m:t>
                  </m:r>
                  <m:r>
                    <m:rPr>
                      <m:sty m:val="p"/>
                    </m:rPr>
                    <m:t>=</m:t>
                  </m:r>
                  <m:sSup>
                    <m:e>
                      <m:r>
                        <m:rPr>
                          <m:sty m:val="i"/>
                        </m:rPr>
                        <m:t>x</m:t>
                      </m:r>
                    </m:e>
                    <m:sup>
                      <m:r>
                        <m:rPr>
                          <m:sty m:val="p"/>
                        </m:rPr>
                        <m:t>3</m:t>
                      </m:r>
                    </m:sup>
                  </m:sSup>
                  <m:r>
                    <m:rPr>
                      <m:sty m:val="p"/>
                    </m:rPr>
                    <m:t>+</m:t>
                  </m:r>
                  <m:r>
                    <m:rPr>
                      <m:sty m:val="p"/>
                    </m:rPr>
                    <m:t>ln</m:t>
                  </m:r>
                  <m:r>
                    <m:rPr>
                      <m:sty m:val="p"/>
                    </m:rPr>
                    <m:t>|</m:t>
                  </m:r>
                  <m:r>
                    <m:rPr>
                      <m:sty m:val="i"/>
                    </m:rPr>
                    <m:t>x</m:t>
                  </m:r>
                  <m:r>
                    <m:rPr>
                      <m:sty m:val="p"/>
                    </m:rPr>
                    <m:t>|</m:t>
                  </m:r>
                  <m:r>
                    <m:rPr>
                      <m:sty m:val="p"/>
                    </m:rPr>
                    <m:t>−</m:t>
                  </m:r>
                  <m:r>
                    <m:rPr>
                      <m:sty m:val="p"/>
                    </m:rPr>
                    <m:t>2</m:t>
                  </m:r>
                  <m:rad>
                    <m:e>
                      <m:box>
                        <m:e>
                          <m:box>
                            <m:e>
                              <m:r>
                                <m:rPr>
                                  <m:sty m:val="i"/>
                                </m:rPr>
                                <m:t>x</m:t>
                              </m:r>
                            </m:e>
                          </m:box>
                        </m:e>
                      </m:box>
                    </m:e>
                  </m:rad>
                  <m:r>
                    <m:rPr>
                      <m:sty m:val="p"/>
                    </m:rPr>
                    <m:t>+</m:t>
                  </m:r>
                  <m:r>
                    <m:rPr>
                      <m:sty m:val="i"/>
                    </m:rPr>
                    <m:t>C</m:t>
                  </m:r>
                </m:e>
              </m:box>
            </m:oMath>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Bài tập Nhóm 2</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a:t>
            </a:r>
            <m:oMath xmlns:m="http://schemas.openxmlformats.org/officeDocument/2006/math">
              <m:box>
                <m:e>
                  <m:r>
                    <m:rPr>
                      <m:sty m:val="i"/>
                    </m:rPr>
                    <m:t>g</m:t>
                  </m:r>
                  <m:r>
                    <m:rPr>
                      <m:sty m:val="p"/>
                    </m:rPr>
                    <m:t>(</m:t>
                  </m:r>
                  <m:r>
                    <m:rPr>
                      <m:sty m:val="i"/>
                    </m:rPr>
                    <m:t>x</m:t>
                  </m:r>
                  <m:r>
                    <m:rPr>
                      <m:sty m:val="p"/>
                    </m:rPr>
                    <m:t>)</m:t>
                  </m:r>
                  <m:r>
                    <m:rPr>
                      <m:sty m:val="p"/>
                    </m:rPr>
                    <m:t>=</m:t>
                  </m:r>
                  <m:r>
                    <m:rPr>
                      <m:sty m:val="p"/>
                    </m:rPr>
                    <m:t>(</m:t>
                  </m:r>
                  <m:r>
                    <m:rPr>
                      <m:sty m:val="i"/>
                    </m:rPr>
                    <m:t>x</m:t>
                  </m:r>
                  <m:r>
                    <m:rPr>
                      <m:sty m:val="p"/>
                    </m:rPr>
                    <m:t>+</m:t>
                  </m:r>
                  <m:r>
                    <m:rPr>
                      <m:sty m:val="p"/>
                    </m:rPr>
                    <m:t>2</m:t>
                  </m:r>
                  <m:sSup>
                    <m:e>
                      <m:r>
                        <m:rPr>
                          <m:sty m:val="p"/>
                        </m:rPr>
                        <m:t>)</m:t>
                      </m:r>
                    </m:e>
                    <m:sup>
                      <m:r>
                        <m:rPr>
                          <m:sty m:val="p"/>
                        </m:rPr>
                        <m:t>2</m:t>
                      </m:r>
                    </m:sup>
                  </m:sSup>
                </m:e>
              </m:box>
            </m:oMath>
            <a:r>
              <a:rPr sz="1800">
                <a:solidFill>
                  <a:srgbClr val="2C3E50"/>
                </a:solidFill>
                <a:latin typeface="Times New Roman"/>
              </a:rPr>
              <a:t>.</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r>
                    <m:rPr>
                      <m:sty m:val="p"/>
                    </m:rPr>
                    <m:t>∫</m:t>
                  </m:r>
                  <m:r>
                    <m:rPr>
                      <m:sty m:val="p"/>
                    </m:rPr>
                    <m:t>(</m:t>
                  </m:r>
                  <m:r>
                    <m:rPr>
                      <m:sty m:val="i"/>
                    </m:rPr>
                    <m:t>x</m:t>
                  </m:r>
                  <m:r>
                    <m:rPr>
                      <m:sty m:val="p"/>
                    </m:rPr>
                    <m:t>+</m:t>
                  </m:r>
                  <m:r>
                    <m:rPr>
                      <m:sty m:val="p"/>
                    </m:rPr>
                    <m:t>2</m:t>
                  </m:r>
                  <m:sSup>
                    <m:e>
                      <m:r>
                        <m:rPr>
                          <m:sty m:val="p"/>
                        </m:rPr>
                        <m:t>)</m:t>
                      </m:r>
                    </m:e>
                    <m:sup>
                      <m:r>
                        <m:rPr>
                          <m:sty m:val="p"/>
                        </m:rPr>
                        <m:t>2</m:t>
                      </m:r>
                    </m:sup>
                  </m:sSup>
                  <m:r>
                    <m:rPr>
                      <m:sty m:val="i"/>
                    </m:rPr>
                    <m:t>d</m:t>
                  </m:r>
                  <m:r>
                    <m:rPr>
                      <m:sty m:val="i"/>
                    </m:rPr>
                    <m:t>x</m:t>
                  </m:r>
                  <m:r>
                    <m:rPr>
                      <m:sty m:val="p"/>
                    </m:rPr>
                    <m:t>=</m:t>
                  </m:r>
                  <m:r>
                    <m:rPr>
                      <m:sty m:val="p"/>
                    </m:rPr>
                    <m:t>∫</m:t>
                  </m:r>
                  <m:r>
                    <m:rPr>
                      <m:sty m:val="p"/>
                    </m:rPr>
                    <m:t>(</m:t>
                  </m:r>
                  <m:sSup>
                    <m:e>
                      <m:r>
                        <m:rPr>
                          <m:sty m:val="i"/>
                        </m:rPr>
                        <m:t>x</m:t>
                      </m:r>
                    </m:e>
                    <m:sup>
                      <m:r>
                        <m:rPr>
                          <m:sty m:val="p"/>
                        </m:rPr>
                        <m:t>2</m:t>
                      </m:r>
                    </m:sup>
                  </m:sSup>
                  <m:r>
                    <m:rPr>
                      <m:sty m:val="p"/>
                    </m:rPr>
                    <m:t>+</m:t>
                  </m:r>
                  <m:r>
                    <m:rPr>
                      <m:sty m:val="p"/>
                    </m:rPr>
                    <m:t>4</m:t>
                  </m:r>
                  <m:r>
                    <m:rPr>
                      <m:sty m:val="i"/>
                    </m:rPr>
                    <m:t>x</m:t>
                  </m:r>
                  <m:r>
                    <m:rPr>
                      <m:sty m:val="p"/>
                    </m:rPr>
                    <m:t>+</m:t>
                  </m:r>
                  <m:r>
                    <m:rPr>
                      <m:sty m:val="p"/>
                    </m:rPr>
                    <m:t>4</m:t>
                  </m:r>
                  <m:r>
                    <m:rPr>
                      <m:sty m:val="p"/>
                    </m:rPr>
                    <m:t>)</m:t>
                  </m:r>
                  <m:r>
                    <m:rPr>
                      <m:sty m:val="i"/>
                    </m:rPr>
                    <m:t>d</m:t>
                  </m:r>
                  <m:r>
                    <m:rPr>
                      <m:sty m:val="i"/>
                    </m:rPr>
                    <m:t>x</m:t>
                  </m:r>
                  <m:r>
                    <m:rPr>
                      <m:sty m:val="p"/>
                    </m:rPr>
                    <m:t>=</m:t>
                  </m:r>
                  <m:f>
                    <m:num>
                      <m:box>
                        <m:e>
                          <m:sSup>
                            <m:e>
                              <m:r>
                                <m:rPr>
                                  <m:sty m:val="i"/>
                                </m:rPr>
                                <m:t>x</m:t>
                              </m:r>
                            </m:e>
                            <m:sup>
                              <m:r>
                                <m:rPr>
                                  <m:sty m:val="p"/>
                                </m:rPr>
                                <m:t>3</m:t>
                              </m:r>
                            </m:sup>
                          </m:sSup>
                        </m:e>
                      </m:box>
                    </m:num>
                    <m:den>
                      <m:box>
                        <m:e>
                          <m:r>
                            <m:rPr>
                              <m:sty m:val="p"/>
                            </m:rPr>
                            <m:t>3</m:t>
                          </m:r>
                        </m:e>
                      </m:box>
                    </m:den>
                  </m:f>
                  <m:r>
                    <m:rPr>
                      <m:sty m:val="p"/>
                    </m:rPr>
                    <m:t>+</m:t>
                  </m:r>
                  <m:r>
                    <m:rPr>
                      <m:sty m:val="p"/>
                    </m:rPr>
                    <m:t>2</m:t>
                  </m:r>
                  <m:sSup>
                    <m:e>
                      <m:r>
                        <m:rPr>
                          <m:sty m:val="i"/>
                        </m:rPr>
                        <m:t>x</m:t>
                      </m:r>
                    </m:e>
                    <m:sup>
                      <m:r>
                        <m:rPr>
                          <m:sty m:val="p"/>
                        </m:rPr>
                        <m:t>2</m:t>
                      </m:r>
                    </m:sup>
                  </m:sSup>
                  <m:r>
                    <m:rPr>
                      <m:sty m:val="p"/>
                    </m:rPr>
                    <m:t>+</m:t>
                  </m:r>
                  <m:r>
                    <m:rPr>
                      <m:sty m:val="p"/>
                    </m:rPr>
                    <m:t>4</m:t>
                  </m:r>
                  <m:r>
                    <m:rPr>
                      <m:sty m:val="i"/>
                    </m:rPr>
                    <m:t>x</m:t>
                  </m:r>
                  <m:r>
                    <m:rPr>
                      <m:sty m:val="p"/>
                    </m:rPr>
                    <m:t>+</m:t>
                  </m:r>
                  <m:r>
                    <m:rPr>
                      <m:sty m:val="i"/>
                    </m:rPr>
                    <m:t>C</m:t>
                  </m:r>
                  <m:r>
                    <m:rPr>
                      <m:nor/>
                    </m:rPr>
                    <m:t> hoặc </m:t>
                  </m:r>
                  <m:f>
                    <m:num>
                      <m:box>
                        <m:e>
                          <m:r>
                            <m:rPr>
                              <m:sty m:val="p"/>
                            </m:rPr>
                            <m:t>(</m:t>
                          </m:r>
                          <m:r>
                            <m:rPr>
                              <m:sty m:val="i"/>
                            </m:rPr>
                            <m:t>x</m:t>
                          </m:r>
                          <m:r>
                            <m:rPr>
                              <m:sty m:val="p"/>
                            </m:rPr>
                            <m:t>+</m:t>
                          </m:r>
                          <m:r>
                            <m:rPr>
                              <m:sty m:val="p"/>
                            </m:rPr>
                            <m:t>2</m:t>
                          </m:r>
                          <m:sSup>
                            <m:e>
                              <m:r>
                                <m:rPr>
                                  <m:sty m:val="p"/>
                                </m:rPr>
                                <m:t>)</m:t>
                              </m:r>
                            </m:e>
                            <m:sup>
                              <m:r>
                                <m:rPr>
                                  <m:sty m:val="p"/>
                                </m:rPr>
                                <m:t>3</m:t>
                              </m:r>
                            </m:sup>
                          </m:sSup>
                        </m:e>
                      </m:box>
                    </m:num>
                    <m:den>
                      <m:box>
                        <m:e>
                          <m:r>
                            <m:rPr>
                              <m:sty m:val="p"/>
                            </m:rPr>
                            <m:t>3</m:t>
                          </m:r>
                        </m:e>
                      </m:box>
                    </m:den>
                  </m:f>
                  <m:r>
                    <m:rPr>
                      <m:sty m:val="p"/>
                    </m:rPr>
                    <m:t>+</m:t>
                  </m:r>
                  <m:r>
                    <m:rPr>
                      <m:sty m:val="i"/>
                    </m:rPr>
                    <m:t>C</m:t>
                  </m:r>
                </m:e>
              </m:box>
            </m:oMath>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Bài tập Nhóm 3: Tìm Nguyên hàm thỏa điều kiện</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của </a:t>
            </a:r>
            <m:oMath xmlns:m="http://schemas.openxmlformats.org/officeDocument/2006/math">
              <m:box>
                <m:e>
                  <m:r>
                    <m:rPr>
                      <m:sty m:val="i"/>
                    </m:rPr>
                    <m:t>h</m:t>
                  </m:r>
                  <m:r>
                    <m:rPr>
                      <m:sty m:val="p"/>
                    </m:rPr>
                    <m:t>(</m:t>
                  </m:r>
                  <m:r>
                    <m:rPr>
                      <m:sty m:val="i"/>
                    </m:rPr>
                    <m:t>x</m:t>
                  </m:r>
                  <m:r>
                    <m:rPr>
                      <m:sty m:val="p"/>
                    </m:rPr>
                    <m:t>)</m:t>
                  </m:r>
                  <m:r>
                    <m:rPr>
                      <m:sty m:val="p"/>
                    </m:rPr>
                    <m:t>=</m:t>
                  </m:r>
                  <m:r>
                    <m:rPr>
                      <m:sty m:val="p"/>
                    </m:rPr>
                    <m:t>sin</m:t>
                  </m:r>
                  <m:r>
                    <m:rPr>
                      <m:sty m:val="i"/>
                    </m:rPr>
                    <m:t>x</m:t>
                  </m:r>
                  <m:r>
                    <m:rPr>
                      <m:sty m:val="p"/>
                    </m:rPr>
                    <m:t>−</m:t>
                  </m:r>
                  <m:r>
                    <m:rPr>
                      <m:sty m:val="p"/>
                    </m:rPr>
                    <m:t>cos</m:t>
                  </m:r>
                  <m:r>
                    <m:rPr>
                      <m:sty m:val="i"/>
                    </m:rPr>
                    <m:t>x</m:t>
                  </m:r>
                </m:e>
              </m:box>
            </m:oMath>
            <a:r>
              <a:rPr sz="1800">
                <a:solidFill>
                  <a:srgbClr val="2C3E50"/>
                </a:solidFill>
                <a:latin typeface="Times New Roman"/>
              </a:rPr>
              <a:t>, biết </a:t>
            </a:r>
            <m:oMath xmlns:m="http://schemas.openxmlformats.org/officeDocument/2006/math">
              <m:box>
                <m:e>
                  <m:r>
                    <m:rPr>
                      <m:sty m:val="i"/>
                    </m:rPr>
                    <m:t>F</m:t>
                  </m:r>
                  <m:r>
                    <m:rPr>
                      <m:sty m:val="p"/>
                    </m:rPr>
                    <m:t>(</m:t>
                  </m:r>
                  <m:r>
                    <m:rPr>
                      <m:sty m:val="i"/>
                    </m:rPr>
                    <m:t>π</m:t>
                  </m:r>
                  <m:r>
                    <m:rPr>
                      <m:sty m:val="p"/>
                    </m:rPr>
                    <m:t>)</m:t>
                  </m:r>
                  <m:r>
                    <m:rPr>
                      <m:sty m:val="p"/>
                    </m:rPr>
                    <m:t>=</m:t>
                  </m:r>
                  <m:r>
                    <m:rPr>
                      <m:sty m:val="p"/>
                    </m:rPr>
                    <m:t>0</m:t>
                  </m:r>
                </m:e>
              </m:box>
            </m:oMath>
            <a:r>
              <a:rPr sz="1800">
                <a:solidFill>
                  <a:srgbClr val="2C3E50"/>
                </a:solidFill>
                <a:latin typeface="Times New Roman"/>
              </a:rPr>
              <a:t>.</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r>
                    <m:rPr>
                      <m:sty m:val="i"/>
                    </m:rPr>
                    <m:t>F</m:t>
                  </m:r>
                  <m:r>
                    <m:rPr>
                      <m:sty m:val="p"/>
                    </m:rPr>
                    <m:t>(</m:t>
                  </m:r>
                  <m:r>
                    <m:rPr>
                      <m:sty m:val="i"/>
                    </m:rPr>
                    <m:t>x</m:t>
                  </m:r>
                  <m:r>
                    <m:rPr>
                      <m:sty m:val="p"/>
                    </m:rPr>
                    <m:t>)</m:t>
                  </m:r>
                  <m:r>
                    <m:rPr>
                      <m:sty m:val="p"/>
                    </m:rPr>
                    <m:t>=</m:t>
                  </m:r>
                  <m:r>
                    <m:rPr>
                      <m:sty m:val="p"/>
                    </m:rPr>
                    <m:t>−</m:t>
                  </m:r>
                  <m:r>
                    <m:rPr>
                      <m:sty m:val="p"/>
                    </m:rPr>
                    <m:t>cos</m:t>
                  </m:r>
                  <m:r>
                    <m:rPr>
                      <m:sty m:val="i"/>
                    </m:rPr>
                    <m:t>x</m:t>
                  </m:r>
                  <m:r>
                    <m:rPr>
                      <m:sty m:val="p"/>
                    </m:rPr>
                    <m:t>−</m:t>
                  </m:r>
                  <m:r>
                    <m:rPr>
                      <m:sty m:val="p"/>
                    </m:rPr>
                    <m:t>sin</m:t>
                  </m:r>
                  <m:r>
                    <m:rPr>
                      <m:sty m:val="i"/>
                    </m:rPr>
                    <m:t>x</m:t>
                  </m:r>
                  <m:r>
                    <m:rPr>
                      <m:sty m:val="p"/>
                    </m:rPr>
                    <m:t>−</m:t>
                  </m:r>
                  <m:r>
                    <m:rPr>
                      <m:sty m:val="p"/>
                    </m:rPr>
                    <m:t>1</m:t>
                  </m:r>
                </m:e>
              </m:box>
            </m:oMath>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và Ứng dụng của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Nguyên hàm là phép toán ngược của đạo hàm.</a:t>
            </a:r>
          </a:p>
          <a:p>
            <a:pPr>
              <a:spcAft>
                <a:spcPts val="1000"/>
              </a:spcAft>
            </a:pPr>
            <a:r>
              <a:rPr sz="1800">
                <a:solidFill>
                  <a:srgbClr val="2C3E50"/>
                </a:solidFill>
                <a:latin typeface="Times New Roman"/>
              </a:rPr>
              <a:t>•  Họ nguyên hàm của </a:t>
            </a:r>
            <m:oMath xmlns:m="http://schemas.openxmlformats.org/officeDocument/2006/math">
              <m:box>
                <m:e>
                  <m:r>
                    <m:rPr>
                      <m:sty m:val="i"/>
                    </m:rPr>
                    <m:t>f</m:t>
                  </m:r>
                  <m:r>
                    <m:rPr>
                      <m:sty m:val="p"/>
                    </m:rPr>
                    <m:t>(</m:t>
                  </m:r>
                  <m:r>
                    <m:rPr>
                      <m:sty m:val="i"/>
                    </m:rPr>
                    <m:t>x</m:t>
                  </m:r>
                  <m:r>
                    <m:rPr>
                      <m:sty m:val="p"/>
                    </m:rPr>
                    <m:t>)</m:t>
                  </m:r>
                </m:e>
              </m:box>
            </m:oMath>
            <a:r>
              <a:rPr sz="1800">
                <a:solidFill>
                  <a:srgbClr val="2C3E50"/>
                </a:solidFill>
                <a:latin typeface="Times New Roman"/>
              </a:rPr>
              <a:t> là </a:t>
            </a:r>
            <m:oMath xmlns:m="http://schemas.openxmlformats.org/officeDocument/2006/math">
              <m:box>
                <m:e>
                  <m:r>
                    <m:rPr>
                      <m:sty m:val="i"/>
                    </m:rPr>
                    <m:t>F</m:t>
                  </m:r>
                  <m:r>
                    <m:rPr>
                      <m:sty m:val="p"/>
                    </m:rPr>
                    <m:t>(</m:t>
                  </m:r>
                  <m:r>
                    <m:rPr>
                      <m:sty m:val="i"/>
                    </m:rPr>
                    <m:t>x</m:t>
                  </m:r>
                  <m:r>
                    <m:rPr>
                      <m:sty m:val="p"/>
                    </m:rPr>
                    <m:t>)</m:t>
                  </m:r>
                  <m:r>
                    <m:rPr>
                      <m:sty m:val="p"/>
                    </m:rPr>
                    <m:t>+</m:t>
                  </m:r>
                  <m:r>
                    <m:rPr>
                      <m:sty m:val="i"/>
                    </m:rPr>
                    <m:t>C</m:t>
                  </m:r>
                </m:e>
              </m:box>
            </m:oMath>
            <a:r>
              <a:rPr sz="1800">
                <a:solidFill>
                  <a:srgbClr val="2C3E50"/>
                </a:solidFill>
                <a:latin typeface="Times New Roman"/>
              </a:rPr>
              <a:t>.</a:t>
            </a:r>
          </a:p>
          <a:p>
            <a:pPr>
              <a:spcAft>
                <a:spcPts val="1000"/>
              </a:spcAft>
            </a:pPr>
            <a:r>
              <a:rPr sz="1800">
                <a:solidFill>
                  <a:srgbClr val="2C3E50"/>
                </a:solidFill>
                <a:latin typeface="Times New Roman"/>
              </a:rPr>
              <a:t>•  Nắm vững các tính chất và bảng nguyên hàm cơ bản.</a:t>
            </a:r>
          </a:p>
          <a:p>
            <a:pPr>
              <a:spcAft>
                <a:spcPts val="1000"/>
              </a:spcAft>
            </a:pPr>
            <a:r>
              <a:rPr sz="1800">
                <a:solidFill>
                  <a:srgbClr val="2C3E50"/>
                </a:solidFill>
                <a:latin typeface="Times New Roman"/>
              </a:rPr>
              <a:t>•  Ứng dụng: Tìm hàm số ban đầu khi biết tốc độ thay đổi của nó, là cơ sở cho tích phân (tính diện tích, thể tích), ứng dụng trong Vật lý (quãng đường từ vận tốc), Kỹ thuật, Kinh tế.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