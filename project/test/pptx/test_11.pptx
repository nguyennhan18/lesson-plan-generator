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Chào mừng các em học sinh đến với bài học mới về Nguyên hàm. Đây là một khái niệm rất quan trọng, là nền tảng cho nhiều kiến thức tiếp theo trong chương trình Toán 12. Hôm nay, chúng ta sẽ cùng nhau tìm hiểu định nghĩa, các tính chất cơ bản và bảng nguyên hàm của một số hàm số thường gặp.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GV trình chiếu câu hỏi và yêu cầu học sinh suy nghĩ cá nhân. Sau đó, mời 2-3 học sinh trình bày kết quả. GV lắng nghe, nhận xét và nhấn mạnh rằng có vô số hàm số có cùng đạo hàm. Từ đó, GV dẫn dắt vào bài toán ngược của phép tính đạo hàm, chính là khái niệm Nguyên hàm.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GV mời đại diện học sinh trình bày định nghĩa sau khi đã thảo luận cặp đôi. GV chốt định nghĩa và nhấn mạnh điều kiện 'trên khoảng K'. Giải thích rõ ý nghĩa của việc $F'(x) = f(x)$ là gì, tức là đạo hàm của $F(x)$ trả về $f(x)$.</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GV giải thích tại sao lại có hằng số $C$. Có thể đặt câu hỏi: 'Nếu hai hàm số có cùng đạo hàm, thì chúng có mối liên hệ gì?' (chúng sai khác nhau một hằng số). Giới thiệu kí hiệu nguyên hàm và giải thích ý nghĩa của $dx$ (biến lấy nguyên hàm).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GV mời học sinh nêu các tính chất tương tự như đạo hàm. GV chốt các tính chất và giải thích ý nghĩa từng tính chất. Nhấn mạnh điều kiện $k \ne 0$ trong tính chất 2. Các tính chất này rất quan trọng để thực hiện các phép tính nguyên hàm phức tạp hơn.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GV yêu cầu học sinh dựa vào bảng đạo hàm đã học để xây dựng bảng nguyên hàm. Mời học sinh lên bảng ghi lại từng công thức. Nhấn mạnh các điều kiện của biến và hằng số ($n \ne -1$, $a&gt;0, a \ne 1$). Đặc biệt lưu ý $ \ln|x|$ khi lấy nguyên hàm của $1/x$.</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GV tiếp tục yêu cầu học sinh hoàn thành bảng nguyên hàm cho các hàm số lượng giác. Lưu ý học sinh về dấu của các nguyên hàm, ví dụ $\int \sin x dx = -\cos x + C$. Yêu cầu học sinh học thuộc các công thức này để áp dụng vào bài tập.</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GV chia lớp thành các nhóm nhỏ hoặc yêu cầu học sinh làm cá nhân. Hướng dẫn học sinh áp dụng tính chất nguyên hàm của tổng/hiệu và công thức nguyên hàm của $x^n$. GV quan sát, hỗ trợ các nhóm gặp khó khăn và nhắc nhở về việc thêm hằng số $C$.</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GV mời đại diện một nhóm hoặc một học sinh lên bảng trình bày lời giải. Các nhóm khác nhận xét, bổ sung. GV chốt lời giải đúng, nhấn mạnh từng bước áp dụng công thức và tính chất, đặc biệt là hằng số $C$ ở cuối cùng.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GV tiếp tục cho học sinh làm bài tập. Với bài 3, GV gợi ý học sinh nên khai triển biểu thức trước khi tìm nguyên hàm. Quan sát và hỗ trợ các nhóm, nhắc nhở về điều kiện của $x$ trong $\ln|x|$.</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GV mời học sinh trình bày lời giải bài 2. Nhấn mạnh việc áp dụng đúng công thức nguyên hàm của các hàm lượng giác, hàm phân thức và hàm mũ. Đảm bảo học sinh đã viết $\ln|x|$ thay vì $\ln x$.</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GV mời học sinh trình bày lời giải bài 3. Nhấn mạnh bước khai triển biểu thức trước khi lấy nguyên hàm. Đây là một lỗi sai học sinh thường mắc phải. Sửa chữa các lỗi sai nếu có và chốt lời giải đúng.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GV đưa ra bài toán vận dụng. Đây là dạng bài tập quan trọng, giúp học sinh hiểu rõ hơn ý nghĩa của hằng số $C$. Hướng dẫn học sinh thực hiện từng bước: tìm nguyên hàm tổng quát trước, sau đó dùng điều kiện để xác định $C$.</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GV mời một học sinh lên bảng trình bày lời giải chi tiết. GV nhấn mạnh cách sử dụng điều kiện ban đầu để tìm ra giá trị cụ thể của $C$, từ đó tìm được một nguyên hàm duy nhất. Đây là một ứng dụng thực tế của khái niệm nguyên hàm.</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GV cùng học sinh hệ thống lại các kiến thức đã học trong bài. Hỏi học sinh nhắc lại các định nghĩa, tính chất và một số công thức nguyên hàm quan trọng. Nhấn mạnh ý nghĩa của hằng số $C$ và cách xác định nó trong bài toán vận dụng.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GV giao bài tập về nhà và dặn dò học sinh ôn tập kỹ lưỡng. Nhấn mạnh việc học thuộc bảng nguyên hàm và nắm vững các tính chất. Hướng dẫn học sinh đọc trước bài mới để chuẩn bị cho buổi học tiếp theo. Cảm ơn và kết thúc bài giảng.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1828800"/>
            <a:ext cx="182880" cy="3200400"/>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1828800"/>
            <a:ext cx="9601200" cy="3200400"/>
          </a:xfrm>
          <a:prstGeom prst="rect">
            <a:avLst/>
          </a:prstGeom>
          <a:noFill/>
        </p:spPr>
        <p:txBody>
          <a:bodyPr wrap="square">
            <a:spAutoFit/>
          </a:bodyPr>
          <a:lstStyle/>
          <a:p>
            <a:pPr>
              <a:defRPr sz="1800" b="1">
                <a:solidFill>
                  <a:srgbClr val="0066CC"/>
                </a:solidFill>
                <a:latin typeface="Times New Roman"/>
              </a:defRPr>
            </a:pPr>
            <a:r>
              <a:t>MÔN TOÁN HỌC - LỚP 12</a:t>
            </a:r>
          </a:p>
          <a:p>
            <a:pPr>
              <a:spcBef>
                <a:spcPts val="1500"/>
              </a:spcBef>
              <a:defRPr sz="4000" b="1">
                <a:solidFill>
                  <a:srgbClr val="003366"/>
                </a:solidFill>
                <a:latin typeface="Times New Roman"/>
              </a:defRPr>
            </a:pPr>
            <a:r>
              <a:t>NGUYÊN HÀM</a:t>
            </a:r>
          </a:p>
          <a:p>
            <a:pPr>
              <a:spcBef>
                <a:spcPts val="1000"/>
              </a:spcBef>
              <a:defRPr sz="2200">
                <a:solidFill>
                  <a:srgbClr val="2C3E50"/>
                </a:solidFill>
                <a:latin typeface="Times New Roman"/>
              </a:defRPr>
            </a:pPr>
            <a:r>
              <a:t>Môn Toán học - Lớp 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Khởi động: Bài toán ngược của đạo hàm</a:t>
            </a:r>
          </a:p>
        </p:txBody>
      </p:sp>
      <p:sp>
        <p:nvSpPr>
          <p:cNvPr id="3" name="Rounded Rectangle 2"/>
          <p:cNvSpPr/>
          <p:nvPr/>
        </p:nvSpPr>
        <p:spPr>
          <a:xfrm>
            <a:off x="731520" y="1645920"/>
            <a:ext cx="621792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Hãy tìm một hàm số F(x) sao cho đạo hàm của nó là f(x)=2x.</a:t>
            </a:r>
          </a:p>
          <a:p>
            <a:pPr>
              <a:spcAft>
                <a:spcPts val="1000"/>
              </a:spcAft>
            </a:pPr>
            <a:r>
              <a:rPr sz="1800">
                <a:solidFill>
                  <a:srgbClr val="2C3E50"/>
                </a:solidFill>
                <a:latin typeface="Times New Roman"/>
              </a:rPr>
              <a:t>• Có bao nhiêu hàm số F(x) như vậy?</a:t>
            </a:r>
          </a:p>
          <a:p>
            <a:pPr>
              <a:spcAft>
                <a:spcPts val="1000"/>
              </a:spcAft>
            </a:pPr>
            <a:r>
              <a:rPr sz="1800">
                <a:solidFill>
                  <a:srgbClr val="2C3E50"/>
                </a:solidFill>
                <a:latin typeface="Times New Roman"/>
              </a:rPr>
              <a:t>• Gợi ý: Nhớ lại công thức đạo hàm của x², x²+1, x²-5,...</a:t>
            </a:r>
          </a:p>
        </p:txBody>
      </p:sp>
      <p:pic>
        <p:nvPicPr>
          <p:cNvPr id="4" name="Picture 3" descr="image.png"/>
          <p:cNvPicPr>
            <a:picLocks noChangeAspect="1"/>
          </p:cNvPicPr>
          <p:nvPr/>
        </p:nvPicPr>
        <p:blipFill>
          <a:blip r:embed="rId2"/>
          <a:stretch>
            <a:fillRect/>
          </a:stretch>
        </p:blipFill>
        <p:spPr>
          <a:xfrm>
            <a:off x="7132320" y="1645920"/>
            <a:ext cx="4297680" cy="286512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1. Định nghĩa Nguyên hàm</a:t>
            </a:r>
          </a:p>
        </p:txBody>
      </p:sp>
      <p:sp>
        <p:nvSpPr>
          <p:cNvPr id="3" name="Rounded Rectangle 2"/>
          <p:cNvSpPr/>
          <p:nvPr/>
        </p:nvSpPr>
        <p:spPr>
          <a:xfrm>
            <a:off x="731520" y="1645920"/>
            <a:ext cx="621792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Cho hàm số f(x) xác định trên khoảng K.</a:t>
            </a:r>
          </a:p>
          <a:p>
            <a:pPr>
              <a:spcAft>
                <a:spcPts val="1000"/>
              </a:spcAft>
            </a:pPr>
            <a:r>
              <a:rPr sz="1800">
                <a:solidFill>
                  <a:srgbClr val="2C3E50"/>
                </a:solidFill>
                <a:latin typeface="Times New Roman"/>
              </a:rPr>
              <a:t>• Hàm số F(x) được gọi là một nguyên hàm của f(x) trên K nếu F'(x) = f(x) với mọi x ∈ K.</a:t>
            </a:r>
          </a:p>
          <a:p>
            <a:pPr>
              <a:spcBef>
                <a:spcPts val="1500"/>
              </a:spcBef>
              <a:spcAft>
                <a:spcPts val="500"/>
              </a:spcAft>
            </a:pPr>
            <a:r>
              <a:rPr b="1" sz="2000">
                <a:solidFill>
                  <a:srgbClr val="0066CC"/>
                </a:solidFill>
                <a:latin typeface="Times New Roman"/>
              </a:rPr>
              <a:t>Công thức trọng tâm:  </a:t>
            </a:r>
          </a:p>
        </p:txBody>
      </p:sp>
      <p:pic>
        <p:nvPicPr>
          <p:cNvPr id="4" name="Picture 3" descr="image.png"/>
          <p:cNvPicPr>
            <a:picLocks noChangeAspect="1"/>
          </p:cNvPicPr>
          <p:nvPr/>
        </p:nvPicPr>
        <p:blipFill>
          <a:blip r:embed="rId2"/>
          <a:stretch>
            <a:fillRect/>
          </a:stretch>
        </p:blipFill>
        <p:spPr>
          <a:xfrm>
            <a:off x="1097280" y="5029200"/>
            <a:ext cx="2984863" cy="731520"/>
          </a:xfrm>
          <a:prstGeom prst="rect">
            <a:avLst/>
          </a:prstGeom>
        </p:spPr>
      </p:pic>
      <p:pic>
        <p:nvPicPr>
          <p:cNvPr id="5" name="Picture 4" descr="image.png"/>
          <p:cNvPicPr>
            <a:picLocks noChangeAspect="1"/>
          </p:cNvPicPr>
          <p:nvPr/>
        </p:nvPicPr>
        <p:blipFill>
          <a:blip r:embed="rId3"/>
          <a:stretch>
            <a:fillRect/>
          </a:stretch>
        </p:blipFill>
        <p:spPr>
          <a:xfrm>
            <a:off x="7132320" y="1645920"/>
            <a:ext cx="4297680" cy="286512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1. Họ Nguyên hàm và Kí hiệu</a:t>
            </a:r>
          </a:p>
        </p:txBody>
      </p:sp>
      <p:sp>
        <p:nvSpPr>
          <p:cNvPr id="3" name="Rounded Rectangle 2"/>
          <p:cNvSpPr/>
          <p:nvPr/>
        </p:nvSpPr>
        <p:spPr>
          <a:xfrm>
            <a:off x="731520" y="1645920"/>
            <a:ext cx="621792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Nếu F(x) là một nguyên hàm của f(x) trên K, thì mọi nguyên hàm của f(x) trên K đều có dạng G(x) = F(x) + C, với C là hằng số tùy ý.</a:t>
            </a:r>
          </a:p>
          <a:p>
            <a:pPr>
              <a:spcAft>
                <a:spcPts val="1000"/>
              </a:spcAft>
            </a:pPr>
            <a:r>
              <a:rPr sz="1800">
                <a:solidFill>
                  <a:srgbClr val="2C3E50"/>
                </a:solidFill>
                <a:latin typeface="Times New Roman"/>
              </a:rPr>
              <a:t>• Tập hợp tất cả các nguyên hàm của f(x) trên K được gọi là họ nguyên hàm của f(x) trên K.</a:t>
            </a:r>
          </a:p>
          <a:p>
            <a:pPr>
              <a:spcAft>
                <a:spcPts val="1000"/>
              </a:spcAft>
            </a:pPr>
            <a:r>
              <a:rPr sz="1800">
                <a:solidFill>
                  <a:srgbClr val="2C3E50"/>
                </a:solidFill>
                <a:latin typeface="Times New Roman"/>
              </a:rPr>
              <a:t>• Kí hiệu: ∫ f(x) dx = F(x) + C.</a:t>
            </a:r>
          </a:p>
          <a:p>
            <a:pPr>
              <a:spcBef>
                <a:spcPts val="1500"/>
              </a:spcBef>
              <a:spcAft>
                <a:spcPts val="500"/>
              </a:spcAft>
            </a:pPr>
            <a:r>
              <a:rPr b="1" sz="2000">
                <a:solidFill>
                  <a:srgbClr val="0066CC"/>
                </a:solidFill>
                <a:latin typeface="Times New Roman"/>
              </a:rPr>
              <a:t>Công thức trọng tâm:  </a:t>
            </a:r>
          </a:p>
        </p:txBody>
      </p:sp>
      <p:pic>
        <p:nvPicPr>
          <p:cNvPr id="4" name="Picture 3" descr="image.png"/>
          <p:cNvPicPr>
            <a:picLocks noChangeAspect="1"/>
          </p:cNvPicPr>
          <p:nvPr/>
        </p:nvPicPr>
        <p:blipFill>
          <a:blip r:embed="rId2"/>
          <a:stretch>
            <a:fillRect/>
          </a:stretch>
        </p:blipFill>
        <p:spPr>
          <a:xfrm>
            <a:off x="1097280" y="5029200"/>
            <a:ext cx="3955433" cy="731520"/>
          </a:xfrm>
          <a:prstGeom prst="rect">
            <a:avLst/>
          </a:prstGeom>
        </p:spPr>
      </p:pic>
      <p:pic>
        <p:nvPicPr>
          <p:cNvPr id="5" name="Picture 4" descr="image.png"/>
          <p:cNvPicPr>
            <a:picLocks noChangeAspect="1"/>
          </p:cNvPicPr>
          <p:nvPr/>
        </p:nvPicPr>
        <p:blipFill>
          <a:blip r:embed="rId3"/>
          <a:stretch>
            <a:fillRect/>
          </a:stretch>
        </p:blipFill>
        <p:spPr>
          <a:xfrm>
            <a:off x="7132320" y="1645920"/>
            <a:ext cx="4297680" cy="286512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2. Tính chất của Nguyên hàm</a:t>
            </a:r>
          </a:p>
        </p:txBody>
      </p:sp>
      <p:sp>
        <p:nvSpPr>
          <p:cNvPr id="3" name="Rounded Rectangle 2"/>
          <p:cNvSpPr/>
          <p:nvPr/>
        </p:nvSpPr>
        <p:spPr>
          <a:xfrm>
            <a:off x="731520" y="1645920"/>
            <a:ext cx="621792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Tính chất 1: ( ∫ f(x) dx )' = f(x)</a:t>
            </a:r>
          </a:p>
          <a:p>
            <a:pPr>
              <a:spcAft>
                <a:spcPts val="1000"/>
              </a:spcAft>
            </a:pPr>
            <a:r>
              <a:rPr sz="1800">
                <a:solidFill>
                  <a:srgbClr val="2C3E50"/>
                </a:solidFill>
                <a:latin typeface="Times New Roman"/>
              </a:rPr>
              <a:t>• Tính chất 2: ∫ k f(x) dx = k ∫ f(x) dx (với k là hằng số khác 0)</a:t>
            </a:r>
          </a:p>
          <a:p>
            <a:pPr>
              <a:spcAft>
                <a:spcPts val="1000"/>
              </a:spcAft>
            </a:pPr>
            <a:r>
              <a:rPr sz="1800">
                <a:solidFill>
                  <a:srgbClr val="2C3E50"/>
                </a:solidFill>
                <a:latin typeface="Times New Roman"/>
              </a:rPr>
              <a:t>• Tính chất 3: ∫ [f(x) ± g(x)] dx = ∫ f(x) dx ± ∫ g(x) dx</a:t>
            </a:r>
          </a:p>
        </p:txBody>
      </p:sp>
      <p:pic>
        <p:nvPicPr>
          <p:cNvPr id="4" name="Picture 3" descr="image.png"/>
          <p:cNvPicPr>
            <a:picLocks noChangeAspect="1"/>
          </p:cNvPicPr>
          <p:nvPr/>
        </p:nvPicPr>
        <p:blipFill>
          <a:blip r:embed="rId2"/>
          <a:stretch>
            <a:fillRect/>
          </a:stretch>
        </p:blipFill>
        <p:spPr>
          <a:xfrm>
            <a:off x="7132320" y="1645920"/>
            <a:ext cx="4297680" cy="286512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3. Bảng Nguyên hàm của một số hàm số thường gặp</a:t>
            </a:r>
          </a:p>
        </p:txBody>
      </p:sp>
      <p:sp>
        <p:nvSpPr>
          <p:cNvPr id="3" name="Rounded Rectangle 2"/>
          <p:cNvSpPr/>
          <p:nvPr/>
        </p:nvSpPr>
        <p:spPr>
          <a:xfrm>
            <a:off x="731520" y="1645920"/>
            <a:ext cx="621792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 0 dx = C</a:t>
            </a:r>
          </a:p>
          <a:p>
            <a:pPr>
              <a:spcAft>
                <a:spcPts val="1000"/>
              </a:spcAft>
            </a:pPr>
            <a:r>
              <a:rPr sz="1800">
                <a:solidFill>
                  <a:srgbClr val="2C3E50"/>
                </a:solidFill>
                <a:latin typeface="Times New Roman"/>
              </a:rPr>
              <a:t>• ∫ dx = x + C</a:t>
            </a:r>
          </a:p>
          <a:p>
            <a:pPr>
              <a:spcAft>
                <a:spcPts val="1000"/>
              </a:spcAft>
            </a:pPr>
            <a:r>
              <a:rPr sz="1800">
                <a:solidFill>
                  <a:srgbClr val="2C3E50"/>
                </a:solidFill>
                <a:latin typeface="Times New Roman"/>
              </a:rPr>
              <a:t>• ∫ xⁿ dx = fracxⁿ⁺¹n+1 + C (n ne -1)</a:t>
            </a:r>
          </a:p>
          <a:p>
            <a:pPr>
              <a:spcAft>
                <a:spcPts val="1000"/>
              </a:spcAft>
            </a:pPr>
            <a:r>
              <a:rPr sz="1800">
                <a:solidFill>
                  <a:srgbClr val="2C3E50"/>
                </a:solidFill>
                <a:latin typeface="Times New Roman"/>
              </a:rPr>
              <a:t>• ∫ frac1x dx = ln|x| + C</a:t>
            </a:r>
          </a:p>
          <a:p>
            <a:pPr>
              <a:spcAft>
                <a:spcPts val="1000"/>
              </a:spcAft>
            </a:pPr>
            <a:r>
              <a:rPr sz="1800">
                <a:solidFill>
                  <a:srgbClr val="2C3E50"/>
                </a:solidFill>
                <a:latin typeface="Times New Roman"/>
              </a:rPr>
              <a:t>• ∫ eˣ dx = eˣ + C</a:t>
            </a:r>
          </a:p>
          <a:p>
            <a:pPr>
              <a:spcAft>
                <a:spcPts val="1000"/>
              </a:spcAft>
            </a:pPr>
            <a:r>
              <a:rPr sz="1800">
                <a:solidFill>
                  <a:srgbClr val="2C3E50"/>
                </a:solidFill>
                <a:latin typeface="Times New Roman"/>
              </a:rPr>
              <a:t>• ∫ aˣ dx = fracaˣln a + C (a&gt;0, a ne 1)</a:t>
            </a:r>
          </a:p>
        </p:txBody>
      </p:sp>
      <p:pic>
        <p:nvPicPr>
          <p:cNvPr id="4" name="Picture 3" descr="image.png"/>
          <p:cNvPicPr>
            <a:picLocks noChangeAspect="1"/>
          </p:cNvPicPr>
          <p:nvPr/>
        </p:nvPicPr>
        <p:blipFill>
          <a:blip r:embed="rId2"/>
          <a:stretch>
            <a:fillRect/>
          </a:stretch>
        </p:blipFill>
        <p:spPr>
          <a:xfrm>
            <a:off x="7132320" y="1645920"/>
            <a:ext cx="4297680" cy="286512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3. Bảng Nguyên hàm của một số hàm số thường gặp (tt)</a:t>
            </a:r>
          </a:p>
        </p:txBody>
      </p:sp>
      <p:sp>
        <p:nvSpPr>
          <p:cNvPr id="3" name="Rounded Rectangle 2"/>
          <p:cNvSpPr/>
          <p:nvPr/>
        </p:nvSpPr>
        <p:spPr>
          <a:xfrm>
            <a:off x="731520" y="1645920"/>
            <a:ext cx="621792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 cos x dx = sin x + C</a:t>
            </a:r>
          </a:p>
          <a:p>
            <a:pPr>
              <a:spcAft>
                <a:spcPts val="1000"/>
              </a:spcAft>
            </a:pPr>
            <a:r>
              <a:rPr sz="1800">
                <a:solidFill>
                  <a:srgbClr val="2C3E50"/>
                </a:solidFill>
                <a:latin typeface="Times New Roman"/>
              </a:rPr>
              <a:t>• ∫ sin x dx = -cos x + C</a:t>
            </a:r>
          </a:p>
          <a:p>
            <a:pPr>
              <a:spcAft>
                <a:spcPts val="1000"/>
              </a:spcAft>
            </a:pPr>
            <a:r>
              <a:rPr sz="1800">
                <a:solidFill>
                  <a:srgbClr val="2C3E50"/>
                </a:solidFill>
                <a:latin typeface="Times New Roman"/>
              </a:rPr>
              <a:t>• ∫ frac1cos² x dx = tan x + C</a:t>
            </a:r>
          </a:p>
          <a:p>
            <a:pPr>
              <a:spcAft>
                <a:spcPts val="1000"/>
              </a:spcAft>
            </a:pPr>
            <a:r>
              <a:rPr sz="1800">
                <a:solidFill>
                  <a:srgbClr val="2C3E50"/>
                </a:solidFill>
                <a:latin typeface="Times New Roman"/>
              </a:rPr>
              <a:t>• ∫ frac1sin² x dx = -cot x + C</a:t>
            </a:r>
          </a:p>
        </p:txBody>
      </p:sp>
      <p:pic>
        <p:nvPicPr>
          <p:cNvPr id="4" name="Picture 3" descr="image.png"/>
          <p:cNvPicPr>
            <a:picLocks noChangeAspect="1"/>
          </p:cNvPicPr>
          <p:nvPr/>
        </p:nvPicPr>
        <p:blipFill>
          <a:blip r:embed="rId2"/>
          <a:stretch>
            <a:fillRect/>
          </a:stretch>
        </p:blipFill>
        <p:spPr>
          <a:xfrm>
            <a:off x="7132320" y="1645920"/>
            <a:ext cx="4297680" cy="286512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Luyện tập: Tìm Nguyên hàm cơ bản</a:t>
            </a:r>
          </a:p>
        </p:txBody>
      </p:sp>
      <p:sp>
        <p:nvSpPr>
          <p:cNvPr id="3" name="Rounded Rectangle 2"/>
          <p:cNvSpPr/>
          <p:nvPr/>
        </p:nvSpPr>
        <p:spPr>
          <a:xfrm>
            <a:off x="731520" y="1645920"/>
            <a:ext cx="621792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Tìm nguyên hàm của hàm số f(x) = x³ - 2x + 1.</a:t>
            </a:r>
          </a:p>
        </p:txBody>
      </p:sp>
      <p:pic>
        <p:nvPicPr>
          <p:cNvPr id="4" name="Picture 3" descr="image.png"/>
          <p:cNvPicPr>
            <a:picLocks noChangeAspect="1"/>
          </p:cNvPicPr>
          <p:nvPr/>
        </p:nvPicPr>
        <p:blipFill>
          <a:blip r:embed="rId2"/>
          <a:stretch>
            <a:fillRect/>
          </a:stretch>
        </p:blipFill>
        <p:spPr>
          <a:xfrm>
            <a:off x="7132320" y="1645920"/>
            <a:ext cx="4297680" cy="286512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Luyện tập: Giải bài tập 1</a:t>
            </a:r>
          </a:p>
        </p:txBody>
      </p:sp>
      <p:sp>
        <p:nvSpPr>
          <p:cNvPr id="3" name="Rounded Rectangle 2"/>
          <p:cNvSpPr/>
          <p:nvPr/>
        </p:nvSpPr>
        <p:spPr>
          <a:xfrm>
            <a:off x="731520" y="1645920"/>
            <a:ext cx="621792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Ta có: ∫ (x³ - 2x + 1) dx</a:t>
            </a:r>
          </a:p>
          <a:p>
            <a:pPr>
              <a:spcAft>
                <a:spcPts val="1000"/>
              </a:spcAft>
            </a:pPr>
            <a:r>
              <a:rPr sz="1800">
                <a:solidFill>
                  <a:srgbClr val="2C3E50"/>
                </a:solidFill>
                <a:latin typeface="Times New Roman"/>
              </a:rPr>
              <a:t>• = ∫ x³ dx - ∫ 2x dx + ∫ 1 dx</a:t>
            </a:r>
          </a:p>
          <a:p>
            <a:pPr>
              <a:spcAft>
                <a:spcPts val="1000"/>
              </a:spcAft>
            </a:pPr>
            <a:r>
              <a:rPr sz="1800">
                <a:solidFill>
                  <a:srgbClr val="2C3E50"/>
                </a:solidFill>
                <a:latin typeface="Times New Roman"/>
              </a:rPr>
              <a:t>• = ∫ x³ dx - 2 ∫ x dx + ∫ dx</a:t>
            </a:r>
          </a:p>
          <a:p>
            <a:pPr>
              <a:spcAft>
                <a:spcPts val="1000"/>
              </a:spcAft>
            </a:pPr>
            <a:r>
              <a:rPr sz="1800">
                <a:solidFill>
                  <a:srgbClr val="2C3E50"/>
                </a:solidFill>
                <a:latin typeface="Times New Roman"/>
              </a:rPr>
              <a:t>• = fracx³⁺¹3+1 - 2 fracx¹⁺¹1+1 + x + C</a:t>
            </a:r>
          </a:p>
          <a:p>
            <a:pPr>
              <a:spcAft>
                <a:spcPts val="1000"/>
              </a:spcAft>
            </a:pPr>
            <a:r>
              <a:rPr sz="1800">
                <a:solidFill>
                  <a:srgbClr val="2C3E50"/>
                </a:solidFill>
                <a:latin typeface="Times New Roman"/>
              </a:rPr>
              <a:t>• = fracx⁴4 - 2 fracx²2 + x + C</a:t>
            </a:r>
          </a:p>
          <a:p>
            <a:pPr>
              <a:spcAft>
                <a:spcPts val="1000"/>
              </a:spcAft>
            </a:pPr>
            <a:r>
              <a:rPr sz="1800">
                <a:solidFill>
                  <a:srgbClr val="2C3E50"/>
                </a:solidFill>
                <a:latin typeface="Times New Roman"/>
              </a:rPr>
              <a:t>• = fracx⁴4 - x² + x + C</a:t>
            </a:r>
          </a:p>
        </p:txBody>
      </p:sp>
      <p:pic>
        <p:nvPicPr>
          <p:cNvPr id="4" name="Picture 3" descr="image.png"/>
          <p:cNvPicPr>
            <a:picLocks noChangeAspect="1"/>
          </p:cNvPicPr>
          <p:nvPr/>
        </p:nvPicPr>
        <p:blipFill>
          <a:blip r:embed="rId2"/>
          <a:stretch>
            <a:fillRect/>
          </a:stretch>
        </p:blipFill>
        <p:spPr>
          <a:xfrm>
            <a:off x="7132320" y="1645920"/>
            <a:ext cx="4297680" cy="286512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Luyện tập: Các bài tập khác</a:t>
            </a:r>
          </a:p>
        </p:txBody>
      </p:sp>
      <p:sp>
        <p:nvSpPr>
          <p:cNvPr id="3" name="Rounded Rectangle 2"/>
          <p:cNvSpPr/>
          <p:nvPr/>
        </p:nvSpPr>
        <p:spPr>
          <a:xfrm>
            <a:off x="731520" y="1645920"/>
            <a:ext cx="621792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Bài tập 2: Tìm nguyên hàm của f(x) = 5cos x - frac3x + eˣ.</a:t>
            </a:r>
          </a:p>
          <a:p>
            <a:pPr>
              <a:spcAft>
                <a:spcPts val="1000"/>
              </a:spcAft>
            </a:pPr>
            <a:r>
              <a:rPr sz="1800">
                <a:solidFill>
                  <a:srgbClr val="2C3E50"/>
                </a:solidFill>
                <a:latin typeface="Times New Roman"/>
              </a:rPr>
              <a:t>• Bài tập 3: Tìm nguyên hàm của f(x) = (x+1)².</a:t>
            </a:r>
          </a:p>
        </p:txBody>
      </p:sp>
      <p:pic>
        <p:nvPicPr>
          <p:cNvPr id="4" name="Picture 3" descr="image.png"/>
          <p:cNvPicPr>
            <a:picLocks noChangeAspect="1"/>
          </p:cNvPicPr>
          <p:nvPr/>
        </p:nvPicPr>
        <p:blipFill>
          <a:blip r:embed="rId2"/>
          <a:stretch>
            <a:fillRect/>
          </a:stretch>
        </p:blipFill>
        <p:spPr>
          <a:xfrm>
            <a:off x="7132320" y="1645920"/>
            <a:ext cx="4297680" cy="286512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Luyện tập: Giải bài tập 2</a:t>
            </a:r>
          </a:p>
        </p:txBody>
      </p:sp>
      <p:sp>
        <p:nvSpPr>
          <p:cNvPr id="3" name="Rounded Rectangle 2"/>
          <p:cNvSpPr/>
          <p:nvPr/>
        </p:nvSpPr>
        <p:spPr>
          <a:xfrm>
            <a:off x="731520" y="1645920"/>
            <a:ext cx="621792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Ta có: ∫ (5cos x - frac3x + eˣ) dx</a:t>
            </a:r>
          </a:p>
          <a:p>
            <a:pPr>
              <a:spcAft>
                <a:spcPts val="1000"/>
              </a:spcAft>
            </a:pPr>
            <a:r>
              <a:rPr sz="1800">
                <a:solidFill>
                  <a:srgbClr val="2C3E50"/>
                </a:solidFill>
                <a:latin typeface="Times New Roman"/>
              </a:rPr>
              <a:t>• = 5 ∫ cos x dx - 3 ∫ frac1x dx + ∫ eˣ dx</a:t>
            </a:r>
          </a:p>
          <a:p>
            <a:pPr>
              <a:spcAft>
                <a:spcPts val="1000"/>
              </a:spcAft>
            </a:pPr>
            <a:r>
              <a:rPr sz="1800">
                <a:solidFill>
                  <a:srgbClr val="2C3E50"/>
                </a:solidFill>
                <a:latin typeface="Times New Roman"/>
              </a:rPr>
              <a:t>• = 5 sin x - 3 ln|x| + eˣ + C</a:t>
            </a:r>
          </a:p>
        </p:txBody>
      </p:sp>
      <p:pic>
        <p:nvPicPr>
          <p:cNvPr id="4" name="Picture 3" descr="image.png"/>
          <p:cNvPicPr>
            <a:picLocks noChangeAspect="1"/>
          </p:cNvPicPr>
          <p:nvPr/>
        </p:nvPicPr>
        <p:blipFill>
          <a:blip r:embed="rId2"/>
          <a:stretch>
            <a:fillRect/>
          </a:stretch>
        </p:blipFill>
        <p:spPr>
          <a:xfrm>
            <a:off x="7132320" y="1645920"/>
            <a:ext cx="4297680" cy="286512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Luyện tập: Giải bài tập 3</a:t>
            </a:r>
          </a:p>
        </p:txBody>
      </p:sp>
      <p:sp>
        <p:nvSpPr>
          <p:cNvPr id="3" name="Rounded Rectangle 2"/>
          <p:cNvSpPr/>
          <p:nvPr/>
        </p:nvSpPr>
        <p:spPr>
          <a:xfrm>
            <a:off x="731520" y="1645920"/>
            <a:ext cx="621792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Đầu tiên, khai triển (x+1)² = x² + 2x + 1.</a:t>
            </a:r>
          </a:p>
          <a:p>
            <a:pPr>
              <a:spcAft>
                <a:spcPts val="1000"/>
              </a:spcAft>
            </a:pPr>
            <a:r>
              <a:rPr sz="1800">
                <a:solidFill>
                  <a:srgbClr val="2C3E50"/>
                </a:solidFill>
                <a:latin typeface="Times New Roman"/>
              </a:rPr>
              <a:t>• Ta có: ∫ (x² + 2x + 1) dx</a:t>
            </a:r>
          </a:p>
          <a:p>
            <a:pPr>
              <a:spcAft>
                <a:spcPts val="1000"/>
              </a:spcAft>
            </a:pPr>
            <a:r>
              <a:rPr sz="1800">
                <a:solidFill>
                  <a:srgbClr val="2C3E50"/>
                </a:solidFill>
                <a:latin typeface="Times New Roman"/>
              </a:rPr>
              <a:t>• = ∫ x² dx + ∫ 2x dx + ∫ 1 dx</a:t>
            </a:r>
          </a:p>
          <a:p>
            <a:pPr>
              <a:spcAft>
                <a:spcPts val="1000"/>
              </a:spcAft>
            </a:pPr>
            <a:r>
              <a:rPr sz="1800">
                <a:solidFill>
                  <a:srgbClr val="2C3E50"/>
                </a:solidFill>
                <a:latin typeface="Times New Roman"/>
              </a:rPr>
              <a:t>• = fracx³3 + 2 fracx²2 + x + C</a:t>
            </a:r>
          </a:p>
          <a:p>
            <a:pPr>
              <a:spcAft>
                <a:spcPts val="1000"/>
              </a:spcAft>
            </a:pPr>
            <a:r>
              <a:rPr sz="1800">
                <a:solidFill>
                  <a:srgbClr val="2C3E50"/>
                </a:solidFill>
                <a:latin typeface="Times New Roman"/>
              </a:rPr>
              <a:t>• = fracx³3 + x² + x + C</a:t>
            </a:r>
          </a:p>
        </p:txBody>
      </p:sp>
      <p:pic>
        <p:nvPicPr>
          <p:cNvPr id="4" name="Picture 3" descr="image.png"/>
          <p:cNvPicPr>
            <a:picLocks noChangeAspect="1"/>
          </p:cNvPicPr>
          <p:nvPr/>
        </p:nvPicPr>
        <p:blipFill>
          <a:blip r:embed="rId2"/>
          <a:stretch>
            <a:fillRect/>
          </a:stretch>
        </p:blipFill>
        <p:spPr>
          <a:xfrm>
            <a:off x="7132320" y="1645920"/>
            <a:ext cx="4297680" cy="286512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Vận dụng: Tìm nguyên hàm thỏa mãn điều kiện</a:t>
            </a:r>
          </a:p>
        </p:txBody>
      </p:sp>
      <p:sp>
        <p:nvSpPr>
          <p:cNvPr id="3" name="Rounded Rectangle 2"/>
          <p:cNvSpPr/>
          <p:nvPr/>
        </p:nvSpPr>
        <p:spPr>
          <a:xfrm>
            <a:off x="731520" y="1645920"/>
            <a:ext cx="621792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Bài toán: Tìm nguyên hàm F(x) của hàm số f(x) = 2x+3 biết rằng F(1) = 5.</a:t>
            </a:r>
          </a:p>
          <a:p>
            <a:pPr>
              <a:spcAft>
                <a:spcPts val="1000"/>
              </a:spcAft>
            </a:pPr>
            <a:r>
              <a:rPr sz="1800">
                <a:solidFill>
                  <a:srgbClr val="2C3E50"/>
                </a:solidFill>
                <a:latin typeface="Times New Roman"/>
              </a:rPr>
              <a:t>• Bước 1: Tìm nguyên hàm tổng quát của f(x).</a:t>
            </a:r>
          </a:p>
          <a:p>
            <a:pPr>
              <a:spcAft>
                <a:spcPts val="1000"/>
              </a:spcAft>
            </a:pPr>
            <a:r>
              <a:rPr sz="1800">
                <a:solidFill>
                  <a:srgbClr val="2C3E50"/>
                </a:solidFill>
                <a:latin typeface="Times New Roman"/>
              </a:rPr>
              <a:t>• Bước 2: Sử dụng điều kiện F(1)=5 để tìm hằng số C.</a:t>
            </a:r>
          </a:p>
        </p:txBody>
      </p:sp>
      <p:pic>
        <p:nvPicPr>
          <p:cNvPr id="4" name="Picture 3" descr="image.png"/>
          <p:cNvPicPr>
            <a:picLocks noChangeAspect="1"/>
          </p:cNvPicPr>
          <p:nvPr/>
        </p:nvPicPr>
        <p:blipFill>
          <a:blip r:embed="rId2"/>
          <a:stretch>
            <a:fillRect/>
          </a:stretch>
        </p:blipFill>
        <p:spPr>
          <a:xfrm>
            <a:off x="7132320" y="1645920"/>
            <a:ext cx="4297680" cy="286512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Vận dụng: Giải bài toán</a:t>
            </a:r>
          </a:p>
        </p:txBody>
      </p:sp>
      <p:sp>
        <p:nvSpPr>
          <p:cNvPr id="3" name="Rounded Rectangle 2"/>
          <p:cNvSpPr/>
          <p:nvPr/>
        </p:nvSpPr>
        <p:spPr>
          <a:xfrm>
            <a:off x="731520" y="1645920"/>
            <a:ext cx="621792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Bước 1: Tìm nguyên hàm tổng quát của f(x) = 2x+3.</a:t>
            </a:r>
          </a:p>
          <a:p>
            <a:pPr>
              <a:spcAft>
                <a:spcPts val="1000"/>
              </a:spcAft>
            </a:pPr>
            <a:r>
              <a:rPr sz="1800">
                <a:solidFill>
                  <a:srgbClr val="2C3E50"/>
                </a:solidFill>
                <a:latin typeface="Times New Roman"/>
              </a:rPr>
              <a:t>• ∫ (2x+3) dx = 2 ∫ x dx + ∫ 3 dx = 2 fracx²2 + 3x + C = x² + 3x + C.</a:t>
            </a:r>
          </a:p>
          <a:p>
            <a:pPr>
              <a:spcAft>
                <a:spcPts val="1000"/>
              </a:spcAft>
            </a:pPr>
            <a:r>
              <a:rPr sz="1800">
                <a:solidFill>
                  <a:srgbClr val="2C3E50"/>
                </a:solidFill>
                <a:latin typeface="Times New Roman"/>
              </a:rPr>
              <a:t>• Vậy F(x) = x² + 3x + C.</a:t>
            </a:r>
          </a:p>
          <a:p>
            <a:pPr>
              <a:spcAft>
                <a:spcPts val="1000"/>
              </a:spcAft>
            </a:pPr>
            <a:r>
              <a:rPr sz="1800">
                <a:solidFill>
                  <a:srgbClr val="2C3E50"/>
                </a:solidFill>
                <a:latin typeface="Times New Roman"/>
              </a:rPr>
              <a:t>• Bước 2: Sử dụng điều kiện F(1) = 5.</a:t>
            </a:r>
          </a:p>
          <a:p>
            <a:pPr>
              <a:spcAft>
                <a:spcPts val="1000"/>
              </a:spcAft>
            </a:pPr>
            <a:r>
              <a:rPr sz="1800">
                <a:solidFill>
                  <a:srgbClr val="2C3E50"/>
                </a:solidFill>
                <a:latin typeface="Times New Roman"/>
              </a:rPr>
              <a:t>• Thay x=1 vào F(x): F(1) = 1² + 3(1) + C = 1 + 3 + C = 4 + C.</a:t>
            </a:r>
          </a:p>
          <a:p>
            <a:pPr>
              <a:spcAft>
                <a:spcPts val="1000"/>
              </a:spcAft>
            </a:pPr>
            <a:r>
              <a:rPr sz="1800">
                <a:solidFill>
                  <a:srgbClr val="2C3E50"/>
                </a:solidFill>
                <a:latin typeface="Times New Roman"/>
              </a:rPr>
              <a:t>• Theo đề bài: 4 + C = 5 ⇒ C = 1.</a:t>
            </a:r>
          </a:p>
          <a:p>
            <a:pPr>
              <a:spcAft>
                <a:spcPts val="1000"/>
              </a:spcAft>
            </a:pPr>
            <a:r>
              <a:rPr sz="1800">
                <a:solidFill>
                  <a:srgbClr val="2C3E50"/>
                </a:solidFill>
                <a:latin typeface="Times New Roman"/>
              </a:rPr>
              <a:t>• Kết luận: Nguyên hàm cần tìm là F(x) = x² + 3x + 1.</a:t>
            </a:r>
          </a:p>
        </p:txBody>
      </p:sp>
      <p:pic>
        <p:nvPicPr>
          <p:cNvPr id="4" name="Picture 3" descr="image.png"/>
          <p:cNvPicPr>
            <a:picLocks noChangeAspect="1"/>
          </p:cNvPicPr>
          <p:nvPr/>
        </p:nvPicPr>
        <p:blipFill>
          <a:blip r:embed="rId2"/>
          <a:stretch>
            <a:fillRect/>
          </a:stretch>
        </p:blipFill>
        <p:spPr>
          <a:xfrm>
            <a:off x="7132320" y="1645920"/>
            <a:ext cx="4297680" cy="286512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Tổng kết bài học</a:t>
            </a:r>
          </a:p>
        </p:txBody>
      </p:sp>
      <p:sp>
        <p:nvSpPr>
          <p:cNvPr id="3" name="Rounded Rectangle 2"/>
          <p:cNvSpPr/>
          <p:nvPr/>
        </p:nvSpPr>
        <p:spPr>
          <a:xfrm>
            <a:off x="731520" y="1645920"/>
            <a:ext cx="621792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Định nghĩa Nguyên hàm: F'(x) = f(x).</a:t>
            </a:r>
          </a:p>
          <a:p>
            <a:pPr>
              <a:spcAft>
                <a:spcPts val="1000"/>
              </a:spcAft>
            </a:pPr>
            <a:r>
              <a:rPr sz="1800">
                <a:solidFill>
                  <a:srgbClr val="2C3E50"/>
                </a:solidFill>
                <a:latin typeface="Times New Roman"/>
              </a:rPr>
              <a:t>• Họ Nguyên hàm: ∫ f(x) dx = F(x) + C.</a:t>
            </a:r>
          </a:p>
          <a:p>
            <a:pPr>
              <a:spcAft>
                <a:spcPts val="1000"/>
              </a:spcAft>
            </a:pPr>
            <a:r>
              <a:rPr sz="1800">
                <a:solidFill>
                  <a:srgbClr val="2C3E50"/>
                </a:solidFill>
                <a:latin typeface="Times New Roman"/>
              </a:rPr>
              <a:t>• Các tính chất cơ bản của nguyên hàm (hằng số, tổng/hiệu).</a:t>
            </a:r>
          </a:p>
          <a:p>
            <a:pPr>
              <a:spcAft>
                <a:spcPts val="1000"/>
              </a:spcAft>
            </a:pPr>
            <a:r>
              <a:rPr sz="1800">
                <a:solidFill>
                  <a:srgbClr val="2C3E50"/>
                </a:solidFill>
                <a:latin typeface="Times New Roman"/>
              </a:rPr>
              <a:t>• Bảng nguyên hàm của một số hàm số thường gặp (đa thức, lượng giác, mũ, logarit).</a:t>
            </a:r>
          </a:p>
          <a:p>
            <a:pPr>
              <a:spcAft>
                <a:spcPts val="1000"/>
              </a:spcAft>
            </a:pPr>
            <a:r>
              <a:rPr sz="1800">
                <a:solidFill>
                  <a:srgbClr val="2C3E50"/>
                </a:solidFill>
                <a:latin typeface="Times New Roman"/>
              </a:rPr>
              <a:t>• Cách tìm nguyên hàm thỏa mãn điều kiện ban đầu.</a:t>
            </a:r>
          </a:p>
        </p:txBody>
      </p:sp>
      <p:pic>
        <p:nvPicPr>
          <p:cNvPr id="4" name="Picture 3" descr="image.png"/>
          <p:cNvPicPr>
            <a:picLocks noChangeAspect="1"/>
          </p:cNvPicPr>
          <p:nvPr/>
        </p:nvPicPr>
        <p:blipFill>
          <a:blip r:embed="rId2"/>
          <a:stretch>
            <a:fillRect/>
          </a:stretch>
        </p:blipFill>
        <p:spPr>
          <a:xfrm>
            <a:off x="7132320" y="1645920"/>
            <a:ext cx="4297680" cy="286512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Bài tập về nhà</a:t>
            </a:r>
          </a:p>
        </p:txBody>
      </p:sp>
      <p:sp>
        <p:nvSpPr>
          <p:cNvPr id="3" name="Rounded Rectangle 2"/>
          <p:cNvSpPr/>
          <p:nvPr/>
        </p:nvSpPr>
        <p:spPr>
          <a:xfrm>
            <a:off x="731520" y="1645920"/>
            <a:ext cx="621792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Xem lại toàn bộ kiến thức về định nghĩa, tính chất và bảng nguyên hàm.</a:t>
            </a:r>
          </a:p>
          <a:p>
            <a:pPr>
              <a:spcAft>
                <a:spcPts val="1000"/>
              </a:spcAft>
            </a:pPr>
            <a:r>
              <a:rPr sz="1800">
                <a:solidFill>
                  <a:srgbClr val="2C3E50"/>
                </a:solidFill>
                <a:latin typeface="Times New Roman"/>
              </a:rPr>
              <a:t>• Làm các bài tập 1, 2, 3 (trang XX SGK Giải tích 12).</a:t>
            </a:r>
          </a:p>
          <a:p>
            <a:pPr>
              <a:spcAft>
                <a:spcPts val="1000"/>
              </a:spcAft>
            </a:pPr>
            <a:r>
              <a:rPr sz="1800">
                <a:solidFill>
                  <a:srgbClr val="2C3E50"/>
                </a:solidFill>
                <a:latin typeface="Times New Roman"/>
              </a:rPr>
              <a:t>• Chuẩn bị bài mới: 'Các phương pháp tính nguyên hàm'.</a:t>
            </a:r>
          </a:p>
        </p:txBody>
      </p:sp>
      <p:pic>
        <p:nvPicPr>
          <p:cNvPr id="4" name="Picture 3" descr="image.png"/>
          <p:cNvPicPr>
            <a:picLocks noChangeAspect="1"/>
          </p:cNvPicPr>
          <p:nvPr/>
        </p:nvPicPr>
        <p:blipFill>
          <a:blip r:embed="rId2"/>
          <a:stretch>
            <a:fillRect/>
          </a:stretch>
        </p:blipFill>
        <p:spPr>
          <a:xfrm>
            <a:off x="7132320" y="1645920"/>
            <a:ext cx="4297680" cy="286512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