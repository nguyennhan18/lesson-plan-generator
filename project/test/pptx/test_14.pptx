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Chào mừng các em đến với bài học mới: Nguyên Hàm. Trong bài học này, chúng ta sẽ cùng khám phá một khái niệm quan trọng, là phép toán ngược của đạo hàm, mở ra nhiều ứng dụng trong giải tích. Mục tiêu của bài học là giúp các em nắm vững định nghĩa, tính chất, bảng nguyên hàm cơ bản và biết cách vận dụng để giải các bài toán liên quan.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Các em hãy suy nghĩ và thực hiện yêu cầu trên. Đầu tiên, hãy tính đạo hàm của $F(x) = x^3$. Sau đó, từ kết quả $f(x) = 3x^2$, hãy thử tìm ngược lại hàm $F(x)$. Các em có nhận xét gì về tính duy nhất của hàm $F(x)$ tìm được không? (GV lắng nghe câu trả lời của HS, gợi ý $F(x) = x^3 + C$). GV sẽ dẫn dắt vào bài học mới, giới thiệu rằng phép toán ngược này chính là tìm nguyên hàm.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Từ hoạt động khởi động, chúng ta thấy rằng việc tìm một hàm số mà đạo hàm của nó là một hàm số cho trước chính là nội dung của bài học hôm nay. Đây là định nghĩa chính thức của nguyên hàm. Các em lưu ý điều kiện 'trên khoảng K' là rất quan trọng. Hãy so sánh định nghĩa này với phép toán đạo hàm mà chúng ta đã học.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Quay lại câu hỏi ở phần khởi động, tại sao có nhiều hàm số $F(x)$ mà đạo hàm của chúng đều bằng $3x^2$? Định lí này giải thích điều đó. Hằng số $C$ chính là điều làm cho các nguyên hàm khác nhau. Kí hiệu $\int f(x)dx$ được gọi là kí hiệu nguyên hàm của $f(x)$. Các em hãy đọc định lí trong SGK và thảo luận nhóm về ý nghĩa của hằng số $C$.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Tương tự như đạo hàm, nguyên hàm cũng có những tính chất giúp chúng ta tính toán dễ dàng hơn. Hai tính chất này rất quan trọng và sẽ được sử dụng thường xuyên. Các em hãy ghi nhớ và so sánh chúng với các tính chất của đạo hàm. Chúng ta sẽ áp dụng các tính chất này trong các bài tập cụ thể.</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Dựa vào bảng đạo hàm đã học, các em hãy cùng nhau thảo luận để xây dựng bảng nguyên hàm cơ bản này. Hãy nhớ rằng nguyên hàm là phép toán ngược của đạo hàm. Đặc biệt lưu ý trường hợp $x^n$ khi $n=-1$ và điều kiện của $x$ khi tìm nguyên hàm của $1/x$. Bảng này là nền tảng để chúng ta giải các bài tập tìm nguyên hàm phức tạp hơn. (GV có thể gọi HS lên bảng viết từng công thức và giải thích).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Bây giờ chúng ta sẽ cùng nhau thực hành. Các em hãy làm việc cá nhân hoặc theo cặp để giải các bài tập này, áp dụng các tính chất và bảng nguyên hàm vừa học. GV sẽ đi quanh lớp để hỗ trợ và giải đáp thắc mắc. (Sau khi HS làm bài, GV gọi 2 HS lên bảng trình bày lời giải cho câu a và 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Tiếp tục với câu c. Các em hãy chú ý điều kiện của $x$ trong hàm số này. (GV gọi 1 HS lên bảng trình bày câu c). Sau khi chữa bài, GV sẽ tổng hợp các lỗi sai thường gặp, ví dụ như quên hằng số $C$ hoặc nhầm lẫn công thức đạo hàm và nguyên hàm. Nhấn mạnh tầm quan trọng của việc ghi nhớ bảng nguyên hàm.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Đây là một dạng bài tập vận dụng kiến thức nguyên hàm để giải quyết một vấn đề cụ thể. Các em cần tìm họ nguyên hàm trước, sau đó sử dụng điều kiện $F(1) = 3$ để xác định giá trị của hằng số $C$. Hãy suy nghĩ và giải bài toán này. (GV gọi 1 HS lên bảng trình bày lời giải và giải thích các bước thực hiện).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Hôm nay chúng ta đã học về khái niệm nguyên hàm, định lí về họ nguyên hàm, các tính chất cơ bản và bảng nguyên hàm. Các em hãy ghi nhớ những kiến thức này. Đây là nền tảng rất quan trọng cho các bài học tiếp theo về tích phân. Có em nào có câu hỏi gì cần giải đáp thêm không?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Các em hãy về nhà ôn tập lại toàn bộ kiến thức đã học hôm nay và làm các bài tập được giao trong sách giáo khoa. Việc luyện tập thường xuyên sẽ giúp các em nắm vững kiến thức hơn. Đồng thời, hãy đọc trước bài mới để chúng ta có thể tiếp thu bài tốt hơn trong buổi học tới. Chúc các em học tốt!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828800"/>
            <a:ext cx="182880" cy="32004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601200" cy="3200400"/>
          </a:xfrm>
          <a:prstGeom prst="rect">
            <a:avLst/>
          </a:prstGeom>
          <a:noFill/>
        </p:spPr>
        <p:txBody>
          <a:bodyPr wrap="square">
            <a:spAutoFit/>
          </a:bodyPr>
          <a:lstStyle/>
          <a:p>
            <a:pPr>
              <a:defRPr sz="1800" b="1">
                <a:solidFill>
                  <a:srgbClr val="0066CC"/>
                </a:solidFill>
                <a:latin typeface="Times New Roman"/>
              </a:defRPr>
            </a:pPr>
            <a:r>
              <a:t>MÔN TOÁN HỌC - LỚP 12</a:t>
            </a:r>
          </a:p>
          <a:p>
            <a:pPr>
              <a:spcBef>
                <a:spcPts val="1500"/>
              </a:spcBef>
              <a:defRPr sz="4000" b="1">
                <a:solidFill>
                  <a:srgbClr val="003366"/>
                </a:solidFill>
                <a:latin typeface="Times New Roman"/>
              </a:defRPr>
            </a:pPr>
            <a:r>
              <a:t>Nguyên Hàm</a:t>
            </a:r>
          </a:p>
          <a:p>
            <a:pPr>
              <a:spcBef>
                <a:spcPts val="1000"/>
              </a:spcBef>
              <a:defRPr sz="2200">
                <a:solidFill>
                  <a:srgbClr val="2C3E50"/>
                </a:solidFill>
                <a:latin typeface="Times New Roman"/>
              </a:defRPr>
            </a:pPr>
            <a:r>
              <a:t>Môn Toán học - Lớp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Khởi động: Phép toán ngược của Đạo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Cho hàm số F(x) = x³. Hãy tìm đạo hàm F'(x).</a:t>
            </a:r>
          </a:p>
          <a:p>
            <a:pPr>
              <a:spcAft>
                <a:spcPts val="1000"/>
              </a:spcAft>
            </a:pPr>
            <a:r>
              <a:rPr sz="1800">
                <a:solidFill>
                  <a:srgbClr val="2C3E50"/>
                </a:solidFill>
                <a:latin typeface="Times New Roman"/>
              </a:rPr>
              <a:t>• Ngược lại, nếu cho hàm số f(x) = 3x², hãy tìm một hàm số F(x) sao cho F'(x) = f(x).</a:t>
            </a:r>
          </a:p>
          <a:p>
            <a:pPr>
              <a:spcAft>
                <a:spcPts val="1000"/>
              </a:spcAft>
            </a:pPr>
            <a:r>
              <a:rPr sz="1800">
                <a:solidFill>
                  <a:srgbClr val="2C3E50"/>
                </a:solidFill>
                <a:latin typeface="Times New Roman"/>
              </a:rPr>
              <a:t>• Có bao nhiêu hàm số F(x) như vậy?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1. Định nghĩa Nguyên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Cho hàm số f(x) xác định trên khoảng K.</a:t>
            </a:r>
          </a:p>
          <a:p>
            <a:pPr>
              <a:spcAft>
                <a:spcPts val="1000"/>
              </a:spcAft>
            </a:pPr>
            <a:r>
              <a:rPr sz="1800">
                <a:solidFill>
                  <a:srgbClr val="2C3E50"/>
                </a:solidFill>
                <a:latin typeface="Times New Roman"/>
              </a:rPr>
              <a:t>• Hàm số F(x) được gọi là một nguyên hàm của f(x) trên K nếu F'(x) = f(x) với mọi x ∈ K.</a:t>
            </a:r>
          </a:p>
          <a:p>
            <a:pPr>
              <a:spcBef>
                <a:spcPts val="1500"/>
              </a:spcBef>
              <a:spcAft>
                <a:spcPts val="500"/>
              </a:spcAft>
            </a:pPr>
            <a:r>
              <a:rPr b="1" sz="2000">
                <a:solidFill>
                  <a:srgbClr val="0066CC"/>
                </a:solidFill>
                <a:latin typeface="Times New Roman"/>
              </a:rPr>
              <a:t>Công thức trọng tâm:  </a:t>
            </a:r>
          </a:p>
        </p:txBody>
      </p:sp>
      <p:pic>
        <p:nvPicPr>
          <p:cNvPr id="4" name="Picture 3" descr="image.png"/>
          <p:cNvPicPr>
            <a:picLocks noChangeAspect="1"/>
          </p:cNvPicPr>
          <p:nvPr/>
        </p:nvPicPr>
        <p:blipFill>
          <a:blip r:embed="rId2"/>
          <a:stretch>
            <a:fillRect/>
          </a:stretch>
        </p:blipFill>
        <p:spPr>
          <a:xfrm>
            <a:off x="1097280" y="3"/>
            <a:ext cx="2984863" cy="7315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2. Định lí về họ Nguyên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Nếu F(x) là một nguyên hàm của f(x) trên khoảng K.</a:t>
            </a:r>
          </a:p>
          <a:p>
            <a:pPr>
              <a:spcAft>
                <a:spcPts val="1000"/>
              </a:spcAft>
            </a:pPr>
            <a:r>
              <a:rPr sz="1800">
                <a:solidFill>
                  <a:srgbClr val="2C3E50"/>
                </a:solidFill>
                <a:latin typeface="Times New Roman"/>
              </a:rPr>
              <a:t>• Thì mọi nguyên hàm của f(x) trên K đều có dạng F(x) + C.</a:t>
            </a:r>
          </a:p>
          <a:p>
            <a:pPr>
              <a:spcAft>
                <a:spcPts val="1000"/>
              </a:spcAft>
            </a:pPr>
            <a:r>
              <a:rPr sz="1800">
                <a:solidFill>
                  <a:srgbClr val="2C3E50"/>
                </a:solidFill>
                <a:latin typeface="Times New Roman"/>
              </a:rPr>
              <a:t>• Với C là hằng số tùy ý.</a:t>
            </a:r>
          </a:p>
          <a:p>
            <a:pPr>
              <a:spcAft>
                <a:spcPts val="1000"/>
              </a:spcAft>
            </a:pPr>
            <a:r>
              <a:rPr sz="1800">
                <a:solidFill>
                  <a:srgbClr val="2C3E50"/>
                </a:solidFill>
                <a:latin typeface="Times New Roman"/>
              </a:rPr>
              <a:t>• Kí hiệu họ nguyên hàm của f(x) là ∫ f(x)dx = F(x) + C.</a:t>
            </a:r>
          </a:p>
          <a:p>
            <a:pPr>
              <a:spcBef>
                <a:spcPts val="1500"/>
              </a:spcBef>
              <a:spcAft>
                <a:spcPts val="500"/>
              </a:spcAft>
            </a:pPr>
            <a:r>
              <a:rPr b="1" sz="2000">
                <a:solidFill>
                  <a:srgbClr val="0066CC"/>
                </a:solidFill>
                <a:latin typeface="Times New Roman"/>
              </a:rPr>
              <a:t>Công thức trọng tâm:  </a:t>
            </a:r>
          </a:p>
        </p:txBody>
      </p:sp>
      <p:pic>
        <p:nvPicPr>
          <p:cNvPr id="4" name="Picture 3" descr="image.png"/>
          <p:cNvPicPr>
            <a:picLocks noChangeAspect="1"/>
          </p:cNvPicPr>
          <p:nvPr/>
        </p:nvPicPr>
        <p:blipFill>
          <a:blip r:embed="rId2"/>
          <a:stretch>
            <a:fillRect/>
          </a:stretch>
        </p:blipFill>
        <p:spPr>
          <a:xfrm>
            <a:off x="1097280" y="4"/>
            <a:ext cx="3955433" cy="7315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3. Tính chất của Nguyên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Tính chất 1: Nhân với hằng số</a:t>
            </a:r>
          </a:p>
          <a:p>
            <a:pPr>
              <a:spcAft>
                <a:spcPts val="1000"/>
              </a:spcAft>
            </a:pPr>
            <a:r>
              <a:rPr sz="1800">
                <a:solidFill>
                  <a:srgbClr val="2C3E50"/>
                </a:solidFill>
                <a:latin typeface="Times New Roman"/>
              </a:rPr>
              <a:t>• Với k là hằng số khác 0: ∫ kf(x)dx = k∫ f(x)dx.</a:t>
            </a:r>
          </a:p>
          <a:p>
            <a:pPr>
              <a:spcAft>
                <a:spcPts val="1000"/>
              </a:spcAft>
            </a:pPr>
            <a:r>
              <a:rPr sz="1800">
                <a:solidFill>
                  <a:srgbClr val="2C3E50"/>
                </a:solidFill>
                <a:latin typeface="Times New Roman"/>
              </a:rPr>
              <a:t>• Tính chất 2: Tổng hoặc hiệu</a:t>
            </a:r>
          </a:p>
          <a:p>
            <a:pPr>
              <a:spcAft>
                <a:spcPts val="1000"/>
              </a:spcAft>
            </a:pPr>
            <a:r>
              <a:rPr sz="1800">
                <a:solidFill>
                  <a:srgbClr val="2C3E50"/>
                </a:solidFill>
                <a:latin typeface="Times New Roman"/>
              </a:rPr>
              <a:t>• ∫ [f(x) ± g(x)]dx = ∫ f(x)dx ± ∫ g(x)dx.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4. Bảng nguyên hàm của một số hàm số cơ bản</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 0 dx = C</a:t>
            </a:r>
          </a:p>
          <a:p>
            <a:pPr>
              <a:spcAft>
                <a:spcPts val="1000"/>
              </a:spcAft>
            </a:pPr>
            <a:r>
              <a:rPr sz="1800">
                <a:solidFill>
                  <a:srgbClr val="2C3E50"/>
                </a:solidFill>
                <a:latin typeface="Times New Roman"/>
              </a:rPr>
              <a:t>• ∫ 1 dx = x + C</a:t>
            </a:r>
          </a:p>
          <a:p>
            <a:pPr>
              <a:spcAft>
                <a:spcPts val="1000"/>
              </a:spcAft>
            </a:pPr>
            <a:r>
              <a:rPr sz="1800">
                <a:solidFill>
                  <a:srgbClr val="2C3E50"/>
                </a:solidFill>
                <a:latin typeface="Times New Roman"/>
              </a:rPr>
              <a:t>• ∫ xⁿ dx = fracxⁿ⁺¹n+1 + C (với n ne -1)</a:t>
            </a:r>
          </a:p>
          <a:p>
            <a:pPr>
              <a:spcAft>
                <a:spcPts val="1000"/>
              </a:spcAft>
            </a:pPr>
            <a:r>
              <a:rPr sz="1800">
                <a:solidFill>
                  <a:srgbClr val="2C3E50"/>
                </a:solidFill>
                <a:latin typeface="Times New Roman"/>
              </a:rPr>
              <a:t>• ∫ frac1x dx = ln|x| + C (với x ne 0)</a:t>
            </a:r>
          </a:p>
          <a:p>
            <a:pPr>
              <a:spcAft>
                <a:spcPts val="1000"/>
              </a:spcAft>
            </a:pPr>
            <a:r>
              <a:rPr sz="1800">
                <a:solidFill>
                  <a:srgbClr val="2C3E50"/>
                </a:solidFill>
                <a:latin typeface="Times New Roman"/>
              </a:rPr>
              <a:t>• ∫ eˣ dx = eˣ + C</a:t>
            </a:r>
          </a:p>
          <a:p>
            <a:pPr>
              <a:spcAft>
                <a:spcPts val="1000"/>
              </a:spcAft>
            </a:pPr>
            <a:r>
              <a:rPr sz="1800">
                <a:solidFill>
                  <a:srgbClr val="2C3E50"/>
                </a:solidFill>
                <a:latin typeface="Times New Roman"/>
              </a:rPr>
              <a:t>• ∫ sin x dx = -cos x + C</a:t>
            </a:r>
          </a:p>
          <a:p>
            <a:pPr>
              <a:spcAft>
                <a:spcPts val="1000"/>
              </a:spcAft>
            </a:pPr>
            <a:r>
              <a:rPr sz="1800">
                <a:solidFill>
                  <a:srgbClr val="2C3E50"/>
                </a:solidFill>
                <a:latin typeface="Times New Roman"/>
              </a:rPr>
              <a:t>• ∫ cos x dx = sin x + 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Luyện tập: Tìm nguyên hàm cơ bản</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Bài 1: Tìm nguyên hàm của các hàm số sau:</a:t>
            </a:r>
          </a:p>
          <a:p>
            <a:pPr>
              <a:spcAft>
                <a:spcPts val="1000"/>
              </a:spcAft>
            </a:pPr>
            <a:r>
              <a:rPr sz="1800">
                <a:solidFill>
                  <a:srgbClr val="2C3E50"/>
                </a:solidFill>
                <a:latin typeface="Times New Roman"/>
              </a:rPr>
              <a:t>• a) f(x) = x⁴ + 3x² - 2</a:t>
            </a:r>
          </a:p>
          <a:p>
            <a:pPr>
              <a:spcAft>
                <a:spcPts val="1000"/>
              </a:spcAft>
            </a:pPr>
            <a:r>
              <a:rPr sz="1800">
                <a:solidFill>
                  <a:srgbClr val="2C3E50"/>
                </a:solidFill>
                <a:latin typeface="Times New Roman"/>
              </a:rPr>
              <a:t>• b) g(x) = 2sin x - cos 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Luyện tập: Tìm nguyên hàm cơ bản (tiếp)</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Bài 1 (tiếp): Tìm nguyên hàm của hàm số sau:</a:t>
            </a:r>
          </a:p>
          <a:p>
            <a:pPr>
              <a:spcAft>
                <a:spcPts val="1000"/>
              </a:spcAft>
            </a:pPr>
            <a:r>
              <a:rPr sz="1800">
                <a:solidFill>
                  <a:srgbClr val="2C3E50"/>
                </a:solidFill>
                <a:latin typeface="Times New Roman"/>
              </a:rPr>
              <a:t>• c) h(x) = frac1x + eˣ (với x ne 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Vận dụng: Tìm nguyên hàm thỏa mãn điều kiện</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Tìm nguyên hàm F(x) của hàm số f(x) = 2x + 1.</a:t>
            </a:r>
          </a:p>
          <a:p>
            <a:pPr>
              <a:spcAft>
                <a:spcPts val="1000"/>
              </a:spcAft>
            </a:pPr>
            <a:r>
              <a:rPr sz="1800">
                <a:solidFill>
                  <a:srgbClr val="2C3E50"/>
                </a:solidFill>
                <a:latin typeface="Times New Roman"/>
              </a:rPr>
              <a:t>• Biết rằng F(1) = 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Tổng kết bài học</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Định nghĩa nguyên hàm: F'(x) = f(x).</a:t>
            </a:r>
          </a:p>
          <a:p>
            <a:pPr>
              <a:spcAft>
                <a:spcPts val="1000"/>
              </a:spcAft>
            </a:pPr>
            <a:r>
              <a:rPr sz="1800">
                <a:solidFill>
                  <a:srgbClr val="2C3E50"/>
                </a:solidFill>
                <a:latin typeface="Times New Roman"/>
              </a:rPr>
              <a:t>• Họ nguyên hàm: ∫ f(x)dx = F(x) + C (với C là hằng số).</a:t>
            </a:r>
          </a:p>
          <a:p>
            <a:pPr>
              <a:spcAft>
                <a:spcPts val="1000"/>
              </a:spcAft>
            </a:pPr>
            <a:r>
              <a:rPr sz="1800">
                <a:solidFill>
                  <a:srgbClr val="2C3E50"/>
                </a:solidFill>
                <a:latin typeface="Times New Roman"/>
              </a:rPr>
              <a:t>• Các tính chất của nguyên hàm: ∫ kf(x)dx = k∫ f(x)dx và ∫ [f(x) ± g(x)]dx = ∫ f(x)dx ± ∫ g(x)dx.</a:t>
            </a:r>
          </a:p>
          <a:p>
            <a:pPr>
              <a:spcAft>
                <a:spcPts val="1000"/>
              </a:spcAft>
            </a:pPr>
            <a:r>
              <a:rPr sz="1800">
                <a:solidFill>
                  <a:srgbClr val="2C3E50"/>
                </a:solidFill>
                <a:latin typeface="Times New Roman"/>
              </a:rPr>
              <a:t>• Bảng nguyên hàm của một số hàm số cơ bản.</a:t>
            </a:r>
          </a:p>
          <a:p>
            <a:pPr>
              <a:spcAft>
                <a:spcPts val="1000"/>
              </a:spcAft>
            </a:pPr>
            <a:r>
              <a:rPr sz="1800">
                <a:solidFill>
                  <a:srgbClr val="2C3E50"/>
                </a:solidFill>
                <a:latin typeface="Times New Roman"/>
              </a:rPr>
              <a:t>• Phương pháp tìm nguyên hàm thỏa mãn điều kiện ban đầu.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828800"/>
            <a:ext cx="182880" cy="32004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601200" cy="3200400"/>
          </a:xfrm>
          <a:prstGeom prst="rect">
            <a:avLst/>
          </a:prstGeom>
          <a:noFill/>
        </p:spPr>
        <p:txBody>
          <a:bodyPr wrap="square">
            <a:spAutoFit/>
          </a:bodyPr>
          <a:lstStyle/>
          <a:p>
            <a:pPr>
              <a:defRPr sz="1800" b="1">
                <a:solidFill>
                  <a:srgbClr val="0066CC"/>
                </a:solidFill>
                <a:latin typeface="Times New Roman"/>
              </a:defRPr>
            </a:pPr>
            <a:r>
              <a:t>MÔN TOÁN HỌC - LỚP 12</a:t>
            </a:r>
          </a:p>
          <a:p>
            <a:pPr>
              <a:spcBef>
                <a:spcPts val="1500"/>
              </a:spcBef>
              <a:defRPr sz="4000" b="1">
                <a:solidFill>
                  <a:srgbClr val="003366"/>
                </a:solidFill>
                <a:latin typeface="Times New Roman"/>
              </a:defRPr>
            </a:pPr>
            <a:r>
              <a:t>Dặn dò và Bài tập về nhà</a:t>
            </a:r>
          </a:p>
          <a:p>
            <a:pPr>
              <a:spcBef>
                <a:spcPts val="1000"/>
              </a:spcBef>
              <a:defRPr sz="2200">
                <a:solidFill>
                  <a:srgbClr val="2C3E50"/>
                </a:solidFill>
                <a:latin typeface="Times New Roman"/>
              </a:defRPr>
            </a:pPr>
            <a:r>
              <a:t>Chuẩn bị cho bài học tiếp theo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