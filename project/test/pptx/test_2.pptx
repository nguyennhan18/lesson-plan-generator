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giao nhiệm vụ, gọi HS lên bảng trình bày. Dẫn dắt HS nhận thấy sự giống nhau của đạo hàm và đặt vấn đề tìm hàm số ban đầu từ đạo hàm.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tổ chức HS thảo luận, sau đó mời đại diện trình bày. GV chốt kiến thức trọng tâm về định nghĩa và định lí.</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trình chiếu bảng nguyên hàm cơ bản, yêu cầu HS ghi nhớ và phân biệt với bảng đạo hàm.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hướng dẫn HS thảo luận, đưa ra các tính chất và chốt lại công thức. Nhấn mạnh rằng nguyên hàm của một tích/thương không bằng tích/thương các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giao bài tập, mời HS lên bảng trình bày. Chú ý chữa lỗi sai và nhắc nhở về hằng số 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khuyến khích HS chia sẻ ý tưởng và chốt các ứng dụng ban đầu của nguyên hàm, mở rộng sang tích phân.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Nguyên hàm</a:t>
            </a:r>
          </a:p>
          <a:p>
            <a:pPr>
              <a:spcBef>
                <a:spcPts val="1000"/>
              </a:spcBef>
              <a:defRPr sz="2200">
                <a:solidFill>
                  <a:srgbClr val="2C3E50"/>
                </a:solidFill>
                <a:latin typeface="Times New Roman"/>
              </a:defRPr>
            </a:pPr>
            <a:r>
              <a:t>Môn Toán học - Lớp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Đạo hàm ngược</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Hãy tìm đạo hàm của các hàm số sau:</a:t>
            </a:r>
          </a:p>
          <a:p>
            <a:pPr>
              <a:spcAft>
                <a:spcPts val="1000"/>
              </a:spcAft>
            </a:pPr>
            <a:r>
              <a:rPr sz="1800">
                <a:solidFill>
                  <a:srgbClr val="2C3E50"/>
                </a:solidFill>
                <a:latin typeface="Times New Roman"/>
              </a:rPr>
              <a:t>•  F(x) = x^3</a:t>
            </a:r>
          </a:p>
          <a:p>
            <a:pPr>
              <a:spcAft>
                <a:spcPts val="1000"/>
              </a:spcAft>
            </a:pPr>
            <a:r>
              <a:rPr sz="1800">
                <a:solidFill>
                  <a:srgbClr val="2C3E50"/>
                </a:solidFill>
                <a:latin typeface="Times New Roman"/>
              </a:rPr>
              <a:t>•  G(x) = x^3 + 5</a:t>
            </a:r>
          </a:p>
          <a:p>
            <a:pPr>
              <a:spcAft>
                <a:spcPts val="1000"/>
              </a:spcAft>
            </a:pPr>
            <a:r>
              <a:rPr sz="1800">
                <a:solidFill>
                  <a:srgbClr val="2C3E50"/>
                </a:solidFill>
                <a:latin typeface="Times New Roman"/>
              </a:rPr>
              <a:t>•  H(x) = x^3 - 2</a:t>
            </a:r>
          </a:p>
          <a:p>
            <a:pPr>
              <a:spcAft>
                <a:spcPts val="1000"/>
              </a:spcAft>
            </a:pPr>
            <a:r>
              <a:rPr sz="1800">
                <a:solidFill>
                  <a:srgbClr val="2C3E50"/>
                </a:solidFill>
                <a:latin typeface="Times New Roman"/>
              </a:rPr>
              <a:t>•  Các em có nhận xét gì về đạo hàm của ba hàm số trên?</a:t>
            </a:r>
          </a:p>
          <a:p>
            <a:pPr>
              <a:spcAft>
                <a:spcPts val="1000"/>
              </a:spcAft>
            </a:pPr>
            <a:r>
              <a:rPr sz="1800">
                <a:solidFill>
                  <a:srgbClr val="2C3E50"/>
                </a:solidFill>
                <a:latin typeface="Times New Roman"/>
              </a:rPr>
              <a:t>•  Nếu biết đạo hàm của một hàm số là </a:t>
            </a:r>
            <m:oMath xmlns:m="http://schemas.openxmlformats.org/officeDocument/2006/math">
              <m:box>
                <m:e>
                  <m:r>
                    <m:rPr>
                      <m:sty m:val="p"/>
                    </m:rPr>
                    <m:t>3</m:t>
                  </m:r>
                  <m:sSup>
                    <m:e>
                      <m:r>
                        <m:rPr>
                          <m:sty m:val="i"/>
                        </m:rPr>
                        <m:t>x</m:t>
                      </m:r>
                    </m:e>
                    <m:sup>
                      <m:r>
                        <m:rPr>
                          <m:sty m:val="p"/>
                        </m:rPr>
                        <m:t>2</m:t>
                      </m:r>
                    </m:sup>
                  </m:sSup>
                </m:e>
              </m:box>
            </m:oMath>
            <a:r>
              <a:rPr sz="1800">
                <a:solidFill>
                  <a:srgbClr val="2C3E50"/>
                </a:solidFill>
                <a:latin typeface="Times New Roman"/>
              </a:rPr>
              <a:t>, làm thế nào để tìm lại hàm số ban đầu?</a:t>
            </a:r>
          </a:p>
          <a:p>
            <a:pPr>
              <a:spcBef>
                <a:spcPts val="1500"/>
              </a:spcBef>
              <a:spcAft>
                <a:spcPts val="1000"/>
              </a:spcAft>
            </a:pPr>
            <a:r>
              <a:rPr b="1" sz="2000">
                <a:solidFill>
                  <a:srgbClr val="0066CC"/>
                </a:solidFill>
                <a:latin typeface="Times New Roman"/>
              </a:rPr>
              <a:t>Công thức trọng tâm:  </a:t>
            </a:r>
            <m:oMath xmlns:m="http://schemas.openxmlformats.org/officeDocument/2006/math">
              <m:box>
                <m:e>
                  <m:sSup>
                    <m:e>
                      <m:r>
                        <m:rPr>
                          <m:sty m:val="i"/>
                        </m:rPr>
                        <m:t>F</m:t>
                      </m:r>
                    </m:e>
                    <m:sup>
                      <m:r>
                        <m:rPr>
                          <m:sty m:val="i"/>
                        </m:rPr>
                        <m:t>′</m:t>
                      </m:r>
                    </m:sup>
                  </m:sSup>
                  <m:r>
                    <m:rPr>
                      <m:sty m:val="p"/>
                    </m:rPr>
                    <m:t>(</m:t>
                  </m:r>
                  <m:r>
                    <m:rPr>
                      <m:sty m:val="i"/>
                    </m:rPr>
                    <m:t>x</m:t>
                  </m:r>
                  <m:r>
                    <m:rPr>
                      <m:sty m:val="p"/>
                    </m:rPr>
                    <m:t>)</m:t>
                  </m:r>
                  <m:r>
                    <m:rPr>
                      <m:sty m:val="p"/>
                    </m:rPr>
                    <m:t>=</m:t>
                  </m:r>
                  <m:r>
                    <m:rPr>
                      <m:sty m:val="p"/>
                    </m:rPr>
                    <m:t>3</m:t>
                  </m:r>
                  <m:sSup>
                    <m:e>
                      <m:r>
                        <m:rPr>
                          <m:sty m:val="i"/>
                        </m:rPr>
                        <m:t>x</m:t>
                      </m:r>
                    </m:e>
                    <m:sup>
                      <m:r>
                        <m:rPr>
                          <m:sty m:val="p"/>
                        </m:rPr>
                        <m:t>2</m:t>
                      </m:r>
                    </m:sup>
                  </m:sSup>
                  <m:r>
                    <m:rPr>
                      <m:sty m:val="p"/>
                    </m:rPr>
                    <m:t>\newline</m:t>
                  </m:r>
                  <m:sSup>
                    <m:e>
                      <m:r>
                        <m:rPr>
                          <m:sty m:val="i"/>
                        </m:rPr>
                        <m:t>G</m:t>
                      </m:r>
                    </m:e>
                    <m:sup>
                      <m:r>
                        <m:rPr>
                          <m:sty m:val="i"/>
                        </m:rPr>
                        <m:t>′</m:t>
                      </m:r>
                    </m:sup>
                  </m:sSup>
                  <m:r>
                    <m:rPr>
                      <m:sty m:val="p"/>
                    </m:rPr>
                    <m:t>(</m:t>
                  </m:r>
                  <m:r>
                    <m:rPr>
                      <m:sty m:val="i"/>
                    </m:rPr>
                    <m:t>x</m:t>
                  </m:r>
                  <m:r>
                    <m:rPr>
                      <m:sty m:val="p"/>
                    </m:rPr>
                    <m:t>)</m:t>
                  </m:r>
                  <m:r>
                    <m:rPr>
                      <m:sty m:val="p"/>
                    </m:rPr>
                    <m:t>=</m:t>
                  </m:r>
                  <m:r>
                    <m:rPr>
                      <m:sty m:val="p"/>
                    </m:rPr>
                    <m:t>3</m:t>
                  </m:r>
                  <m:sSup>
                    <m:e>
                      <m:r>
                        <m:rPr>
                          <m:sty m:val="i"/>
                        </m:rPr>
                        <m:t>x</m:t>
                      </m:r>
                    </m:e>
                    <m:sup>
                      <m:r>
                        <m:rPr>
                          <m:sty m:val="p"/>
                        </m:rPr>
                        <m:t>2</m:t>
                      </m:r>
                    </m:sup>
                  </m:sSup>
                  <m:r>
                    <m:rPr>
                      <m:sty m:val="p"/>
                    </m:rPr>
                    <m:t>\newline</m:t>
                  </m:r>
                  <m:sSup>
                    <m:e>
                      <m:r>
                        <m:rPr>
                          <m:sty m:val="i"/>
                        </m:rPr>
                        <m:t>H</m:t>
                      </m:r>
                    </m:e>
                    <m:sup>
                      <m:r>
                        <m:rPr>
                          <m:sty m:val="i"/>
                        </m:rPr>
                        <m:t>′</m:t>
                      </m:r>
                    </m:sup>
                  </m:sSup>
                  <m:r>
                    <m:rPr>
                      <m:sty m:val="p"/>
                    </m:rPr>
                    <m:t>(</m:t>
                  </m:r>
                  <m:r>
                    <m:rPr>
                      <m:sty m:val="i"/>
                    </m:rPr>
                    <m:t>x</m:t>
                  </m:r>
                  <m:r>
                    <m:rPr>
                      <m:sty m:val="p"/>
                    </m:rPr>
                    <m:t>)</m:t>
                  </m:r>
                  <m:r>
                    <m:rPr>
                      <m:sty m:val="p"/>
                    </m:rPr>
                    <m:t>=</m:t>
                  </m:r>
                  <m:r>
                    <m:rPr>
                      <m:sty m:val="p"/>
                    </m:rPr>
                    <m:t>3</m:t>
                  </m:r>
                  <m:sSup>
                    <m:e>
                      <m:r>
                        <m:rPr>
                          <m:sty m:val="i"/>
                        </m:rPr>
                        <m:t>x</m:t>
                      </m:r>
                    </m:e>
                    <m:sup>
                      <m:r>
                        <m:rPr>
                          <m:sty m:val="p"/>
                        </m:rPr>
                        <m:t>2</m:t>
                      </m:r>
                    </m:sup>
                  </m:sSup>
                </m:e>
              </m:box>
            </m:oMath>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Định nghĩa Nguyên hàm và Định lí</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Thảo luận nhóm: Dựa vào hoạt động khởi động, hãy định nghĩa nguyên hàm.</a:t>
            </a:r>
          </a:p>
          <a:p>
            <a:pPr>
              <a:spcAft>
                <a:spcPts val="1000"/>
              </a:spcAft>
            </a:pPr>
            <a:r>
              <a:rPr sz="1800">
                <a:solidFill>
                  <a:srgbClr val="2C3E50"/>
                </a:solidFill>
                <a:latin typeface="Times New Roman"/>
              </a:rPr>
              <a:t>•  Nếu F(x) là một nguyên hàm của f(x), thì F(x) + C (C là hằng số) có phải là nguyên hàm của f(x) không? Tại sao?</a:t>
            </a:r>
          </a:p>
          <a:p>
            <a:pPr>
              <a:spcAft>
                <a:spcPts val="1000"/>
              </a:spcAft>
            </a:pPr>
            <a:r>
              <a:rPr sz="1800">
                <a:solidFill>
                  <a:srgbClr val="2C3E50"/>
                </a:solidFill>
                <a:latin typeface="Times New Roman"/>
              </a:rPr>
              <a:t>•  Họ tất cả các nguyên hàm của một hàm số có mối quan hệ gì với nhau?</a:t>
            </a:r>
          </a:p>
          <a:p>
            <a:pPr>
              <a:spcBef>
                <a:spcPts val="1500"/>
              </a:spcBef>
              <a:spcAft>
                <a:spcPts val="1000"/>
              </a:spcAft>
            </a:pPr>
            <a:r>
              <a:rPr b="1" sz="2000">
                <a:solidFill>
                  <a:srgbClr val="0066CC"/>
                </a:solidFill>
                <a:latin typeface="Times New Roman"/>
              </a:rPr>
              <a:t>Công thức trọng tâm:  </a:t>
            </a:r>
            <m:oMath xmlns:m="http://schemas.openxmlformats.org/officeDocument/2006/math">
              <m:box>
                <m:e>
                  <m:r>
                    <m:rPr>
                      <m:sty m:val="b"/>
                    </m:rPr>
                    <m:t>1. Định nghĩa:</m:t>
                  </m:r>
                  <m:r>
                    <m:rPr>
                      <m:sty m:val="p"/>
                    </m:rPr>
                    <m:t>\newline</m:t>
                  </m:r>
                  <m:r>
                    <m:rPr>
                      <m:sty m:val="i"/>
                    </m:rPr>
                    <m:t>H</m:t>
                  </m:r>
                  <m:r>
                    <m:rPr>
                      <m:sty m:val="i"/>
                    </m:rPr>
                    <m:t>à</m:t>
                  </m:r>
                  <m:r>
                    <m:rPr>
                      <m:sty m:val="i"/>
                    </m:rPr>
                    <m:t>m</m:t>
                  </m:r>
                  <m:r>
                    <m:rPr>
                      <m:sty m:val="i"/>
                    </m:rPr>
                    <m:t>s</m:t>
                  </m:r>
                  <m:r>
                    <m:rPr>
                      <m:sty m:val="i"/>
                    </m:rPr>
                    <m:t>ố</m:t>
                  </m:r>
                  <m:r>
                    <m:rPr>
                      <m:sty m:val="i"/>
                    </m:rPr>
                    <m:t>F</m:t>
                  </m:r>
                  <m:r>
                    <m:rPr>
                      <m:sty m:val="p"/>
                    </m:rPr>
                    <m:t>(</m:t>
                  </m:r>
                  <m:r>
                    <m:rPr>
                      <m:sty m:val="i"/>
                    </m:rPr>
                    <m:t>x</m:t>
                  </m:r>
                  <m:r>
                    <m:rPr>
                      <m:sty m:val="p"/>
                    </m:rPr>
                    <m:t>)</m:t>
                  </m:r>
                  <m:r>
                    <m:rPr>
                      <m:sty m:val="i"/>
                    </m:rPr>
                    <m:t>đ</m:t>
                  </m:r>
                  <m:r>
                    <m:rPr>
                      <m:sty m:val="i"/>
                    </m:rPr>
                    <m:t>ư</m:t>
                  </m:r>
                  <m:r>
                    <m:rPr>
                      <m:sty m:val="i"/>
                    </m:rPr>
                    <m:t>ợ</m:t>
                  </m:r>
                  <m:r>
                    <m:rPr>
                      <m:sty m:val="i"/>
                    </m:rPr>
                    <m:t>c</m:t>
                  </m:r>
                  <m:r>
                    <m:rPr>
                      <m:sty m:val="i"/>
                    </m:rPr>
                    <m:t>g</m:t>
                  </m:r>
                  <m:r>
                    <m:rPr>
                      <m:sty m:val="i"/>
                    </m:rPr>
                    <m:t>ọ</m:t>
                  </m:r>
                  <m:r>
                    <m:rPr>
                      <m:sty m:val="i"/>
                    </m:rPr>
                    <m:t>i</m:t>
                  </m:r>
                  <m:r>
                    <m:rPr>
                      <m:sty m:val="i"/>
                    </m:rPr>
                    <m:t>l</m:t>
                  </m:r>
                  <m:r>
                    <m:rPr>
                      <m:sty m:val="i"/>
                    </m:rPr>
                    <m:t>à</m:t>
                  </m:r>
                  <m:r>
                    <m:rPr>
                      <m:sty m:val="i"/>
                    </m:rPr>
                    <m:t>n</m:t>
                  </m:r>
                  <m:r>
                    <m:rPr>
                      <m:sty m:val="i"/>
                    </m:rPr>
                    <m:t>g</m:t>
                  </m:r>
                  <m:r>
                    <m:rPr>
                      <m:sty m:val="i"/>
                    </m:rPr>
                    <m:t>u</m:t>
                  </m:r>
                  <m:r>
                    <m:rPr>
                      <m:sty m:val="i"/>
                    </m:rPr>
                    <m:t>y</m:t>
                  </m:r>
                  <m:r>
                    <m:rPr>
                      <m:sty m:val="i"/>
                    </m:rPr>
                    <m:t>ê</m:t>
                  </m:r>
                  <m:r>
                    <m:rPr>
                      <m:sty m:val="i"/>
                    </m:rPr>
                    <m:t>n</m:t>
                  </m:r>
                  <m:r>
                    <m:rPr>
                      <m:sty m:val="i"/>
                    </m:rPr>
                    <m:t>h</m:t>
                  </m:r>
                  <m:r>
                    <m:rPr>
                      <m:sty m:val="i"/>
                    </m:rPr>
                    <m:t>à</m:t>
                  </m:r>
                  <m:r>
                    <m:rPr>
                      <m:sty m:val="i"/>
                    </m:rPr>
                    <m:t>m</m:t>
                  </m:r>
                  <m:r>
                    <m:rPr>
                      <m:sty m:val="i"/>
                    </m:rPr>
                    <m:t>c</m:t>
                  </m:r>
                  <m:r>
                    <m:rPr>
                      <m:sty m:val="i"/>
                    </m:rPr>
                    <m:t>ủ</m:t>
                  </m:r>
                  <m:r>
                    <m:rPr>
                      <m:sty m:val="i"/>
                    </m:rPr>
                    <m:t>a</m:t>
                  </m:r>
                  <m:r>
                    <m:rPr>
                      <m:sty m:val="i"/>
                    </m:rPr>
                    <m:t>h</m:t>
                  </m:r>
                  <m:r>
                    <m:rPr>
                      <m:sty m:val="i"/>
                    </m:rPr>
                    <m:t>à</m:t>
                  </m:r>
                  <m:r>
                    <m:rPr>
                      <m:sty m:val="i"/>
                    </m:rPr>
                    <m:t>m</m:t>
                  </m:r>
                  <m:r>
                    <m:rPr>
                      <m:sty m:val="i"/>
                    </m:rPr>
                    <m:t>s</m:t>
                  </m:r>
                  <m:r>
                    <m:rPr>
                      <m:sty m:val="i"/>
                    </m:rPr>
                    <m:t>ố</m:t>
                  </m:r>
                  <m:r>
                    <m:rPr>
                      <m:sty m:val="i"/>
                    </m:rPr>
                    <m:t>f</m:t>
                  </m:r>
                  <m:r>
                    <m:rPr>
                      <m:sty m:val="p"/>
                    </m:rPr>
                    <m:t>(</m:t>
                  </m:r>
                  <m:r>
                    <m:rPr>
                      <m:sty m:val="i"/>
                    </m:rPr>
                    <m:t>x</m:t>
                  </m:r>
                  <m:r>
                    <m:rPr>
                      <m:sty m:val="p"/>
                    </m:rPr>
                    <m:t>)</m:t>
                  </m:r>
                  <m:r>
                    <m:rPr>
                      <m:sty m:val="i"/>
                    </m:rPr>
                    <m:t>t</m:t>
                  </m:r>
                  <m:r>
                    <m:rPr>
                      <m:sty m:val="i"/>
                    </m:rPr>
                    <m:t>r</m:t>
                  </m:r>
                  <m:r>
                    <m:rPr>
                      <m:sty m:val="i"/>
                    </m:rPr>
                    <m:t>ê</m:t>
                  </m:r>
                  <m:r>
                    <m:rPr>
                      <m:sty m:val="i"/>
                    </m:rPr>
                    <m:t>n</m:t>
                  </m:r>
                  <m:r>
                    <m:rPr>
                      <m:sty m:val="i"/>
                    </m:rPr>
                    <m:t>k</m:t>
                  </m:r>
                  <m:r>
                    <m:rPr>
                      <m:sty m:val="i"/>
                    </m:rPr>
                    <m:t>h</m:t>
                  </m:r>
                  <m:r>
                    <m:rPr>
                      <m:sty m:val="i"/>
                    </m:rPr>
                    <m:t>o</m:t>
                  </m:r>
                  <m:r>
                    <m:rPr>
                      <m:sty m:val="i"/>
                    </m:rPr>
                    <m:t>ả</m:t>
                  </m:r>
                  <m:r>
                    <m:rPr>
                      <m:sty m:val="i"/>
                    </m:rPr>
                    <m:t>n</m:t>
                  </m:r>
                  <m:r>
                    <m:rPr>
                      <m:sty m:val="i"/>
                    </m:rPr>
                    <m:t>g</m:t>
                  </m:r>
                  <m:r>
                    <m:rPr>
                      <m:sty m:val="i"/>
                    </m:rPr>
                    <m:t>K</m:t>
                  </m:r>
                  <m:r>
                    <m:rPr>
                      <m:sty m:val="i"/>
                    </m:rPr>
                    <m:t>n</m:t>
                  </m:r>
                  <m:r>
                    <m:rPr>
                      <m:sty m:val="i"/>
                    </m:rPr>
                    <m:t>ế</m:t>
                  </m:r>
                  <m:r>
                    <m:rPr>
                      <m:sty m:val="i"/>
                    </m:rPr>
                    <m:t>u</m:t>
                  </m:r>
                  <m:sSup>
                    <m:e>
                      <m:r>
                        <m:rPr>
                          <m:sty m:val="i"/>
                        </m:rPr>
                        <m:t>F</m:t>
                      </m:r>
                    </m:e>
                    <m:sup>
                      <m:r>
                        <m:rPr>
                          <m:sty m:val="i"/>
                        </m:rPr>
                        <m:t>′</m:t>
                      </m:r>
                    </m:sup>
                  </m:sSup>
                  <m:r>
                    <m:rPr>
                      <m:sty m:val="p"/>
                    </m:rPr>
                    <m:t>(</m:t>
                  </m:r>
                  <m:r>
                    <m:rPr>
                      <m:sty m:val="i"/>
                    </m:rPr>
                    <m:t>x</m:t>
                  </m:r>
                  <m:r>
                    <m:rPr>
                      <m:sty m:val="p"/>
                    </m:rPr>
                    <m:t>)</m:t>
                  </m:r>
                  <m:r>
                    <m:rPr>
                      <m:sty m:val="p"/>
                    </m:rPr>
                    <m:t>=</m:t>
                  </m:r>
                  <m:r>
                    <m:rPr>
                      <m:sty m:val="i"/>
                    </m:rPr>
                    <m:t>f</m:t>
                  </m:r>
                  <m:r>
                    <m:rPr>
                      <m:sty m:val="p"/>
                    </m:rPr>
                    <m:t>(</m:t>
                  </m:r>
                  <m:r>
                    <m:rPr>
                      <m:sty m:val="i"/>
                    </m:rPr>
                    <m:t>x</m:t>
                  </m:r>
                  <m:r>
                    <m:rPr>
                      <m:sty m:val="p"/>
                    </m:rPr>
                    <m:t>)</m:t>
                  </m:r>
                  <m:r>
                    <m:rPr>
                      <m:sty m:val="i"/>
                    </m:rPr>
                    <m:t>v</m:t>
                  </m:r>
                  <m:r>
                    <m:rPr>
                      <m:sty m:val="i"/>
                    </m:rPr>
                    <m:t>ớ</m:t>
                  </m:r>
                  <m:r>
                    <m:rPr>
                      <m:sty m:val="i"/>
                    </m:rPr>
                    <m:t>i</m:t>
                  </m:r>
                  <m:r>
                    <m:rPr>
                      <m:sty m:val="i"/>
                    </m:rPr>
                    <m:t>m</m:t>
                  </m:r>
                  <m:r>
                    <m:rPr>
                      <m:sty m:val="i"/>
                    </m:rPr>
                    <m:t>ọ</m:t>
                  </m:r>
                  <m:r>
                    <m:rPr>
                      <m:sty m:val="i"/>
                    </m:rPr>
                    <m:t>i</m:t>
                  </m:r>
                  <m:r>
                    <m:rPr>
                      <m:sty m:val="i"/>
                    </m:rPr>
                    <m:t>x</m:t>
                  </m:r>
                  <m:r>
                    <m:rPr>
                      <m:sty m:val="i"/>
                    </m:rPr>
                    <m:t>t</m:t>
                  </m:r>
                  <m:r>
                    <m:rPr>
                      <m:sty m:val="i"/>
                    </m:rPr>
                    <m:t>h</m:t>
                  </m:r>
                  <m:r>
                    <m:rPr>
                      <m:sty m:val="i"/>
                    </m:rPr>
                    <m:t>u</m:t>
                  </m:r>
                  <m:r>
                    <m:rPr>
                      <m:sty m:val="i"/>
                    </m:rPr>
                    <m:t>ộ</m:t>
                  </m:r>
                  <m:r>
                    <m:rPr>
                      <m:sty m:val="i"/>
                    </m:rPr>
                    <m:t>c</m:t>
                  </m:r>
                  <m:r>
                    <m:rPr>
                      <m:sty m:val="i"/>
                    </m:rPr>
                    <m:t>K</m:t>
                  </m:r>
                  <m:r>
                    <m:rPr>
                      <m:sty m:val="p"/>
                    </m:rPr>
                    <m:t>.</m:t>
                  </m:r>
                  <m:r>
                    <m:rPr>
                      <m:sty m:val="p"/>
                    </m:rPr>
                    <m:t>\newline</m:t>
                  </m:r>
                  <m:r>
                    <m:rPr>
                      <m:sty m:val="p"/>
                    </m:rPr>
                    <m:t>\newline</m:t>
                  </m:r>
                  <m:r>
                    <m:rPr>
                      <m:sty m:val="b"/>
                    </m:rPr>
                    <m:t>2. Định lí:</m:t>
                  </m:r>
                  <m:r>
                    <m:rPr>
                      <m:sty m:val="p"/>
                    </m:rPr>
                    <m:t>\newline</m:t>
                  </m:r>
                  <m:r>
                    <m:rPr>
                      <m:sty m:val="i"/>
                    </m:rPr>
                    <m:t>N</m:t>
                  </m:r>
                  <m:r>
                    <m:rPr>
                      <m:sty m:val="i"/>
                    </m:rPr>
                    <m:t>ế</m:t>
                  </m:r>
                  <m:r>
                    <m:rPr>
                      <m:sty m:val="i"/>
                    </m:rPr>
                    <m:t>u</m:t>
                  </m:r>
                  <m:r>
                    <m:rPr>
                      <m:sty m:val="i"/>
                    </m:rPr>
                    <m:t>F</m:t>
                  </m:r>
                  <m:r>
                    <m:rPr>
                      <m:sty m:val="p"/>
                    </m:rPr>
                    <m:t>(</m:t>
                  </m:r>
                  <m:r>
                    <m:rPr>
                      <m:sty m:val="i"/>
                    </m:rPr>
                    <m:t>x</m:t>
                  </m:r>
                  <m:r>
                    <m:rPr>
                      <m:sty m:val="p"/>
                    </m:rPr>
                    <m:t>)</m:t>
                  </m:r>
                  <m:r>
                    <m:rPr>
                      <m:sty m:val="i"/>
                    </m:rPr>
                    <m:t>l</m:t>
                  </m:r>
                  <m:r>
                    <m:rPr>
                      <m:sty m:val="i"/>
                    </m:rPr>
                    <m:t>à</m:t>
                  </m:r>
                  <m:r>
                    <m:rPr>
                      <m:sty m:val="i"/>
                    </m:rPr>
                    <m:t>m</m:t>
                  </m:r>
                  <m:r>
                    <m:rPr>
                      <m:sty m:val="i"/>
                    </m:rPr>
                    <m:t>ộ</m:t>
                  </m:r>
                  <m:r>
                    <m:rPr>
                      <m:sty m:val="i"/>
                    </m:rPr>
                    <m:t>t</m:t>
                  </m:r>
                  <m:r>
                    <m:rPr>
                      <m:sty m:val="i"/>
                    </m:rPr>
                    <m:t>n</m:t>
                  </m:r>
                  <m:r>
                    <m:rPr>
                      <m:sty m:val="i"/>
                    </m:rPr>
                    <m:t>g</m:t>
                  </m:r>
                  <m:r>
                    <m:rPr>
                      <m:sty m:val="i"/>
                    </m:rPr>
                    <m:t>u</m:t>
                  </m:r>
                  <m:r>
                    <m:rPr>
                      <m:sty m:val="i"/>
                    </m:rPr>
                    <m:t>y</m:t>
                  </m:r>
                  <m:r>
                    <m:rPr>
                      <m:sty m:val="i"/>
                    </m:rPr>
                    <m:t>ê</m:t>
                  </m:r>
                  <m:r>
                    <m:rPr>
                      <m:sty m:val="i"/>
                    </m:rPr>
                    <m:t>n</m:t>
                  </m:r>
                  <m:r>
                    <m:rPr>
                      <m:sty m:val="i"/>
                    </m:rPr>
                    <m:t>h</m:t>
                  </m:r>
                  <m:r>
                    <m:rPr>
                      <m:sty m:val="i"/>
                    </m:rPr>
                    <m:t>à</m:t>
                  </m:r>
                  <m:r>
                    <m:rPr>
                      <m:sty m:val="i"/>
                    </m:rPr>
                    <m:t>m</m:t>
                  </m:r>
                  <m:r>
                    <m:rPr>
                      <m:sty m:val="i"/>
                    </m:rPr>
                    <m:t>c</m:t>
                  </m:r>
                  <m:r>
                    <m:rPr>
                      <m:sty m:val="i"/>
                    </m:rPr>
                    <m:t>ủ</m:t>
                  </m:r>
                  <m:r>
                    <m:rPr>
                      <m:sty m:val="i"/>
                    </m:rPr>
                    <m:t>a</m:t>
                  </m:r>
                  <m:r>
                    <m:rPr>
                      <m:sty m:val="i"/>
                    </m:rPr>
                    <m:t>f</m:t>
                  </m:r>
                  <m:r>
                    <m:rPr>
                      <m:sty m:val="p"/>
                    </m:rPr>
                    <m:t>(</m:t>
                  </m:r>
                  <m:r>
                    <m:rPr>
                      <m:sty m:val="i"/>
                    </m:rPr>
                    <m:t>x</m:t>
                  </m:r>
                  <m:r>
                    <m:rPr>
                      <m:sty m:val="p"/>
                    </m:rPr>
                    <m:t>)</m:t>
                  </m:r>
                  <m:r>
                    <m:rPr>
                      <m:sty m:val="i"/>
                    </m:rPr>
                    <m:t>t</m:t>
                  </m:r>
                  <m:r>
                    <m:rPr>
                      <m:sty m:val="i"/>
                    </m:rPr>
                    <m:t>r</m:t>
                  </m:r>
                  <m:r>
                    <m:rPr>
                      <m:sty m:val="i"/>
                    </m:rPr>
                    <m:t>ê</m:t>
                  </m:r>
                  <m:r>
                    <m:rPr>
                      <m:sty m:val="i"/>
                    </m:rPr>
                    <m:t>n</m:t>
                  </m:r>
                  <m:r>
                    <m:rPr>
                      <m:sty m:val="i"/>
                    </m:rPr>
                    <m:t>K</m:t>
                  </m:r>
                  <m:r>
                    <m:rPr>
                      <m:sty m:val="i"/>
                    </m:rPr>
                    <m:t>t</m:t>
                  </m:r>
                  <m:r>
                    <m:rPr>
                      <m:sty m:val="i"/>
                    </m:rPr>
                    <m:t>h</m:t>
                  </m:r>
                  <m:r>
                    <m:rPr>
                      <m:sty m:val="i"/>
                    </m:rPr>
                    <m:t>ì</m:t>
                  </m:r>
                  <m:r>
                    <m:rPr>
                      <m:sty m:val="i"/>
                    </m:rPr>
                    <m:t>h</m:t>
                  </m:r>
                  <m:r>
                    <m:rPr>
                      <m:sty m:val="i"/>
                    </m:rPr>
                    <m:t>ọ</m:t>
                  </m:r>
                  <m:r>
                    <m:rPr>
                      <m:sty m:val="i"/>
                    </m:rPr>
                    <m:t>t</m:t>
                  </m:r>
                  <m:r>
                    <m:rPr>
                      <m:sty m:val="i"/>
                    </m:rPr>
                    <m:t>ấ</m:t>
                  </m:r>
                  <m:r>
                    <m:rPr>
                      <m:sty m:val="i"/>
                    </m:rPr>
                    <m:t>t</m:t>
                  </m:r>
                  <m:r>
                    <m:rPr>
                      <m:sty m:val="i"/>
                    </m:rPr>
                    <m:t>c</m:t>
                  </m:r>
                  <m:r>
                    <m:rPr>
                      <m:sty m:val="i"/>
                    </m:rPr>
                    <m:t>ả</m:t>
                  </m:r>
                  <m:r>
                    <m:rPr>
                      <m:sty m:val="i"/>
                    </m:rPr>
                    <m:t>c</m:t>
                  </m:r>
                  <m:r>
                    <m:rPr>
                      <m:sty m:val="i"/>
                    </m:rPr>
                    <m:t>á</m:t>
                  </m:r>
                  <m:r>
                    <m:rPr>
                      <m:sty m:val="i"/>
                    </m:rPr>
                    <m:t>c</m:t>
                  </m:r>
                  <m:r>
                    <m:rPr>
                      <m:sty m:val="i"/>
                    </m:rPr>
                    <m:t>n</m:t>
                  </m:r>
                  <m:r>
                    <m:rPr>
                      <m:sty m:val="i"/>
                    </m:rPr>
                    <m:t>g</m:t>
                  </m:r>
                  <m:r>
                    <m:rPr>
                      <m:sty m:val="i"/>
                    </m:rPr>
                    <m:t>u</m:t>
                  </m:r>
                  <m:r>
                    <m:rPr>
                      <m:sty m:val="i"/>
                    </m:rPr>
                    <m:t>y</m:t>
                  </m:r>
                  <m:r>
                    <m:rPr>
                      <m:sty m:val="i"/>
                    </m:rPr>
                    <m:t>ê</m:t>
                  </m:r>
                  <m:r>
                    <m:rPr>
                      <m:sty m:val="i"/>
                    </m:rPr>
                    <m:t>n</m:t>
                  </m:r>
                  <m:r>
                    <m:rPr>
                      <m:sty m:val="i"/>
                    </m:rPr>
                    <m:t>h</m:t>
                  </m:r>
                  <m:r>
                    <m:rPr>
                      <m:sty m:val="i"/>
                    </m:rPr>
                    <m:t>à</m:t>
                  </m:r>
                  <m:r>
                    <m:rPr>
                      <m:sty m:val="i"/>
                    </m:rPr>
                    <m:t>m</m:t>
                  </m:r>
                  <m:r>
                    <m:rPr>
                      <m:sty m:val="i"/>
                    </m:rPr>
                    <m:t>c</m:t>
                  </m:r>
                  <m:r>
                    <m:rPr>
                      <m:sty m:val="i"/>
                    </m:rPr>
                    <m:t>ủ</m:t>
                  </m:r>
                  <m:r>
                    <m:rPr>
                      <m:sty m:val="i"/>
                    </m:rPr>
                    <m:t>a</m:t>
                  </m:r>
                  <m:r>
                    <m:rPr>
                      <m:sty m:val="i"/>
                    </m:rPr>
                    <m:t>f</m:t>
                  </m:r>
                  <m:r>
                    <m:rPr>
                      <m:sty m:val="p"/>
                    </m:rPr>
                    <m:t>(</m:t>
                  </m:r>
                  <m:r>
                    <m:rPr>
                      <m:sty m:val="i"/>
                    </m:rPr>
                    <m:t>x</m:t>
                  </m:r>
                  <m:r>
                    <m:rPr>
                      <m:sty m:val="p"/>
                    </m:rPr>
                    <m:t>)</m:t>
                  </m:r>
                  <m:r>
                    <m:rPr>
                      <m:sty m:val="i"/>
                    </m:rPr>
                    <m:t>t</m:t>
                  </m:r>
                  <m:r>
                    <m:rPr>
                      <m:sty m:val="i"/>
                    </m:rPr>
                    <m:t>r</m:t>
                  </m:r>
                  <m:r>
                    <m:rPr>
                      <m:sty m:val="i"/>
                    </m:rPr>
                    <m:t>ê</m:t>
                  </m:r>
                  <m:r>
                    <m:rPr>
                      <m:sty m:val="i"/>
                    </m:rPr>
                    <m:t>n</m:t>
                  </m:r>
                  <m:r>
                    <m:rPr>
                      <m:sty m:val="i"/>
                    </m:rPr>
                    <m:t>K</m:t>
                  </m:r>
                  <m:r>
                    <m:rPr>
                      <m:sty m:val="i"/>
                    </m:rPr>
                    <m:t>l</m:t>
                  </m:r>
                  <m:r>
                    <m:rPr>
                      <m:sty m:val="i"/>
                    </m:rPr>
                    <m:t>à</m:t>
                  </m:r>
                  <m:r>
                    <m:rPr>
                      <m:sty m:val="i"/>
                    </m:rPr>
                    <m:t>F</m:t>
                  </m:r>
                  <m:r>
                    <m:rPr>
                      <m:sty m:val="p"/>
                    </m:rPr>
                    <m:t>(</m:t>
                  </m:r>
                  <m:r>
                    <m:rPr>
                      <m:sty m:val="i"/>
                    </m:rPr>
                    <m:t>x</m:t>
                  </m:r>
                  <m:r>
                    <m:rPr>
                      <m:sty m:val="p"/>
                    </m:rPr>
                    <m:t>)</m:t>
                  </m:r>
                  <m:r>
                    <m:rPr>
                      <m:sty m:val="p"/>
                    </m:rPr>
                    <m:t>+</m:t>
                  </m:r>
                  <m:r>
                    <m:rPr>
                      <m:sty m:val="i"/>
                    </m:rPr>
                    <m:t>C</m:t>
                  </m:r>
                  <m:r>
                    <m:rPr>
                      <m:sty m:val="p"/>
                    </m:rPr>
                    <m:t>,</m:t>
                  </m:r>
                  <m:r>
                    <m:rPr>
                      <m:sty m:val="i"/>
                    </m:rPr>
                    <m:t>v</m:t>
                  </m:r>
                  <m:r>
                    <m:rPr>
                      <m:sty m:val="i"/>
                    </m:rPr>
                    <m:t>ớ</m:t>
                  </m:r>
                  <m:r>
                    <m:rPr>
                      <m:sty m:val="i"/>
                    </m:rPr>
                    <m:t>i</m:t>
                  </m:r>
                  <m:r>
                    <m:rPr>
                      <m:sty m:val="i"/>
                    </m:rPr>
                    <m:t>C</m:t>
                  </m:r>
                  <m:r>
                    <m:rPr>
                      <m:sty m:val="i"/>
                    </m:rPr>
                    <m:t>l</m:t>
                  </m:r>
                  <m:r>
                    <m:rPr>
                      <m:sty m:val="i"/>
                    </m:rPr>
                    <m:t>à</m:t>
                  </m:r>
                  <m:r>
                    <m:rPr>
                      <m:sty m:val="i"/>
                    </m:rPr>
                    <m:t>h</m:t>
                  </m:r>
                  <m:r>
                    <m:rPr>
                      <m:sty m:val="i"/>
                    </m:rPr>
                    <m:t>ằ</m:t>
                  </m:r>
                  <m:r>
                    <m:rPr>
                      <m:sty m:val="i"/>
                    </m:rPr>
                    <m:t>n</m:t>
                  </m:r>
                  <m:r>
                    <m:rPr>
                      <m:sty m:val="i"/>
                    </m:rPr>
                    <m:t>g</m:t>
                  </m:r>
                  <m:r>
                    <m:rPr>
                      <m:sty m:val="i"/>
                    </m:rPr>
                    <m:t>s</m:t>
                  </m:r>
                  <m:r>
                    <m:rPr>
                      <m:sty m:val="i"/>
                    </m:rPr>
                    <m:t>ố</m:t>
                  </m:r>
                  <m:r>
                    <m:rPr>
                      <m:sty m:val="p"/>
                    </m:rPr>
                    <m:t>.</m:t>
                  </m:r>
                </m:e>
              </m:box>
            </m:oMath>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Bảng Nguyên hàm cơ bản</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Dựa vào bảng đạo hàm cơ bản, hãy xây dựng bảng nguyên hàm cơ bản của các hàm số thường gặp.</a:t>
            </a:r>
          </a:p>
          <a:p>
            <a:pPr>
              <a:spcBef>
                <a:spcPts val="1500"/>
              </a:spcBef>
              <a:spcAft>
                <a:spcPts val="1000"/>
              </a:spcAft>
            </a:pPr>
            <a:r>
              <a:rPr b="1" sz="2000">
                <a:solidFill>
                  <a:srgbClr val="0066CC"/>
                </a:solidFill>
                <a:latin typeface="Times New Roman"/>
              </a:rPr>
              <a:t>Công thức trọng tâm:  </a:t>
            </a:r>
            <m:oMath xmlns:m="http://schemas.openxmlformats.org/officeDocument/2006/math">
              <m:box>
                <m:e>
                  <m:m>
                    <m:mr>
                      <m:e>
                        <m:box>
                          <m:e>
                            <m:r>
                              <m:rPr>
                                <m:nor/>
                              </m:rPr>
                              <m:t>Hàm số </m:t>
                            </m:r>
                            <m:r>
                              <m:rPr>
                                <m:sty m:val="i"/>
                              </m:rPr>
                              <m:t>f</m:t>
                            </m:r>
                            <m:r>
                              <m:rPr>
                                <m:sty m:val="p"/>
                              </m:rPr>
                              <m:t>(</m:t>
                            </m:r>
                            <m:r>
                              <m:rPr>
                                <m:sty m:val="i"/>
                              </m:rPr>
                              <m:t>x</m:t>
                            </m:r>
                            <m:r>
                              <m:rPr>
                                <m:sty m:val="p"/>
                              </m:rPr>
                              <m:t>)</m:t>
                            </m:r>
                          </m:e>
                        </m:box>
                      </m:e>
                      <m:e>
                        <m:box>
                          <m:e>
                            <m:r>
                              <m:rPr>
                                <m:nor/>
                              </m:rPr>
                              <m:t>Nguyên hàm </m:t>
                            </m:r>
                            <m:r>
                              <m:rPr>
                                <m:sty m:val="p"/>
                              </m:rPr>
                              <m:t>∫</m:t>
                            </m:r>
                            <m:r>
                              <m:rPr>
                                <m:sty m:val="i"/>
                              </m:rPr>
                              <m:t>f</m:t>
                            </m:r>
                            <m:r>
                              <m:rPr>
                                <m:sty m:val="p"/>
                              </m:rPr>
                              <m:t>(</m:t>
                            </m:r>
                            <m:r>
                              <m:rPr>
                                <m:sty m:val="i"/>
                              </m:rPr>
                              <m:t>x</m:t>
                            </m:r>
                            <m:r>
                              <m:rPr>
                                <m:sty m:val="p"/>
                              </m:rPr>
                              <m:t>)</m:t>
                            </m:r>
                            <m:r>
                              <m:rPr>
                                <m:sty m:val="i"/>
                              </m:rPr>
                              <m:t>d</m:t>
                            </m:r>
                            <m:r>
                              <m:rPr>
                                <m:sty m:val="i"/>
                              </m:rPr>
                              <m:t>x</m:t>
                            </m:r>
                          </m:e>
                        </m:box>
                      </m:e>
                    </m:mr>
                    <m:mr>
                      <m:e>
                        <m:box>
                          <m:e>
                            <m:r>
                              <m:rPr>
                                <m:sty m:val="p"/>
                              </m:rPr>
                              <m:t>0</m:t>
                            </m:r>
                          </m:e>
                        </m:box>
                      </m:e>
                      <m:e>
                        <m:box>
                          <m:e>
                            <m:r>
                              <m:rPr>
                                <m:sty m:val="i"/>
                              </m:rPr>
                              <m:t>C</m:t>
                            </m:r>
                          </m:e>
                        </m:box>
                      </m:e>
                    </m:mr>
                    <m:mr>
                      <m:e>
                        <m:box>
                          <m:e>
                            <m:r>
                              <m:rPr>
                                <m:sty m:val="i"/>
                              </m:rPr>
                              <m:t>k</m:t>
                            </m:r>
                          </m:e>
                        </m:box>
                      </m:e>
                      <m:e>
                        <m:box>
                          <m:e>
                            <m:r>
                              <m:rPr>
                                <m:sty m:val="i"/>
                              </m:rPr>
                              <m:t>k</m:t>
                            </m:r>
                            <m:r>
                              <m:rPr>
                                <m:sty m:val="i"/>
                              </m:rPr>
                              <m:t>x</m:t>
                            </m:r>
                            <m:r>
                              <m:rPr>
                                <m:sty m:val="p"/>
                              </m:rPr>
                              <m:t>+</m:t>
                            </m:r>
                            <m:r>
                              <m:rPr>
                                <m:sty m:val="i"/>
                              </m:rPr>
                              <m:t>C</m:t>
                            </m:r>
                          </m:e>
                        </m:box>
                      </m:e>
                    </m:mr>
                    <m:mr>
                      <m:e>
                        <m:box>
                          <m:e>
                            <m:sSup>
                              <m:e>
                                <m:r>
                                  <m:rPr>
                                    <m:sty m:val="i"/>
                                  </m:rPr>
                                  <m:t>x</m:t>
                                </m:r>
                              </m:e>
                              <m:sup>
                                <m:r>
                                  <m:rPr>
                                    <m:sty m:val="i"/>
                                  </m:rPr>
                                  <m:t>n</m:t>
                                </m:r>
                              </m:sup>
                            </m:sSup>
                            <m:r>
                              <m:t/>
                            </m:r>
                            <m:r>
                              <m:rPr>
                                <m:sty m:val="p"/>
                              </m:rPr>
                              <m:t>(</m:t>
                            </m:r>
                            <m:r>
                              <m:rPr>
                                <m:sty m:val="i"/>
                              </m:rPr>
                              <m:t>n</m:t>
                            </m:r>
                            <m:r>
                              <m:rPr>
                                <m:sty m:val="p"/>
                              </m:rPr>
                              <m:t>≠</m:t>
                            </m:r>
                            <m:r>
                              <m:rPr>
                                <m:sty m:val="p"/>
                              </m:rPr>
                              <m:t>−</m:t>
                            </m:r>
                            <m:r>
                              <m:rPr>
                                <m:sty m:val="p"/>
                              </m:rPr>
                              <m:t>1</m:t>
                            </m:r>
                            <m:r>
                              <m:rPr>
                                <m:sty m:val="p"/>
                              </m:rPr>
                              <m:t>)</m:t>
                            </m:r>
                          </m:e>
                        </m:box>
                      </m:e>
                      <m:e>
                        <m:box>
                          <m:e>
                            <m:f>
                              <m:num>
                                <m:box>
                                  <m:e>
                                    <m:sSup>
                                      <m:e>
                                        <m:r>
                                          <m:rPr>
                                            <m:sty m:val="i"/>
                                          </m:rPr>
                                          <m:t>x</m:t>
                                        </m:r>
                                      </m:e>
                                      <m:sup>
                                        <m:box>
                                          <m:e>
                                            <m:r>
                                              <m:rPr>
                                                <m:sty m:val="i"/>
                                              </m:rPr>
                                              <m:t>n</m:t>
                                            </m:r>
                                            <m:r>
                                              <m:rPr>
                                                <m:sty m:val="p"/>
                                              </m:rPr>
                                              <m:t>+</m:t>
                                            </m:r>
                                            <m:r>
                                              <m:rPr>
                                                <m:sty m:val="p"/>
                                              </m:rPr>
                                              <m:t>1</m:t>
                                            </m:r>
                                          </m:e>
                                        </m:box>
                                      </m:sup>
                                    </m:sSup>
                                  </m:e>
                                </m:box>
                              </m:num>
                              <m:den>
                                <m:box>
                                  <m:e>
                                    <m:r>
                                      <m:rPr>
                                        <m:sty m:val="i"/>
                                      </m:rPr>
                                      <m:t>n</m:t>
                                    </m:r>
                                    <m:r>
                                      <m:rPr>
                                        <m:sty m:val="p"/>
                                      </m:rPr>
                                      <m:t>+</m:t>
                                    </m:r>
                                    <m:r>
                                      <m:rPr>
                                        <m:sty m:val="p"/>
                                      </m:rPr>
                                      <m:t>1</m:t>
                                    </m:r>
                                  </m:e>
                                </m:box>
                              </m:den>
                            </m:f>
                            <m:r>
                              <m:rPr>
                                <m:sty m:val="p"/>
                              </m:rPr>
                              <m:t>+</m:t>
                            </m:r>
                            <m:r>
                              <m:rPr>
                                <m:sty m:val="i"/>
                              </m:rPr>
                              <m:t>C</m:t>
                            </m:r>
                          </m:e>
                        </m:box>
                      </m:e>
                    </m:mr>
                    <m:mr>
                      <m:e>
                        <m:box>
                          <m:e>
                            <m:f>
                              <m:num>
                                <m:box>
                                  <m:e>
                                    <m:r>
                                      <m:rPr>
                                        <m:sty m:val="p"/>
                                      </m:rPr>
                                      <m:t>1</m:t>
                                    </m:r>
                                  </m:e>
                                </m:box>
                              </m:num>
                              <m:den>
                                <m:box>
                                  <m:e>
                                    <m:r>
                                      <m:rPr>
                                        <m:sty m:val="i"/>
                                      </m:rPr>
                                      <m:t>x</m:t>
                                    </m:r>
                                  </m:e>
                                </m:box>
                              </m:den>
                            </m:f>
                            <m:r>
                              <m:t/>
                            </m:r>
                            <m:r>
                              <m:rPr>
                                <m:sty m:val="p"/>
                              </m:rPr>
                              <m:t>(</m:t>
                            </m:r>
                            <m:r>
                              <m:rPr>
                                <m:sty m:val="i"/>
                              </m:rPr>
                              <m:t>x</m:t>
                            </m:r>
                            <m:r>
                              <m:rPr>
                                <m:sty m:val="p"/>
                              </m:rPr>
                              <m:t>≠</m:t>
                            </m:r>
                            <m:r>
                              <m:rPr>
                                <m:sty m:val="p"/>
                              </m:rPr>
                              <m:t>0</m:t>
                            </m:r>
                            <m:r>
                              <m:rPr>
                                <m:sty m:val="p"/>
                              </m:rPr>
                              <m:t>)</m:t>
                            </m:r>
                          </m:e>
                        </m:box>
                      </m:e>
                      <m:e>
                        <m:box>
                          <m:e>
                            <m:r>
                              <m:rPr>
                                <m:sty m:val="p"/>
                              </m:rPr>
                              <m:t>ln</m:t>
                            </m:r>
                            <m:r>
                              <m:rPr>
                                <m:sty m:val="p"/>
                              </m:rPr>
                              <m:t>|</m:t>
                            </m:r>
                            <m:r>
                              <m:rPr>
                                <m:sty m:val="i"/>
                              </m:rPr>
                              <m:t>x</m:t>
                            </m:r>
                            <m:r>
                              <m:rPr>
                                <m:sty m:val="p"/>
                              </m:rPr>
                              <m:t>|</m:t>
                            </m:r>
                            <m:r>
                              <m:rPr>
                                <m:sty m:val="p"/>
                              </m:rPr>
                              <m:t>+</m:t>
                            </m:r>
                            <m:r>
                              <m:rPr>
                                <m:sty m:val="i"/>
                              </m:rPr>
                              <m:t>C</m:t>
                            </m:r>
                          </m:e>
                        </m:box>
                      </m:e>
                    </m:mr>
                    <m:mr>
                      <m:e>
                        <m:box>
                          <m:e>
                            <m:sSup>
                              <m:e>
                                <m:r>
                                  <m:rPr>
                                    <m:sty m:val="i"/>
                                  </m:rPr>
                                  <m:t>e</m:t>
                                </m:r>
                              </m:e>
                              <m:sup>
                                <m:r>
                                  <m:rPr>
                                    <m:sty m:val="i"/>
                                  </m:rPr>
                                  <m:t>x</m:t>
                                </m:r>
                              </m:sup>
                            </m:sSup>
                          </m:e>
                        </m:box>
                      </m:e>
                      <m:e>
                        <m:box>
                          <m:e>
                            <m:sSup>
                              <m:e>
                                <m:r>
                                  <m:rPr>
                                    <m:sty m:val="i"/>
                                  </m:rPr>
                                  <m:t>e</m:t>
                                </m:r>
                              </m:e>
                              <m:sup>
                                <m:r>
                                  <m:rPr>
                                    <m:sty m:val="i"/>
                                  </m:rPr>
                                  <m:t>x</m:t>
                                </m:r>
                              </m:sup>
                            </m:sSup>
                            <m:r>
                              <m:rPr>
                                <m:sty m:val="p"/>
                              </m:rPr>
                              <m:t>+</m:t>
                            </m:r>
                            <m:r>
                              <m:rPr>
                                <m:sty m:val="i"/>
                              </m:rPr>
                              <m:t>C</m:t>
                            </m:r>
                          </m:e>
                        </m:box>
                      </m:e>
                    </m:mr>
                    <m:mr>
                      <m:e>
                        <m:box>
                          <m:e>
                            <m:sSup>
                              <m:e>
                                <m:r>
                                  <m:rPr>
                                    <m:sty m:val="i"/>
                                  </m:rPr>
                                  <m:t>a</m:t>
                                </m:r>
                              </m:e>
                              <m:sup>
                                <m:r>
                                  <m:rPr>
                                    <m:sty m:val="i"/>
                                  </m:rPr>
                                  <m:t>x</m:t>
                                </m:r>
                              </m:sup>
                            </m:sSup>
                            <m:r>
                              <m:t/>
                            </m:r>
                            <m:r>
                              <m:rPr>
                                <m:sty m:val="p"/>
                              </m:rPr>
                              <m:t>(</m:t>
                            </m:r>
                            <m:r>
                              <m:rPr>
                                <m:sty m:val="i"/>
                              </m:rPr>
                              <m:t>a</m:t>
                            </m:r>
                            <m:r>
                              <m:rPr>
                                <m:sty m:val="p"/>
                              </m:rPr>
                              <m:t>&gt;</m:t>
                            </m:r>
                            <m:r>
                              <m:rPr>
                                <m:sty m:val="p"/>
                              </m:rPr>
                              <m:t>0</m:t>
                            </m:r>
                            <m:r>
                              <m:rPr>
                                <m:sty m:val="p"/>
                              </m:rPr>
                              <m:t>,</m:t>
                            </m:r>
                            <m:r>
                              <m:rPr>
                                <m:sty m:val="i"/>
                              </m:rPr>
                              <m:t>a</m:t>
                            </m:r>
                            <m:r>
                              <m:rPr>
                                <m:sty m:val="p"/>
                              </m:rPr>
                              <m:t>≠</m:t>
                            </m:r>
                            <m:r>
                              <m:rPr>
                                <m:sty m:val="p"/>
                              </m:rPr>
                              <m:t>1</m:t>
                            </m:r>
                            <m:r>
                              <m:rPr>
                                <m:sty m:val="p"/>
                              </m:rPr>
                              <m:t>)</m:t>
                            </m:r>
                          </m:e>
                        </m:box>
                      </m:e>
                      <m:e>
                        <m:box>
                          <m:e>
                            <m:f>
                              <m:num>
                                <m:box>
                                  <m:e>
                                    <m:sSup>
                                      <m:e>
                                        <m:r>
                                          <m:rPr>
                                            <m:sty m:val="i"/>
                                          </m:rPr>
                                          <m:t>a</m:t>
                                        </m:r>
                                      </m:e>
                                      <m:sup>
                                        <m:r>
                                          <m:rPr>
                                            <m:sty m:val="i"/>
                                          </m:rPr>
                                          <m:t>x</m:t>
                                        </m:r>
                                      </m:sup>
                                    </m:sSup>
                                  </m:e>
                                </m:box>
                              </m:num>
                              <m:den>
                                <m:box>
                                  <m:e>
                                    <m:r>
                                      <m:rPr>
                                        <m:sty m:val="p"/>
                                      </m:rPr>
                                      <m:t>ln</m:t>
                                    </m:r>
                                    <m:r>
                                      <m:rPr>
                                        <m:sty m:val="i"/>
                                      </m:rPr>
                                      <m:t>a</m:t>
                                    </m:r>
                                  </m:e>
                                </m:box>
                              </m:den>
                            </m:f>
                            <m:r>
                              <m:rPr>
                                <m:sty m:val="p"/>
                              </m:rPr>
                              <m:t>+</m:t>
                            </m:r>
                            <m:r>
                              <m:rPr>
                                <m:sty m:val="i"/>
                              </m:rPr>
                              <m:t>C</m:t>
                            </m:r>
                          </m:e>
                        </m:box>
                      </m:e>
                    </m:mr>
                    <m:mr>
                      <m:e>
                        <m:box>
                          <m:e>
                            <m:r>
                              <m:rPr>
                                <m:sty m:val="p"/>
                              </m:rPr>
                              <m:t>cos</m:t>
                            </m:r>
                            <m:r>
                              <m:rPr>
                                <m:sty m:val="i"/>
                              </m:rPr>
                              <m:t>x</m:t>
                            </m:r>
                          </m:e>
                        </m:box>
                      </m:e>
                      <m:e>
                        <m:box>
                          <m:e>
                            <m:r>
                              <m:rPr>
                                <m:sty m:val="p"/>
                              </m:rPr>
                              <m:t>sin</m:t>
                            </m:r>
                            <m:r>
                              <m:rPr>
                                <m:sty m:val="i"/>
                              </m:rPr>
                              <m:t>x</m:t>
                            </m:r>
                            <m:r>
                              <m:rPr>
                                <m:sty m:val="p"/>
                              </m:rPr>
                              <m:t>+</m:t>
                            </m:r>
                            <m:r>
                              <m:rPr>
                                <m:sty m:val="i"/>
                              </m:rPr>
                              <m:t>C</m:t>
                            </m:r>
                          </m:e>
                        </m:box>
                      </m:e>
                    </m:mr>
                    <m:mr>
                      <m:e>
                        <m:box>
                          <m:e>
                            <m:r>
                              <m:rPr>
                                <m:sty m:val="p"/>
                              </m:rPr>
                              <m:t>sin</m:t>
                            </m:r>
                            <m:r>
                              <m:rPr>
                                <m:sty m:val="i"/>
                              </m:rPr>
                              <m:t>x</m:t>
                            </m:r>
                          </m:e>
                        </m:box>
                      </m:e>
                      <m:e>
                        <m:box>
                          <m:e>
                            <m:r>
                              <m:rPr>
                                <m:sty m:val="p"/>
                              </m:rPr>
                              <m:t>−</m:t>
                            </m:r>
                            <m:r>
                              <m:rPr>
                                <m:sty m:val="p"/>
                              </m:rPr>
                              <m:t>cos</m:t>
                            </m:r>
                            <m:r>
                              <m:rPr>
                                <m:sty m:val="i"/>
                              </m:rPr>
                              <m:t>x</m:t>
                            </m:r>
                            <m:r>
                              <m:rPr>
                                <m:sty m:val="p"/>
                              </m:rPr>
                              <m:t>+</m:t>
                            </m:r>
                            <m:r>
                              <m:rPr>
                                <m:sty m:val="i"/>
                              </m:rPr>
                              <m:t>C</m:t>
                            </m:r>
                          </m:e>
                        </m:box>
                      </m:e>
                    </m:mr>
                    <m:mr>
                      <m:e>
                        <m:box>
                          <m:e>
                            <m:f>
                              <m:num>
                                <m:box>
                                  <m:e>
                                    <m:r>
                                      <m:rPr>
                                        <m:sty m:val="p"/>
                                      </m:rPr>
                                      <m:t>1</m:t>
                                    </m:r>
                                  </m:e>
                                </m:box>
                              </m:num>
                              <m:den>
                                <m:box>
                                  <m:e>
                                    <m:sSup>
                                      <m:e>
                                        <m:r>
                                          <m:rPr>
                                            <m:sty m:val="p"/>
                                          </m:rPr>
                                          <m:t>cos</m:t>
                                        </m:r>
                                      </m:e>
                                      <m:sup>
                                        <m:r>
                                          <m:rPr>
                                            <m:sty m:val="p"/>
                                          </m:rPr>
                                          <m:t>2</m:t>
                                        </m:r>
                                      </m:sup>
                                    </m:sSup>
                                    <m:r>
                                      <m:rPr>
                                        <m:sty m:val="i"/>
                                      </m:rPr>
                                      <m:t>x</m:t>
                                    </m:r>
                                  </m:e>
                                </m:box>
                              </m:den>
                            </m:f>
                          </m:e>
                        </m:box>
                      </m:e>
                      <m:e>
                        <m:box>
                          <m:e>
                            <m:r>
                              <m:rPr>
                                <m:sty m:val="p"/>
                              </m:rPr>
                              <m:t>tan</m:t>
                            </m:r>
                            <m:r>
                              <m:rPr>
                                <m:sty m:val="i"/>
                              </m:rPr>
                              <m:t>x</m:t>
                            </m:r>
                            <m:r>
                              <m:rPr>
                                <m:sty m:val="p"/>
                              </m:rPr>
                              <m:t>+</m:t>
                            </m:r>
                            <m:r>
                              <m:rPr>
                                <m:sty m:val="i"/>
                              </m:rPr>
                              <m:t>C</m:t>
                            </m:r>
                          </m:e>
                        </m:box>
                      </m:e>
                    </m:mr>
                    <m:mr>
                      <m:e>
                        <m:box>
                          <m:e>
                            <m:f>
                              <m:num>
                                <m:box>
                                  <m:e>
                                    <m:r>
                                      <m:rPr>
                                        <m:sty m:val="p"/>
                                      </m:rPr>
                                      <m:t>1</m:t>
                                    </m:r>
                                  </m:e>
                                </m:box>
                              </m:num>
                              <m:den>
                                <m:box>
                                  <m:e>
                                    <m:sSup>
                                      <m:e>
                                        <m:r>
                                          <m:rPr>
                                            <m:sty m:val="p"/>
                                          </m:rPr>
                                          <m:t>sin</m:t>
                                        </m:r>
                                      </m:e>
                                      <m:sup>
                                        <m:r>
                                          <m:rPr>
                                            <m:sty m:val="p"/>
                                          </m:rPr>
                                          <m:t>2</m:t>
                                        </m:r>
                                      </m:sup>
                                    </m:sSup>
                                    <m:r>
                                      <m:rPr>
                                        <m:sty m:val="i"/>
                                      </m:rPr>
                                      <m:t>x</m:t>
                                    </m:r>
                                  </m:e>
                                </m:box>
                              </m:den>
                            </m:f>
                          </m:e>
                        </m:box>
                      </m:e>
                      <m:e>
                        <m:box>
                          <m:e>
                            <m:r>
                              <m:rPr>
                                <m:sty m:val="p"/>
                              </m:rPr>
                              <m:t>−</m:t>
                            </m:r>
                            <m:r>
                              <m:rPr>
                                <m:sty m:val="p"/>
                              </m:rPr>
                              <m:t>cot</m:t>
                            </m:r>
                            <m:r>
                              <m:rPr>
                                <m:sty m:val="i"/>
                              </m:rPr>
                              <m:t>x</m:t>
                            </m:r>
                            <m:r>
                              <m:rPr>
                                <m:sty m:val="p"/>
                              </m:rPr>
                              <m:t>+</m:t>
                            </m:r>
                            <m:r>
                              <m:rPr>
                                <m:sty m:val="i"/>
                              </m:rPr>
                              <m:t>C</m:t>
                            </m:r>
                          </m:e>
                        </m:box>
                      </m:e>
                    </m:mr>
                  </m:m>
                </m:e>
              </m:box>
            </m:oMath>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Tính chất của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Từ các tính chất của đạo hàm, hãy suy ra các tính chất của nguyên hàm.</a:t>
            </a:r>
          </a:p>
          <a:p>
            <a:pPr>
              <a:spcAft>
                <a:spcPts val="1000"/>
              </a:spcAft>
            </a:pPr>
            <a:r>
              <a:rPr sz="1800">
                <a:solidFill>
                  <a:srgbClr val="2C3E50"/>
                </a:solidFill>
                <a:latin typeface="Times New Roman"/>
              </a:rPr>
              <a:t>•  Nguyên hàm của một tổng/hiệu có quan hệ gì với tổng/hiệu các nguyên hàm?</a:t>
            </a:r>
          </a:p>
          <a:p>
            <a:pPr>
              <a:spcAft>
                <a:spcPts val="1000"/>
              </a:spcAft>
            </a:pPr>
            <a:r>
              <a:rPr sz="1800">
                <a:solidFill>
                  <a:srgbClr val="2C3E50"/>
                </a:solidFill>
                <a:latin typeface="Times New Roman"/>
              </a:rPr>
              <a:t>•  Nguyên hàm của một hằng số nhân với hàm số?</a:t>
            </a:r>
          </a:p>
          <a:p>
            <a:pPr>
              <a:spcBef>
                <a:spcPts val="1500"/>
              </a:spcBef>
              <a:spcAft>
                <a:spcPts val="1000"/>
              </a:spcAft>
            </a:pPr>
            <a:r>
              <a:rPr b="1" sz="2000">
                <a:solidFill>
                  <a:srgbClr val="0066CC"/>
                </a:solidFill>
                <a:latin typeface="Times New Roman"/>
              </a:rPr>
              <a:t>Công thức trọng tâm:  </a:t>
            </a:r>
            <m:oMath xmlns:m="http://schemas.openxmlformats.org/officeDocument/2006/math">
              <m:box>
                <m:e>
                  <m:r>
                    <m:rPr>
                      <m:nor/>
                    </m:rPr>
                    <m:t>Cho </m:t>
                  </m:r>
                  <m:r>
                    <m:rPr>
                      <m:sty m:val="i"/>
                    </m:rPr>
                    <m:t>f</m:t>
                  </m:r>
                  <m:r>
                    <m:rPr>
                      <m:sty m:val="p"/>
                    </m:rPr>
                    <m:t>(</m:t>
                  </m:r>
                  <m:r>
                    <m:rPr>
                      <m:sty m:val="i"/>
                    </m:rPr>
                    <m:t>x</m:t>
                  </m:r>
                  <m:r>
                    <m:rPr>
                      <m:sty m:val="p"/>
                    </m:rPr>
                    <m:t>)</m:t>
                  </m:r>
                  <m:r>
                    <m:rPr>
                      <m:sty m:val="p"/>
                    </m:rPr>
                    <m:t>,</m:t>
                  </m:r>
                  <m:r>
                    <m:rPr>
                      <m:sty m:val="i"/>
                    </m:rPr>
                    <m:t>g</m:t>
                  </m:r>
                  <m:r>
                    <m:rPr>
                      <m:sty m:val="p"/>
                    </m:rPr>
                    <m:t>(</m:t>
                  </m:r>
                  <m:r>
                    <m:rPr>
                      <m:sty m:val="i"/>
                    </m:rPr>
                    <m:t>x</m:t>
                  </m:r>
                  <m:r>
                    <m:rPr>
                      <m:sty m:val="p"/>
                    </m:rPr>
                    <m:t>)</m:t>
                  </m:r>
                  <m:r>
                    <m:rPr>
                      <m:nor/>
                    </m:rPr>
                    <m:t> là các hàm số có nguyên hàm trên K và </m:t>
                  </m:r>
                  <m:r>
                    <m:rPr>
                      <m:sty m:val="i"/>
                    </m:rPr>
                    <m:t>k</m:t>
                  </m:r>
                  <m:r>
                    <m:rPr>
                      <m:nor/>
                    </m:rPr>
                    <m:t> là hằng số.</m:t>
                  </m:r>
                  <m:r>
                    <m:rPr>
                      <m:sty m:val="p"/>
                    </m:rPr>
                    <m:t>\newline</m:t>
                  </m:r>
                  <m:r>
                    <m:rPr>
                      <m:sty m:val="p"/>
                    </m:rPr>
                    <m:t>\newline</m:t>
                  </m:r>
                  <m:r>
                    <m:rPr>
                      <m:sty m:val="b"/>
                    </m:rPr>
                    <m:t>1. </m:t>
                  </m:r>
                  <m:r>
                    <m:rPr>
                      <m:sty m:val="p"/>
                    </m:rPr>
                    <m:t>∫</m:t>
                  </m:r>
                  <m:r>
                    <m:rPr>
                      <m:sty m:val="i"/>
                    </m:rPr>
                    <m:t>k</m:t>
                  </m:r>
                  <m:r>
                    <m:rPr>
                      <m:sty m:val="p"/>
                    </m:rPr>
                    <m:t>·</m:t>
                  </m:r>
                  <m:r>
                    <m:rPr>
                      <m:sty m:val="i"/>
                    </m:rPr>
                    <m:t>f</m:t>
                  </m:r>
                  <m:r>
                    <m:rPr>
                      <m:sty m:val="p"/>
                    </m:rPr>
                    <m:t>(</m:t>
                  </m:r>
                  <m:r>
                    <m:rPr>
                      <m:sty m:val="i"/>
                    </m:rPr>
                    <m:t>x</m:t>
                  </m:r>
                  <m:r>
                    <m:rPr>
                      <m:sty m:val="p"/>
                    </m:rPr>
                    <m:t>)</m:t>
                  </m:r>
                  <m:r>
                    <m:rPr>
                      <m:sty m:val="i"/>
                    </m:rPr>
                    <m:t>d</m:t>
                  </m:r>
                  <m:r>
                    <m:rPr>
                      <m:sty m:val="i"/>
                    </m:rPr>
                    <m:t>x</m:t>
                  </m:r>
                  <m:r>
                    <m:rPr>
                      <m:sty m:val="p"/>
                    </m:rPr>
                    <m:t>=</m:t>
                  </m:r>
                  <m:r>
                    <m:rPr>
                      <m:sty m:val="i"/>
                    </m:rPr>
                    <m:t>k</m:t>
                  </m:r>
                  <m:r>
                    <m:rPr>
                      <m:sty m:val="p"/>
                    </m:rPr>
                    <m:t>∫</m:t>
                  </m:r>
                  <m:r>
                    <m:rPr>
                      <m:sty m:val="i"/>
                    </m:rPr>
                    <m:t>f</m:t>
                  </m:r>
                  <m:r>
                    <m:rPr>
                      <m:sty m:val="p"/>
                    </m:rPr>
                    <m:t>(</m:t>
                  </m:r>
                  <m:r>
                    <m:rPr>
                      <m:sty m:val="i"/>
                    </m:rPr>
                    <m:t>x</m:t>
                  </m:r>
                  <m:r>
                    <m:rPr>
                      <m:sty m:val="p"/>
                    </m:rPr>
                    <m:t>)</m:t>
                  </m:r>
                  <m:r>
                    <m:rPr>
                      <m:sty m:val="i"/>
                    </m:rPr>
                    <m:t>d</m:t>
                  </m:r>
                  <m:r>
                    <m:rPr>
                      <m:sty m:val="i"/>
                    </m:rPr>
                    <m:t>x</m:t>
                  </m:r>
                  <m:r>
                    <m:rPr>
                      <m:sty m:val="p"/>
                    </m:rPr>
                    <m:t>\newline</m:t>
                  </m:r>
                  <m:r>
                    <m:rPr>
                      <m:sty m:val="b"/>
                    </m:rPr>
                    <m:t>2. </m:t>
                  </m:r>
                  <m:r>
                    <m:rPr>
                      <m:sty m:val="p"/>
                    </m:rPr>
                    <m:t>∫</m:t>
                  </m:r>
                  <m:r>
                    <m:rPr>
                      <m:sty m:val="p"/>
                    </m:rPr>
                    <m:t>[</m:t>
                  </m:r>
                  <m:r>
                    <m:rPr>
                      <m:sty m:val="i"/>
                    </m:rPr>
                    <m:t>f</m:t>
                  </m:r>
                  <m:r>
                    <m:rPr>
                      <m:sty m:val="p"/>
                    </m:rPr>
                    <m:t>(</m:t>
                  </m:r>
                  <m:r>
                    <m:rPr>
                      <m:sty m:val="i"/>
                    </m:rPr>
                    <m:t>x</m:t>
                  </m:r>
                  <m:r>
                    <m:rPr>
                      <m:sty m:val="p"/>
                    </m:rPr>
                    <m:t>)</m:t>
                  </m:r>
                  <m:r>
                    <m:rPr>
                      <m:sty m:val="i"/>
                    </m:rPr>
                    <m:t>±</m:t>
                  </m:r>
                  <m:r>
                    <m:rPr>
                      <m:sty m:val="i"/>
                    </m:rPr>
                    <m:t>g</m:t>
                  </m:r>
                  <m:r>
                    <m:rPr>
                      <m:sty m:val="p"/>
                    </m:rPr>
                    <m:t>(</m:t>
                  </m:r>
                  <m:r>
                    <m:rPr>
                      <m:sty m:val="i"/>
                    </m:rPr>
                    <m:t>x</m:t>
                  </m:r>
                  <m:r>
                    <m:rPr>
                      <m:sty m:val="p"/>
                    </m:rPr>
                    <m:t>)</m:t>
                  </m:r>
                  <m:r>
                    <m:rPr>
                      <m:sty m:val="p"/>
                    </m:rPr>
                    <m:t>]</m:t>
                  </m:r>
                  <m:r>
                    <m:rPr>
                      <m:sty m:val="i"/>
                    </m:rPr>
                    <m:t>d</m:t>
                  </m:r>
                  <m:r>
                    <m:rPr>
                      <m:sty m:val="i"/>
                    </m:rPr>
                    <m:t>x</m:t>
                  </m:r>
                  <m:r>
                    <m:rPr>
                      <m:sty m:val="p"/>
                    </m:rPr>
                    <m:t>=</m:t>
                  </m:r>
                  <m:r>
                    <m:rPr>
                      <m:sty m:val="p"/>
                    </m:rPr>
                    <m:t>∫</m:t>
                  </m:r>
                  <m:r>
                    <m:rPr>
                      <m:sty m:val="i"/>
                    </m:rPr>
                    <m:t>f</m:t>
                  </m:r>
                  <m:r>
                    <m:rPr>
                      <m:sty m:val="p"/>
                    </m:rPr>
                    <m:t>(</m:t>
                  </m:r>
                  <m:r>
                    <m:rPr>
                      <m:sty m:val="i"/>
                    </m:rPr>
                    <m:t>x</m:t>
                  </m:r>
                  <m:r>
                    <m:rPr>
                      <m:sty m:val="p"/>
                    </m:rPr>
                    <m:t>)</m:t>
                  </m:r>
                  <m:r>
                    <m:rPr>
                      <m:sty m:val="i"/>
                    </m:rPr>
                    <m:t>d</m:t>
                  </m:r>
                  <m:r>
                    <m:rPr>
                      <m:sty m:val="i"/>
                    </m:rPr>
                    <m:t>x</m:t>
                  </m:r>
                  <m:r>
                    <m:rPr>
                      <m:sty m:val="i"/>
                    </m:rPr>
                    <m:t>±</m:t>
                  </m:r>
                  <m:r>
                    <m:rPr>
                      <m:sty m:val="p"/>
                    </m:rPr>
                    <m:t>∫</m:t>
                  </m:r>
                  <m:r>
                    <m:rPr>
                      <m:sty m:val="i"/>
                    </m:rPr>
                    <m:t>g</m:t>
                  </m:r>
                  <m:r>
                    <m:rPr>
                      <m:sty m:val="p"/>
                    </m:rPr>
                    <m:t>(</m:t>
                  </m:r>
                  <m:r>
                    <m:rPr>
                      <m:sty m:val="i"/>
                    </m:rPr>
                    <m:t>x</m:t>
                  </m:r>
                  <m:r>
                    <m:rPr>
                      <m:sty m:val="p"/>
                    </m:rPr>
                    <m:t>)</m:t>
                  </m:r>
                  <m:r>
                    <m:rPr>
                      <m:sty m:val="i"/>
                    </m:rPr>
                    <m:t>d</m:t>
                  </m:r>
                  <m:r>
                    <m:rPr>
                      <m:sty m:val="i"/>
                    </m:rPr>
                    <m:t>x</m:t>
                  </m:r>
                </m:e>
              </m:box>
            </m:oMath>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Bài tập vận dụng</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Tính các nguyên hàm sau:</a:t>
            </a:r>
          </a:p>
          <a:p>
            <a:pPr>
              <a:spcAft>
                <a:spcPts val="1000"/>
              </a:spcAft>
            </a:pPr>
            <a:r>
              <a:rPr sz="1800">
                <a:solidFill>
                  <a:srgbClr val="2C3E50"/>
                </a:solidFill>
                <a:latin typeface="Times New Roman"/>
              </a:rPr>
              <a:t>•  a) </a:t>
            </a:r>
            <m:oMath xmlns:m="http://schemas.openxmlformats.org/officeDocument/2006/math">
              <m:box>
                <m:e>
                  <m:r>
                    <m:rPr>
                      <m:sty m:val="p"/>
                    </m:rPr>
                    <m:t>∫</m:t>
                  </m:r>
                  <m:r>
                    <m:rPr>
                      <m:sty m:val="p"/>
                    </m:rPr>
                    <m:t>(</m:t>
                  </m:r>
                  <m:sSup>
                    <m:e>
                      <m:r>
                        <m:rPr>
                          <m:sty m:val="i"/>
                        </m:rPr>
                        <m:t>x</m:t>
                      </m:r>
                    </m:e>
                    <m:sup>
                      <m:r>
                        <m:rPr>
                          <m:sty m:val="p"/>
                        </m:rPr>
                        <m:t>2</m:t>
                      </m:r>
                    </m:sup>
                  </m:sSup>
                  <m:r>
                    <m:rPr>
                      <m:sty m:val="p"/>
                    </m:rPr>
                    <m:t>+</m:t>
                  </m:r>
                  <m:r>
                    <m:rPr>
                      <m:sty m:val="p"/>
                    </m:rPr>
                    <m:t>3</m:t>
                  </m:r>
                  <m:r>
                    <m:rPr>
                      <m:sty m:val="i"/>
                    </m:rPr>
                    <m:t>x</m:t>
                  </m:r>
                  <m:r>
                    <m:rPr>
                      <m:sty m:val="p"/>
                    </m:rPr>
                    <m:t>−</m:t>
                  </m:r>
                  <m:r>
                    <m:rPr>
                      <m:sty m:val="p"/>
                    </m:rPr>
                    <m:t>1</m:t>
                  </m:r>
                  <m:r>
                    <m:rPr>
                      <m:sty m:val="p"/>
                    </m:rPr>
                    <m:t>)</m:t>
                  </m:r>
                  <m:r>
                    <m:rPr>
                      <m:sty m:val="i"/>
                    </m:rPr>
                    <m:t>d</m:t>
                  </m:r>
                  <m:r>
                    <m:rPr>
                      <m:sty m:val="i"/>
                    </m:rPr>
                    <m:t>x</m:t>
                  </m:r>
                </m:e>
              </m:box>
            </m:oMath>
          </a:p>
          <a:p>
            <a:pPr>
              <a:spcAft>
                <a:spcPts val="1000"/>
              </a:spcAft>
            </a:pPr>
            <a:r>
              <a:rPr sz="1800">
                <a:solidFill>
                  <a:srgbClr val="2C3E50"/>
                </a:solidFill>
                <a:latin typeface="Times New Roman"/>
              </a:rPr>
              <a:t>•  b) </a:t>
            </a:r>
            <m:oMath xmlns:m="http://schemas.openxmlformats.org/officeDocument/2006/math">
              <m:box>
                <m:e>
                  <m:r>
                    <m:rPr>
                      <m:sty m:val="p"/>
                    </m:rPr>
                    <m:t>∫</m:t>
                  </m:r>
                  <m:r>
                    <m:rPr>
                      <m:sty m:val="p"/>
                    </m:rPr>
                    <m:t>(</m:t>
                  </m:r>
                  <m:r>
                    <m:rPr>
                      <m:sty m:val="p"/>
                    </m:rPr>
                    <m:t>2</m:t>
                  </m:r>
                  <m:r>
                    <m:rPr>
                      <m:sty m:val="p"/>
                    </m:rPr>
                    <m:t>sin</m:t>
                  </m:r>
                  <m:r>
                    <m:rPr>
                      <m:sty m:val="i"/>
                    </m:rPr>
                    <m:t>x</m:t>
                  </m:r>
                  <m:r>
                    <m:rPr>
                      <m:sty m:val="p"/>
                    </m:rPr>
                    <m:t>−</m:t>
                  </m:r>
                  <m:r>
                    <m:rPr>
                      <m:sty m:val="p"/>
                    </m:rPr>
                    <m:t>cos</m:t>
                  </m:r>
                  <m:r>
                    <m:rPr>
                      <m:sty m:val="i"/>
                    </m:rPr>
                    <m:t>x</m:t>
                  </m:r>
                  <m:r>
                    <m:rPr>
                      <m:sty m:val="p"/>
                    </m:rPr>
                    <m:t>)</m:t>
                  </m:r>
                  <m:r>
                    <m:rPr>
                      <m:sty m:val="i"/>
                    </m:rPr>
                    <m:t>d</m:t>
                  </m:r>
                  <m:r>
                    <m:rPr>
                      <m:sty m:val="i"/>
                    </m:rPr>
                    <m:t>x</m:t>
                  </m:r>
                </m:e>
              </m:box>
            </m:oMath>
          </a:p>
          <a:p>
            <a:pPr>
              <a:spcAft>
                <a:spcPts val="1000"/>
              </a:spcAft>
            </a:pPr>
            <a:r>
              <a:rPr sz="1800">
                <a:solidFill>
                  <a:srgbClr val="2C3E50"/>
                </a:solidFill>
                <a:latin typeface="Times New Roman"/>
              </a:rPr>
              <a:t>•  c) </a:t>
            </a:r>
            <m:oMath xmlns:m="http://schemas.openxmlformats.org/officeDocument/2006/math">
              <m:box>
                <m:e>
                  <m:r>
                    <m:rPr>
                      <m:sty m:val="p"/>
                    </m:rPr>
                    <m:t>∫</m:t>
                  </m:r>
                  <m:r>
                    <m:rPr>
                      <m:sty m:val="p"/>
                    </m:rPr>
                    <m:t>(</m:t>
                  </m:r>
                  <m:sSup>
                    <m:e>
                      <m:r>
                        <m:rPr>
                          <m:sty m:val="i"/>
                        </m:rPr>
                        <m:t>e</m:t>
                      </m:r>
                    </m:e>
                    <m:sup>
                      <m:r>
                        <m:rPr>
                          <m:sty m:val="i"/>
                        </m:rPr>
                        <m:t>x</m:t>
                      </m:r>
                    </m:sup>
                  </m:sSup>
                  <m:r>
                    <m:rPr>
                      <m:sty m:val="p"/>
                    </m:rPr>
                    <m:t>+</m:t>
                  </m:r>
                  <m:f>
                    <m:num>
                      <m:box>
                        <m:e>
                          <m:r>
                            <m:rPr>
                              <m:sty m:val="p"/>
                            </m:rPr>
                            <m:t>1</m:t>
                          </m:r>
                        </m:e>
                      </m:box>
                    </m:num>
                    <m:den>
                      <m:box>
                        <m:e>
                          <m:r>
                            <m:rPr>
                              <m:sty m:val="i"/>
                            </m:rPr>
                            <m:t>x</m:t>
                          </m:r>
                        </m:e>
                      </m:box>
                    </m:den>
                  </m:f>
                  <m:r>
                    <m:rPr>
                      <m:sty m:val="p"/>
                    </m:rPr>
                    <m:t>)</m:t>
                  </m:r>
                  <m:r>
                    <m:rPr>
                      <m:sty m:val="i"/>
                    </m:rPr>
                    <m:t>d</m:t>
                  </m:r>
                  <m:r>
                    <m:rPr>
                      <m:sty m:val="i"/>
                    </m:rPr>
                    <m:t>x</m:t>
                  </m:r>
                </m:e>
              </m:box>
            </m:oMath>
          </a:p>
          <a:p>
            <a:pPr>
              <a:spcBef>
                <a:spcPts val="1500"/>
              </a:spcBef>
              <a:spcAft>
                <a:spcPts val="1000"/>
              </a:spcAft>
            </a:pPr>
            <a:r>
              <a:rPr b="1" sz="2000">
                <a:solidFill>
                  <a:srgbClr val="0066CC"/>
                </a:solidFill>
                <a:latin typeface="Times New Roman"/>
              </a:rPr>
              <a:t>Công thức trọng tâm:  </a:t>
            </a:r>
            <m:oMath xmlns:m="http://schemas.openxmlformats.org/officeDocument/2006/math">
              <m:box>
                <m:e>
                  <m:r>
                    <m:rPr>
                      <m:nor/>
                    </m:rPr>
                    <m:t>Lời giải:</m:t>
                  </m:r>
                  <m:r>
                    <m:rPr>
                      <m:sty m:val="p"/>
                    </m:rPr>
                    <m:t>\newline</m:t>
                  </m:r>
                  <m:r>
                    <m:rPr>
                      <m:sty m:val="p"/>
                    </m:rPr>
                    <m:t>\newline</m:t>
                  </m:r>
                  <m:r>
                    <m:rPr>
                      <m:nor/>
                    </m:rPr>
                    <m:t>a) </m:t>
                  </m:r>
                  <m:r>
                    <m:rPr>
                      <m:sty m:val="p"/>
                    </m:rPr>
                    <m:t>∫</m:t>
                  </m:r>
                  <m:r>
                    <m:rPr>
                      <m:sty m:val="p"/>
                    </m:rPr>
                    <m:t>(</m:t>
                  </m:r>
                  <m:sSup>
                    <m:e>
                      <m:r>
                        <m:rPr>
                          <m:sty m:val="i"/>
                        </m:rPr>
                        <m:t>x</m:t>
                      </m:r>
                    </m:e>
                    <m:sup>
                      <m:r>
                        <m:rPr>
                          <m:sty m:val="p"/>
                        </m:rPr>
                        <m:t>2</m:t>
                      </m:r>
                    </m:sup>
                  </m:sSup>
                  <m:r>
                    <m:rPr>
                      <m:sty m:val="p"/>
                    </m:rPr>
                    <m:t>+</m:t>
                  </m:r>
                  <m:r>
                    <m:rPr>
                      <m:sty m:val="p"/>
                    </m:rPr>
                    <m:t>3</m:t>
                  </m:r>
                  <m:r>
                    <m:rPr>
                      <m:sty m:val="i"/>
                    </m:rPr>
                    <m:t>x</m:t>
                  </m:r>
                  <m:r>
                    <m:rPr>
                      <m:sty m:val="p"/>
                    </m:rPr>
                    <m:t>−</m:t>
                  </m:r>
                  <m:r>
                    <m:rPr>
                      <m:sty m:val="p"/>
                    </m:rPr>
                    <m:t>1</m:t>
                  </m:r>
                  <m:r>
                    <m:rPr>
                      <m:sty m:val="p"/>
                    </m:rPr>
                    <m:t>)</m:t>
                  </m:r>
                  <m:r>
                    <m:rPr>
                      <m:sty m:val="i"/>
                    </m:rPr>
                    <m:t>d</m:t>
                  </m:r>
                  <m:r>
                    <m:rPr>
                      <m:sty m:val="i"/>
                    </m:rPr>
                    <m:t>x</m:t>
                  </m:r>
                  <m:r>
                    <m:rPr>
                      <m:sty m:val="p"/>
                    </m:rPr>
                    <m:t>=</m:t>
                  </m:r>
                  <m:f>
                    <m:num>
                      <m:box>
                        <m:e>
                          <m:sSup>
                            <m:e>
                              <m:r>
                                <m:rPr>
                                  <m:sty m:val="i"/>
                                </m:rPr>
                                <m:t>x</m:t>
                              </m:r>
                            </m:e>
                            <m:sup>
                              <m:r>
                                <m:rPr>
                                  <m:sty m:val="p"/>
                                </m:rPr>
                                <m:t>3</m:t>
                              </m:r>
                            </m:sup>
                          </m:sSup>
                        </m:e>
                      </m:box>
                    </m:num>
                    <m:den>
                      <m:box>
                        <m:e>
                          <m:r>
                            <m:rPr>
                              <m:sty m:val="p"/>
                            </m:rPr>
                            <m:t>3</m:t>
                          </m:r>
                        </m:e>
                      </m:box>
                    </m:den>
                  </m:f>
                  <m:r>
                    <m:rPr>
                      <m:sty m:val="p"/>
                    </m:rPr>
                    <m:t>+</m:t>
                  </m:r>
                  <m:f>
                    <m:num>
                      <m:box>
                        <m:e>
                          <m:r>
                            <m:rPr>
                              <m:sty m:val="p"/>
                            </m:rPr>
                            <m:t>3</m:t>
                          </m:r>
                          <m:sSup>
                            <m:e>
                              <m:r>
                                <m:rPr>
                                  <m:sty m:val="i"/>
                                </m:rPr>
                                <m:t>x</m:t>
                              </m:r>
                            </m:e>
                            <m:sup>
                              <m:r>
                                <m:rPr>
                                  <m:sty m:val="p"/>
                                </m:rPr>
                                <m:t>2</m:t>
                              </m:r>
                            </m:sup>
                          </m:sSup>
                        </m:e>
                      </m:box>
                    </m:num>
                    <m:den>
                      <m:box>
                        <m:e>
                          <m:r>
                            <m:rPr>
                              <m:sty m:val="p"/>
                            </m:rPr>
                            <m:t>2</m:t>
                          </m:r>
                        </m:e>
                      </m:box>
                    </m:den>
                  </m:f>
                  <m:r>
                    <m:rPr>
                      <m:sty m:val="p"/>
                    </m:rPr>
                    <m:t>−</m:t>
                  </m:r>
                  <m:r>
                    <m:rPr>
                      <m:sty m:val="i"/>
                    </m:rPr>
                    <m:t>x</m:t>
                  </m:r>
                  <m:r>
                    <m:rPr>
                      <m:sty m:val="p"/>
                    </m:rPr>
                    <m:t>+</m:t>
                  </m:r>
                  <m:r>
                    <m:rPr>
                      <m:sty m:val="i"/>
                    </m:rPr>
                    <m:t>C</m:t>
                  </m:r>
                  <m:r>
                    <m:rPr>
                      <m:sty m:val="p"/>
                    </m:rPr>
                    <m:t>\newline</m:t>
                  </m:r>
                  <m:r>
                    <m:rPr>
                      <m:sty m:val="p"/>
                    </m:rPr>
                    <m:t>\newline</m:t>
                  </m:r>
                  <m:r>
                    <m:rPr>
                      <m:nor/>
                    </m:rPr>
                    <m:t>b) </m:t>
                  </m:r>
                  <m:r>
                    <m:rPr>
                      <m:sty m:val="p"/>
                    </m:rPr>
                    <m:t>∫</m:t>
                  </m:r>
                  <m:r>
                    <m:rPr>
                      <m:sty m:val="p"/>
                    </m:rPr>
                    <m:t>(</m:t>
                  </m:r>
                  <m:r>
                    <m:rPr>
                      <m:sty m:val="p"/>
                    </m:rPr>
                    <m:t>2</m:t>
                  </m:r>
                  <m:r>
                    <m:rPr>
                      <m:sty m:val="p"/>
                    </m:rPr>
                    <m:t>sin</m:t>
                  </m:r>
                  <m:r>
                    <m:rPr>
                      <m:sty m:val="i"/>
                    </m:rPr>
                    <m:t>x</m:t>
                  </m:r>
                  <m:r>
                    <m:rPr>
                      <m:sty m:val="p"/>
                    </m:rPr>
                    <m:t>−</m:t>
                  </m:r>
                  <m:r>
                    <m:rPr>
                      <m:sty m:val="p"/>
                    </m:rPr>
                    <m:t>cos</m:t>
                  </m:r>
                  <m:r>
                    <m:rPr>
                      <m:sty m:val="i"/>
                    </m:rPr>
                    <m:t>x</m:t>
                  </m:r>
                  <m:r>
                    <m:rPr>
                      <m:sty m:val="p"/>
                    </m:rPr>
                    <m:t>)</m:t>
                  </m:r>
                  <m:r>
                    <m:rPr>
                      <m:sty m:val="i"/>
                    </m:rPr>
                    <m:t>d</m:t>
                  </m:r>
                  <m:r>
                    <m:rPr>
                      <m:sty m:val="i"/>
                    </m:rPr>
                    <m:t>x</m:t>
                  </m:r>
                  <m:r>
                    <m:rPr>
                      <m:sty m:val="p"/>
                    </m:rPr>
                    <m:t>=</m:t>
                  </m:r>
                  <m:r>
                    <m:rPr>
                      <m:sty m:val="p"/>
                    </m:rPr>
                    <m:t>−</m:t>
                  </m:r>
                  <m:r>
                    <m:rPr>
                      <m:sty m:val="p"/>
                    </m:rPr>
                    <m:t>2</m:t>
                  </m:r>
                  <m:r>
                    <m:rPr>
                      <m:sty m:val="p"/>
                    </m:rPr>
                    <m:t>cos</m:t>
                  </m:r>
                  <m:r>
                    <m:rPr>
                      <m:sty m:val="i"/>
                    </m:rPr>
                    <m:t>x</m:t>
                  </m:r>
                  <m:r>
                    <m:rPr>
                      <m:sty m:val="p"/>
                    </m:rPr>
                    <m:t>−</m:t>
                  </m:r>
                  <m:r>
                    <m:rPr>
                      <m:sty m:val="p"/>
                    </m:rPr>
                    <m:t>sin</m:t>
                  </m:r>
                  <m:r>
                    <m:rPr>
                      <m:sty m:val="i"/>
                    </m:rPr>
                    <m:t>x</m:t>
                  </m:r>
                  <m:r>
                    <m:rPr>
                      <m:sty m:val="p"/>
                    </m:rPr>
                    <m:t>+</m:t>
                  </m:r>
                  <m:r>
                    <m:rPr>
                      <m:sty m:val="i"/>
                    </m:rPr>
                    <m:t>C</m:t>
                  </m:r>
                  <m:r>
                    <m:rPr>
                      <m:sty m:val="p"/>
                    </m:rPr>
                    <m:t>\newline</m:t>
                  </m:r>
                  <m:r>
                    <m:rPr>
                      <m:sty m:val="p"/>
                    </m:rPr>
                    <m:t>\newline</m:t>
                  </m:r>
                  <m:r>
                    <m:rPr>
                      <m:nor/>
                    </m:rPr>
                    <m:t>c) </m:t>
                  </m:r>
                  <m:r>
                    <m:rPr>
                      <m:sty m:val="p"/>
                    </m:rPr>
                    <m:t>∫</m:t>
                  </m:r>
                  <m:r>
                    <m:rPr>
                      <m:sty m:val="p"/>
                    </m:rPr>
                    <m:t>(</m:t>
                  </m:r>
                  <m:sSup>
                    <m:e>
                      <m:r>
                        <m:rPr>
                          <m:sty m:val="i"/>
                        </m:rPr>
                        <m:t>e</m:t>
                      </m:r>
                    </m:e>
                    <m:sup>
                      <m:r>
                        <m:rPr>
                          <m:sty m:val="i"/>
                        </m:rPr>
                        <m:t>x</m:t>
                      </m:r>
                    </m:sup>
                  </m:sSup>
                  <m:r>
                    <m:rPr>
                      <m:sty m:val="p"/>
                    </m:rPr>
                    <m:t>+</m:t>
                  </m:r>
                  <m:f>
                    <m:num>
                      <m:box>
                        <m:e>
                          <m:r>
                            <m:rPr>
                              <m:sty m:val="p"/>
                            </m:rPr>
                            <m:t>1</m:t>
                          </m:r>
                        </m:e>
                      </m:box>
                    </m:num>
                    <m:den>
                      <m:box>
                        <m:e>
                          <m:r>
                            <m:rPr>
                              <m:sty m:val="i"/>
                            </m:rPr>
                            <m:t>x</m:t>
                          </m:r>
                        </m:e>
                      </m:box>
                    </m:den>
                  </m:f>
                  <m:r>
                    <m:rPr>
                      <m:sty m:val="p"/>
                    </m:rPr>
                    <m:t>)</m:t>
                  </m:r>
                  <m:r>
                    <m:rPr>
                      <m:sty m:val="i"/>
                    </m:rPr>
                    <m:t>d</m:t>
                  </m:r>
                  <m:r>
                    <m:rPr>
                      <m:sty m:val="i"/>
                    </m:rPr>
                    <m:t>x</m:t>
                  </m:r>
                  <m:r>
                    <m:rPr>
                      <m:sty m:val="p"/>
                    </m:rPr>
                    <m:t>=</m:t>
                  </m:r>
                  <m:sSup>
                    <m:e>
                      <m:r>
                        <m:rPr>
                          <m:sty m:val="i"/>
                        </m:rPr>
                        <m:t>e</m:t>
                      </m:r>
                    </m:e>
                    <m:sup>
                      <m:r>
                        <m:rPr>
                          <m:sty m:val="i"/>
                        </m:rPr>
                        <m:t>x</m:t>
                      </m:r>
                    </m:sup>
                  </m:sSup>
                  <m:r>
                    <m:rPr>
                      <m:sty m:val="p"/>
                    </m:rPr>
                    <m:t>+</m:t>
                  </m:r>
                  <m:r>
                    <m:rPr>
                      <m:sty m:val="p"/>
                    </m:rPr>
                    <m:t>ln</m:t>
                  </m:r>
                  <m:r>
                    <m:rPr>
                      <m:sty m:val="p"/>
                    </m:rPr>
                    <m:t>|</m:t>
                  </m:r>
                  <m:r>
                    <m:rPr>
                      <m:sty m:val="i"/>
                    </m:rPr>
                    <m:t>x</m:t>
                  </m:r>
                  <m:r>
                    <m:rPr>
                      <m:sty m:val="p"/>
                    </m:rPr>
                    <m:t>|</m:t>
                  </m:r>
                  <m:r>
                    <m:rPr>
                      <m:sty m:val="p"/>
                    </m:rPr>
                    <m:t>+</m:t>
                  </m:r>
                  <m:r>
                    <m:rPr>
                      <m:sty m:val="i"/>
                    </m:rPr>
                    <m:t>C</m:t>
                  </m:r>
                </m:e>
              </m:box>
            </m:oMath>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Ứng dụng của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Nguyên hàm có thể được ứng dụng trong những lĩnh vực nào trong thực tế hoặc trong các bài toán Vật lí?</a:t>
            </a:r>
          </a:p>
          <a:p>
            <a:pPr>
              <a:spcAft>
                <a:spcPts val="1000"/>
              </a:spcAft>
            </a:pPr>
            <a:r>
              <a:rPr sz="1800">
                <a:solidFill>
                  <a:srgbClr val="2C3E50"/>
                </a:solidFill>
                <a:latin typeface="Times New Roman"/>
              </a:rPr>
              <a:t>•  Trong Vật lí: Tìm quãng đường từ vận tốc, vận tốc từ gia tốc.</a:t>
            </a:r>
          </a:p>
          <a:p>
            <a:pPr>
              <a:spcAft>
                <a:spcPts val="1000"/>
              </a:spcAft>
            </a:pPr>
            <a:r>
              <a:rPr sz="1800">
                <a:solidFill>
                  <a:srgbClr val="2C3E50"/>
                </a:solidFill>
                <a:latin typeface="Times New Roman"/>
              </a:rPr>
              <a:t>•  Trong Kinh tế: Tìm tổng chi phí từ chi phí cận biên, tổng doanh thu từ doanh thu cận biên.</a:t>
            </a:r>
          </a:p>
          <a:p>
            <a:pPr>
              <a:spcAft>
                <a:spcPts val="1000"/>
              </a:spcAft>
            </a:pPr>
            <a:r>
              <a:rPr sz="1800">
                <a:solidFill>
                  <a:srgbClr val="2C3E50"/>
                </a:solidFill>
                <a:latin typeface="Times New Roman"/>
              </a:rPr>
              <a:t>•  Trong Kỹ thuật, Y học, Sinh học, v.v.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