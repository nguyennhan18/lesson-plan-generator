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Chào mừng các em đến với bài học mới: Nguyên Hàm. Đây là một khái niệm rất quan trọng, mở đầu cho một chương lớn trong giải tích. Trong bài học này, chúng ta sẽ cùng tìm hiểu định nghĩa, các tính chất và cách tìm nguyên hàm của một số hàm số cơ bản.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Các em hãy suy nghĩ cá nhân trong 1 phút. Hãy nhớ lại các công thức đạo hàm mà chúng ta đã học. Có hàm số nào mà khi đạo hàm nó lại ra $2x$ không? GV có thể gợi ý cho HS yếu bằng cách nhắc lại công thức đạo hàm của $x^n$.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Mời 2-3 em trình bày kết quả. (Dự kiến: HS có thể đưa ra $x^2$, $x^2+1$, $x^2-5$,...). GV: Các em có nhận xét gì về mối quan hệ giữa các hàm số mà các em vừa tìm được? GV chốt ý: Các hàm số này chỉ khác nhau một hằng số. Phép toán tìm hàm $F(x)$ khi biết đạo hàm $F'(x)$ được gọi là phép tìm nguyên hàm, đó chính là nội dung bài học hôm nay.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Một hàm số $F(x)$ được gọi là nguyên hàm của hàm số $f(x)$ trên khoảng $K$ nếu đạo hàm của $F(x)$ bằng $f(x)$ với mọi $x$ thuộc $K$. Đây là định nghĩa trọng tâm, các em cần nắm vững. Yêu cầu HS nhắc lại định nghĩa và lấy ví dụ đơn giản (ví dụ: $F(x) = x^3$ là nguyên hàm của $f(x) = 3x^2$).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Định lí này cho chúng ta biết rằng nếu ta tìm được một nguyên hàm $F(x)$, thì ta có thể tìm được tất cả các nguyên hàm khác bằng cách cộng thêm một hằng số $C$. Kí hiệu $\int f(x) dx$ được đọc là 'tích phân bất định của $f(x)$', và $C$ được gọi là hằng số tích phân. Em nào có thể giải thích ý nghĩa của hằng số $C$ trong bài toán khởi động?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Tính chất này tương tự như tính chất của đạo hàm: $(kF(x))' = kF'(x)$. Nó cho phép chúng ta đưa hằng số ra ngoài dấu nguyên hàm. Ví dụ: $\int 5x^2 dx = 5 \int x^2 dx$. Các em hãy ghi nhớ và vận dụng tính chất này.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Tính chất này cũng tương tự với đạo hàm: $(F(x) \pm G(x))' = F'(x) \pm G'(x)$. Nó cho phép chúng ta tính nguyên hàm của một biểu thức phức tạp hơn bằng cách tách thành các nguyên hàm đơn giản. Ví dụ: $\int (x + \cos x) dx = \int x dx + \int \cos x dx$.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Đây là bảng nguyên hàm cơ bản mà các em cần ghi nhớ. Bảng này được xây dựng dựa trên bảng đạo hàm mà chúng ta đã học. GV nhấn mạnh các trường hợp đặc biệt như nguyên hàm của $1/x$ là $\ln |x|$ và điều kiện của $n$ trong công thức $x^n$. Yêu cầu HS nhắc lại từng công thức.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Các em hãy làm bài tập này vào vở trong 2 phút. Sau đó, tôi sẽ mời một bạn lên bảng trình bày lời giải. Lưu ý áp dụng đúng các tính chất của nguyên hàm của tổng/hiệu và công thức nguyên hàm của $x^n$. Nhắc HS không quên hằng số $C$.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Tiếp tục với bài tập thứ hai. Các em hãy vận dụng các công thức nguyên hàm của hàm $e^x$ và $\sin x$. Đặc biệt chú ý dấu khi lấy nguyên hàm của $\sin x$. Mời một HS khác lên bảng chữa bài.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Đối với bài tập này, chúng ta cần một bước biến đổi nhỏ trước khi áp dụng các công thức. Hãy chia đa thức ở tử cho đơn thức ở mẫu. Sau đó, áp dụng các tính chất và công thức đã học. GV mời một HS lên bảng giải bài tập này, nhấn mạnh việc cần chia $x^3/x$ và $1/x$ riêng biệt.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Nguyên hàm không chỉ là một khái niệm toán học trừu tượng mà còn có nhiều ứng dụng trong thực tế, đặc biệt là trong Vật lí. Ở đây, chúng ta có mối liên hệ giữa vận tốc và quãng đường. Các em hãy suy nghĩ xem làm thế nào để tìm được hàm quãng đường $S(t)$ khi biết vận tốc $v(t)$.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Bài toán này có thêm một điều kiện $S(0) = 0$. Các em hãy thảo luận cặp đôi để tìm hướng giải quyết. Gợi ý: Sau khi tìm được họ nguyên hàm của $v(t)$, làm thế nào để xác định được hằng số $C$ cụ thể? GV mời một vài cặp đôi trình bày ý tưởng. GV chốt lại hướng giải: tính nguyên hàm $v(t)$, sau đó thay $t=0$ và $S(0)=0$ để tìm $C$. Bài tập này các em sẽ hoàn thành ở nhà.</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Hôm nay chúng ta đã cùng nhau tìm hiểu về khái niệm Nguyên hàm. Các em cần nắm vững định nghĩa, định lí, các tính chất và đặc biệt là bảng nguyên hàm cơ bản để có thể giải quyết các bài tập. Em nào có thể tóm tắt lại những kiến thức trọng tâm của bài học?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Về nhà, các em hãy hoàn thành bài toán vận dụng về quãng đường và ôn tập thật kỹ các kiến thức đã học hôm nay. Đây là nền tảng quan trọng cho các bài học tiếp theo. Buổi học tới, chúng ta sẽ tìm hiểu sâu hơn về các phương pháp để tính nguyên hàm của những hàm số phức tạp hơn. Chúc các em học tốt!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12</a:t>
            </a:r>
          </a:p>
          <a:p>
            <a:pPr>
              <a:spcBef>
                <a:spcPts val="1500"/>
              </a:spcBef>
              <a:defRPr sz="4000" b="1">
                <a:solidFill>
                  <a:srgbClr val="003366"/>
                </a:solidFill>
                <a:latin typeface="Times New Roman"/>
              </a:defRPr>
            </a:pPr>
            <a:r>
              <a:t>Nguyên Hàm</a:t>
            </a:r>
          </a:p>
          <a:p>
            <a:pPr>
              <a:spcBef>
                <a:spcPts val="1000"/>
              </a:spcBef>
              <a:defRPr sz="2200">
                <a:solidFill>
                  <a:srgbClr val="2C3E50"/>
                </a:solidFill>
                <a:latin typeface="Times New Roman"/>
              </a:defRPr>
            </a:pPr>
            <a:r>
              <a:t>Toán học - Lớp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 Bài toán ngược của Đạo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Cho hàm số f(x) = 2x.</a:t>
            </a:r>
          </a:p>
          <a:p>
            <a:pPr>
              <a:spcAft>
                <a:spcPts val="1000"/>
              </a:spcAft>
            </a:pPr>
            <a:r>
              <a:rPr sz="1800">
                <a:solidFill>
                  <a:srgbClr val="2C3E50"/>
                </a:solidFill>
                <a:latin typeface="Times New Roman"/>
              </a:rPr>
              <a:t>• Hãy tìm một hàm số F(x) sao cho F'(x) = f(x).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 Nhận xét chung</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Có bao nhiêu hàm số F(x) thỏa mãn F'(x) = 2x?</a:t>
            </a:r>
          </a:p>
          <a:p>
            <a:pPr>
              <a:spcAft>
                <a:spcPts val="1000"/>
              </a:spcAft>
            </a:pPr>
            <a:r>
              <a:rPr sz="1800">
                <a:solidFill>
                  <a:srgbClr val="2C3E50"/>
                </a:solidFill>
                <a:latin typeface="Times New Roman"/>
              </a:rPr>
              <a:t>• Các hàm số đó có điểm gì chung?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1. Định nghĩa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Cho hàm số f(x) xác định trên khoảng K.</a:t>
            </a:r>
          </a:p>
          <a:p>
            <a:pPr>
              <a:spcBef>
                <a:spcPts val="1500"/>
              </a:spcBef>
              <a:spcAft>
                <a:spcPts val="500"/>
              </a:spcAft>
            </a:pPr>
            <a:r>
              <a:rPr b="1" sz="2000">
                <a:solidFill>
                  <a:srgbClr val="0066CC"/>
                </a:solidFill>
                <a:latin typeface="Times New Roman"/>
              </a:rPr>
              <a:t>Công thức trọng tâm:  </a:t>
            </a:r>
          </a:p>
        </p:txBody>
      </p:sp>
      <p:pic>
        <p:nvPicPr>
          <p:cNvPr id="4" name="Picture 3" descr="image.png"/>
          <p:cNvPicPr>
            <a:picLocks noChangeAspect="1"/>
          </p:cNvPicPr>
          <p:nvPr/>
        </p:nvPicPr>
        <p:blipFill>
          <a:blip r:embed="rId2"/>
          <a:stretch>
            <a:fillRect/>
          </a:stretch>
        </p:blipFill>
        <p:spPr>
          <a:xfrm>
            <a:off x="1097280" y="2"/>
            <a:ext cx="2984863" cy="731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2. Định lí về họ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Nếu F(x) là một nguyên hàm của f(x) trên khoảng K.</a:t>
            </a:r>
          </a:p>
          <a:p>
            <a:pPr>
              <a:spcAft>
                <a:spcPts val="1000"/>
              </a:spcAft>
            </a:pPr>
            <a:r>
              <a:rPr sz="1800">
                <a:solidFill>
                  <a:srgbClr val="2C3E50"/>
                </a:solidFill>
                <a:latin typeface="Times New Roman"/>
              </a:rPr>
              <a:t>• Thì mọi nguyên hàm của f(x) trên K đều có dạng G(x) = F(x) + C, với C là hằng số tùy ý.</a:t>
            </a:r>
          </a:p>
          <a:p>
            <a:pPr>
              <a:spcAft>
                <a:spcPts val="1000"/>
              </a:spcAft>
            </a:pPr>
            <a:r>
              <a:rPr sz="1800">
                <a:solidFill>
                  <a:srgbClr val="2C3E50"/>
                </a:solidFill>
                <a:latin typeface="Times New Roman"/>
              </a:rPr>
              <a:t>• Kí hiệu họ nguyên hàm của f(x) là ∫ f(x) dx = F(x) + C.</a:t>
            </a:r>
          </a:p>
          <a:p>
            <a:pPr>
              <a:spcBef>
                <a:spcPts val="1500"/>
              </a:spcBef>
              <a:spcAft>
                <a:spcPts val="500"/>
              </a:spcAft>
            </a:pPr>
            <a:r>
              <a:rPr b="1" sz="2000">
                <a:solidFill>
                  <a:srgbClr val="0066CC"/>
                </a:solidFill>
                <a:latin typeface="Times New Roman"/>
              </a:rPr>
              <a:t>Công thức trọng tâm:  </a:t>
            </a:r>
          </a:p>
        </p:txBody>
      </p:sp>
      <p:pic>
        <p:nvPicPr>
          <p:cNvPr id="4" name="Picture 3" descr="image.png"/>
          <p:cNvPicPr>
            <a:picLocks noChangeAspect="1"/>
          </p:cNvPicPr>
          <p:nvPr/>
        </p:nvPicPr>
        <p:blipFill>
          <a:blip r:embed="rId2"/>
          <a:stretch>
            <a:fillRect/>
          </a:stretch>
        </p:blipFill>
        <p:spPr>
          <a:xfrm>
            <a:off x="1097280" y="4"/>
            <a:ext cx="3955433" cy="731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3. Tính chất của Nguyên hàm (1)</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Nếu k là một hằng số khác 0, thì ∫ k f(x) dx = k ∫ f(x) dx.</a:t>
            </a:r>
          </a:p>
          <a:p>
            <a:pPr>
              <a:spcBef>
                <a:spcPts val="1500"/>
              </a:spcBef>
              <a:spcAft>
                <a:spcPts val="500"/>
              </a:spcAft>
            </a:pPr>
            <a:r>
              <a:rPr b="1" sz="2000">
                <a:solidFill>
                  <a:srgbClr val="0066CC"/>
                </a:solidFill>
                <a:latin typeface="Times New Roman"/>
              </a:rPr>
              <a:t>Công thức trọng tâm:  </a:t>
            </a:r>
          </a:p>
        </p:txBody>
      </p:sp>
      <p:pic>
        <p:nvPicPr>
          <p:cNvPr id="4" name="Picture 3" descr="image.png"/>
          <p:cNvPicPr>
            <a:picLocks noChangeAspect="1"/>
          </p:cNvPicPr>
          <p:nvPr/>
        </p:nvPicPr>
        <p:blipFill>
          <a:blip r:embed="rId2"/>
          <a:stretch>
            <a:fillRect/>
          </a:stretch>
        </p:blipFill>
        <p:spPr>
          <a:xfrm>
            <a:off x="1097280" y="2"/>
            <a:ext cx="4378670" cy="731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3. Tính chất của Nguyên hàm (2)</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Nguyên hàm của tổng (hoặc hiệu) hai hàm số bằng tổng (hoặc hiệu) các nguyên hàm của chúng.</a:t>
            </a:r>
          </a:p>
          <a:p>
            <a:pPr>
              <a:spcBef>
                <a:spcPts val="1500"/>
              </a:spcBef>
              <a:spcAft>
                <a:spcPts val="500"/>
              </a:spcAft>
            </a:pPr>
            <a:r>
              <a:rPr b="1" sz="2000">
                <a:solidFill>
                  <a:srgbClr val="0066CC"/>
                </a:solidFill>
                <a:latin typeface="Times New Roman"/>
              </a:rPr>
              <a:t>Công thức trọng tâm:  </a:t>
            </a:r>
          </a:p>
        </p:txBody>
      </p:sp>
      <p:pic>
        <p:nvPicPr>
          <p:cNvPr id="4" name="Picture 3" descr="image.png"/>
          <p:cNvPicPr>
            <a:picLocks noChangeAspect="1"/>
          </p:cNvPicPr>
          <p:nvPr/>
        </p:nvPicPr>
        <p:blipFill>
          <a:blip r:embed="rId2"/>
          <a:stretch>
            <a:fillRect/>
          </a:stretch>
        </p:blipFill>
        <p:spPr>
          <a:xfrm>
            <a:off x="1097280" y="2"/>
            <a:ext cx="7884741" cy="7315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4. Bảng Nguyên hàm của một số hàm số cơ bản</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0 dx = C</a:t>
            </a:r>
          </a:p>
          <a:p>
            <a:pPr>
              <a:spcAft>
                <a:spcPts val="1000"/>
              </a:spcAft>
            </a:pPr>
            <a:r>
              <a:rPr sz="1800">
                <a:solidFill>
                  <a:srgbClr val="2C3E50"/>
                </a:solidFill>
                <a:latin typeface="Times New Roman"/>
              </a:rPr>
              <a:t>• ∫ dx = x + C</a:t>
            </a:r>
          </a:p>
          <a:p>
            <a:pPr>
              <a:spcAft>
                <a:spcPts val="1000"/>
              </a:spcAft>
            </a:pPr>
            <a:r>
              <a:rPr sz="1800">
                <a:solidFill>
                  <a:srgbClr val="2C3E50"/>
                </a:solidFill>
                <a:latin typeface="Times New Roman"/>
              </a:rPr>
              <a:t>• ∫ xⁿ dx = fracxⁿ⁺¹n+1 + C (với n ne -1)</a:t>
            </a:r>
          </a:p>
          <a:p>
            <a:pPr>
              <a:spcAft>
                <a:spcPts val="1000"/>
              </a:spcAft>
            </a:pPr>
            <a:r>
              <a:rPr sz="1800">
                <a:solidFill>
                  <a:srgbClr val="2C3E50"/>
                </a:solidFill>
                <a:latin typeface="Times New Roman"/>
              </a:rPr>
              <a:t>• ∫ frac1x dx = ln |x| + C</a:t>
            </a:r>
          </a:p>
          <a:p>
            <a:pPr>
              <a:spcAft>
                <a:spcPts val="1000"/>
              </a:spcAft>
            </a:pPr>
            <a:r>
              <a:rPr sz="1800">
                <a:solidFill>
                  <a:srgbClr val="2C3E50"/>
                </a:solidFill>
                <a:latin typeface="Times New Roman"/>
              </a:rPr>
              <a:t>• ∫ eˣ dx = eˣ + C</a:t>
            </a:r>
          </a:p>
          <a:p>
            <a:pPr>
              <a:spcAft>
                <a:spcPts val="1000"/>
              </a:spcAft>
            </a:pPr>
            <a:r>
              <a:rPr sz="1800">
                <a:solidFill>
                  <a:srgbClr val="2C3E50"/>
                </a:solidFill>
                <a:latin typeface="Times New Roman"/>
              </a:rPr>
              <a:t>• ∫ aˣ dx = fracaˣln a + C (với a &gt; 0, a ne 1)</a:t>
            </a:r>
          </a:p>
          <a:p>
            <a:pPr>
              <a:spcAft>
                <a:spcPts val="1000"/>
              </a:spcAft>
            </a:pPr>
            <a:r>
              <a:rPr sz="1800">
                <a:solidFill>
                  <a:srgbClr val="2C3E50"/>
                </a:solidFill>
                <a:latin typeface="Times New Roman"/>
              </a:rPr>
              <a:t>• ∫ cos x dx = sin x + C</a:t>
            </a:r>
          </a:p>
          <a:p>
            <a:pPr>
              <a:spcAft>
                <a:spcPts val="1000"/>
              </a:spcAft>
            </a:pPr>
            <a:r>
              <a:rPr sz="1800">
                <a:solidFill>
                  <a:srgbClr val="2C3E50"/>
                </a:solidFill>
                <a:latin typeface="Times New Roman"/>
              </a:rPr>
              <a:t>• ∫ sin x dx = -cos x + C</a:t>
            </a:r>
          </a:p>
          <a:p>
            <a:pPr>
              <a:spcAft>
                <a:spcPts val="1000"/>
              </a:spcAft>
            </a:pPr>
            <a:r>
              <a:rPr sz="1800">
                <a:solidFill>
                  <a:srgbClr val="2C3E50"/>
                </a:solidFill>
                <a:latin typeface="Times New Roman"/>
              </a:rPr>
              <a:t>• ∫ frac1cos² x dx = tan x + C</a:t>
            </a:r>
          </a:p>
          <a:p>
            <a:pPr>
              <a:spcAft>
                <a:spcPts val="1000"/>
              </a:spcAft>
            </a:pPr>
            <a:r>
              <a:rPr sz="1800">
                <a:solidFill>
                  <a:srgbClr val="2C3E50"/>
                </a:solidFill>
                <a:latin typeface="Times New Roman"/>
              </a:rPr>
              <a:t>• ∫ frac1sin² x dx = -cot x +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Bài tập 1</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của hàm số f(x) = x² - 3x + 5.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Bài tập 2</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của hàm số f(x) = eˣ + sin 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Bài tập 3</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của hàm số f(x) = fracx³ + 1x (với x ne 0).</a:t>
            </a:r>
          </a:p>
          <a:p>
            <a:pPr>
              <a:spcAft>
                <a:spcPts val="1000"/>
              </a:spcAft>
            </a:pPr>
            <a:r>
              <a:rPr sz="1800">
                <a:solidFill>
                  <a:srgbClr val="2C3E50"/>
                </a:solidFill>
                <a:latin typeface="Times New Roman"/>
              </a:rPr>
              <a:t>• Gợi ý: Hãy biến đổi biểu thức f(x) về dạng tổng của các hàm số cơ bản.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Vận dụng: Bài toán Quãng đường</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Một vật chuyển động với vận tốc v(t) = 3t² - 2t + 1 (m/s).</a:t>
            </a:r>
          </a:p>
          <a:p>
            <a:pPr>
              <a:spcAft>
                <a:spcPts val="1000"/>
              </a:spcAft>
            </a:pPr>
            <a:r>
              <a:rPr sz="1800">
                <a:solidFill>
                  <a:srgbClr val="2C3E50"/>
                </a:solidFill>
                <a:latin typeface="Times New Roman"/>
              </a:rPr>
              <a:t>• Chúng ta biết rằng quãng đường S(t) là nguyên hàm của vận tốc v(t).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Vận dụng: Xác định hàm quãng đường</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Hãy tìm hàm số biểu diễn quãng đường S(t) mà vật đi được.</a:t>
            </a:r>
          </a:p>
          <a:p>
            <a:pPr>
              <a:spcAft>
                <a:spcPts val="1000"/>
              </a:spcAft>
            </a:pPr>
            <a:r>
              <a:rPr sz="1800">
                <a:solidFill>
                  <a:srgbClr val="2C3E50"/>
                </a:solidFill>
                <a:latin typeface="Times New Roman"/>
              </a:rPr>
              <a:t>• Biết rằng S(0) = 0 (quãng đường ban đầu bằng 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Tổng kết bài học</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Định nghĩa Nguyên hàm: F'(x) = f(x) trên khoảng K.</a:t>
            </a:r>
          </a:p>
          <a:p>
            <a:pPr>
              <a:spcAft>
                <a:spcPts val="1000"/>
              </a:spcAft>
            </a:pPr>
            <a:r>
              <a:rPr sz="1800">
                <a:solidFill>
                  <a:srgbClr val="2C3E50"/>
                </a:solidFill>
                <a:latin typeface="Times New Roman"/>
              </a:rPr>
              <a:t>• Định lí về họ Nguyên hàm: ∫ f(x) dx = F(x) + C.</a:t>
            </a:r>
          </a:p>
          <a:p>
            <a:pPr>
              <a:spcAft>
                <a:spcPts val="1000"/>
              </a:spcAft>
            </a:pPr>
            <a:r>
              <a:rPr sz="1800">
                <a:solidFill>
                  <a:srgbClr val="2C3E50"/>
                </a:solidFill>
                <a:latin typeface="Times New Roman"/>
              </a:rPr>
              <a:t>• Các tính chất cơ bản: ∫ k f(x) dx = k ∫ f(x) dx và ∫ [f(x) ± g(x)] dx = ∫ f(x) dx ± ∫ g(x) dx.</a:t>
            </a:r>
          </a:p>
          <a:p>
            <a:pPr>
              <a:spcAft>
                <a:spcPts val="1000"/>
              </a:spcAft>
            </a:pPr>
            <a:r>
              <a:rPr sz="1800">
                <a:solidFill>
                  <a:srgbClr val="2C3E50"/>
                </a:solidFill>
                <a:latin typeface="Times New Roman"/>
              </a:rPr>
              <a:t>• Bảng nguyên hàm của các hàm số cơ bản.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Dặn dò và Chuẩn bị bài tiếp theo</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Hoàn thành bài tập vận dụng về quãng đường (slide 13).</a:t>
            </a:r>
          </a:p>
          <a:p>
            <a:pPr>
              <a:spcAft>
                <a:spcPts val="1000"/>
              </a:spcAft>
            </a:pPr>
            <a:r>
              <a:rPr sz="1800">
                <a:solidFill>
                  <a:srgbClr val="2C3E50"/>
                </a:solidFill>
                <a:latin typeface="Times New Roman"/>
              </a:rPr>
              <a:t>• Ôn tập lại định nghĩa, tính chất và bảng nguyên hàm cơ bản.</a:t>
            </a:r>
          </a:p>
          <a:p>
            <a:pPr>
              <a:spcAft>
                <a:spcPts val="1000"/>
              </a:spcAft>
            </a:pPr>
            <a:r>
              <a:rPr sz="1800">
                <a:solidFill>
                  <a:srgbClr val="2C3E50"/>
                </a:solidFill>
                <a:latin typeface="Times New Roman"/>
              </a:rPr>
              <a:t>• Đọc trước bài 'Các phương pháp tính nguyên hàm' trong SGK để chuẩn bị cho buổi học tới.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