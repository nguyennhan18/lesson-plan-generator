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Chào các em. Hôm nay chúng ta sẽ bắt đầu một chương mới rất quan trọng trong chương trình Toán 12, đó là Nguyên hàm - Tích phân và Ứng dụng. Bài học đầu tiên của chương này là 'Nguyên hàm'. Đây là một khái niệm nền tảng, giúp chúng ta giải quyết nhiều bài toán trong cả Toán học và thực tiễn. Mục tiêu của bài học này là giúp các em nắm vững định nghĩa, tính chất và biết cách tìm nguyên hàm của các hàm số cơ bản. Chúng ta cùng bắt đầu bài học nhé!</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đặt vấn đề: 'Các em hãy nhìn lên màn hình. Chúng ta đã rất quen thuộc với việc tìm đạo hàm. Bây giờ, với hàm số $F(x) = x^3 + 2x - 5$, hãy tìm đạo hàm $F'(x)$.' (Chờ HS trả lời). 'Đúng rồi, $F'(x) = 3x^2 + 2$. Bây giờ, một câu hỏi ngược lại: Nếu cô cho các em biết $f(x) = 3x^2 + 2$, các em có thể tìm được một hàm số $F(x)$ nào đó mà đạo hàm của nó bằng $f(x)$ không? Và nếu có, có bao nhiêu hàm số như vậy?'. GV yêu cầu HS suy nghĩ cá nhân, sau đó thảo luận nhanh theo cặp. GV gọi 1-2 HS trình bày kết quả. GV nhận xét câu trả lời của HS, nhấn mạnh về việc có nhiều hàm số có cùng đạo hàm. 'Vấn đề tìm hàm số $F(x)$ khi biết đạo hàm $F'(x)$ chính là nội dung của bài học hôm nay: Nguyên hàm'.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yêu cầu HS đọc SGK phần Định nghĩa Nguyên hàm và đặt câu hỏi: 'Thế nào là nguyên hàm của hàm số $f(x)$ trên khoảng $K$?' Sau khi HS trả lời, GV chốt lại định nghĩa trên slide. GV nhấn mạnh điều kiện 'trên khoảng $K$' và mối quan hệ 'đạo hàm của $F(x)$ bằng $f(x)$'. GV có thể lấy ví dụ từ hoạt động khởi động: $F(x) = x^3 + 2x$ là một nguyên hàm của $f(x) = 3x^2 + 2$ trên $\mathbb{R}$ vì $(x^3 + 2x)' = 3x^2 + 2$.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giải thích định lí: 'Nếu $F(x)$ là một nguyên hàm của $f(x)$, thì $F(x) + C$ cũng là nguyên hàm của $f(x)$ với mọi hằng số $C$. Vì sao? Vì đạo hàm của hằng số $C$ bằng 0.' GV nhấn mạnh sự tồn tại của 'họ nguyên hàm' và giới thiệu kí hiệu $\int f(x) dx$. GV giải thích ý nghĩa của kí hiệu này và cách đọc. 'Hằng số $C$ được gọi là hằng số tích phân. Nó thể hiện rằng có vô số nguyên hàm cho một hàm số.'</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trình bày các tính chất cơ bản của nguyên hàm. 'Các tính chất này rất quan trọng, giúp chúng ta tính toán nguyên hàm phức tạp hơn từ các nguyên hàm cơ bản.' GV giải thích từng tính chất và mối liên hệ với các tính chất của đạo hàm. 'Tính chất 1 khẳng định lại định nghĩa. Tính chất 2 và 3 cho phép chúng ta tách nguyên hàm của một biểu thức thành các nguyên hàm đơn giản hơn, tương tự như quy tắc đạo hàm của tổng, hiệu và tích của hằng số với hàm số.'</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trình bày bảng nguyên hàm của một số hàm số cơ bản. 'Các em đã học thuộc bảng đạo hàm rồi. Bây giờ, chúng ta sẽ xây dựng bảng nguyên hàm dựa trên kiến thức đó. Hãy cùng cô điền các công thức nguyên hàm tương ứng với các công thức đạo hàm đã học.' GV có thể yêu cầu HS tự điền hoặc gọi HS trả lời từng dòng. 'Đây là bảng nguyên hàm cơ bản mà các em cần nắm vững và ghi nhớ. Việc thuộc bảng này sẽ giúp chúng ta giải quyết các bài toán tìm nguyên hàm một cách nhanh chóng và chính xác.' GV nhấn mạnh điều kiện của $\alpha$ trong công thức $\int x^\alpha dx$ và sự cần thiết của dấu giá trị tuyệt đối trong $\ln|x|$.</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phát phiếu học tập hoặc chiếu các bài tập lên màn hình. 'Bây giờ chúng ta sẽ cùng luyện tập để củng cố kiến thức vừa học. Các em hãy vận dụng định nghĩa, các tính chất và bảng nguyên hàm cơ bản để giải 3 bài tập này. Các em có thể làm việc cá nhân hoặc thảo luận nhanh theo cặp. Cô sẽ dành 7 phút cho phần này.' GV quan sát HS làm bài, gợi ý khi cần thiết. 'Nếu có khó khăn, các em đừng ngại trao đổi với bạn hoặc hỏi cô nhé.'</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gọi 1 HS lên bảng trình bày lời giải bài 1. 'Mời một em lên bảng trình bày lời giải cho bài số 1.' Sau khi HS trình bày, GV nhận xét và chốt đáp án đúng. 'Các em thấy, với hàm đa thức, chúng ta chỉ cần áp dụng công thức nguyên hàm của $x^\alpha$ và các tính chất của nguyên hàm. Rất đơn giản đúng không? Có bạn nào có kết quả khác hoặc thắc mắc gì không?'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gọi 1 HS khác lên bảng trình bày lời giải bài 2. 'Tiếp theo là bài số 2, một hàm số lượng giác. Bạn nào xung phong lên bảng nào?' Sau khi HS trình bày, GV nhận xét và chốt đáp án đúng. 'Với các hàm lượng giác, chúng ta cần nhớ bảng nguyên hàm cơ bản của hàm $\sin x$, $\cos x$, $\frac{1}{\cos^2 x}$ và $\frac{1}{\sin^2 x}$. Chú ý dấu của nguyên hàm $\sin x$ và $\frac{1}{\sin^2 x}$ để tránh nhầm lẫn.'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gọi 1 HS khác lên bảng trình bày lời giải bài 3. 'Cuối cùng là bài số 3, kết hợp hàm mũ và hàm phân thức. Ai muốn trình bày bài này?' Sau khi HS trình bày, GV nhận xét và chốt đáp án đúng. 'Ở bài này, các em cần lưu ý điều kiện $x &gt; 0$ để loại bỏ dấu giá trị tuyệt đối trong $\ln|x|$. Nếu không có điều kiện này, chúng ta phải giữ nguyên $\ln|x|$. Đây là một điểm nhỏ nhưng rất quan trọng để đảm bảo tính chính xác của lời giải.' GV tổng kết phần luyện tập, chữa các lỗi thường gặp và cách khắc phục.</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đưa ra bài toán vận dụng. 'Bây giờ chúng ta sẽ đến với một bài toán có thêm điều kiện. Bài toán yêu cầu tìm một nguyên hàm cụ thể, không phải họ nguyên hàm. Điều kiện 'đồ thị của $F(x)$ đi qua điểm $A(1; 4)$' có ý nghĩa gì? Các em hãy suy nghĩ xem chúng ta sẽ dùng điều kiện này như thế nào để tìm được hằng số $C$ cụ thể.' GV yêu cầu HS suy nghĩ cá nhân trong 3 phút. 'Gợi ý là các em hãy tìm nguyên hàm tổng quát trước, sau đó sử dụng điều kiện để xác định $C$.'</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gọi 1 HS lên bảng trình bày lời giải chi tiết cho bài toán vận dụng. 'Mời một bạn lên bảng trình bày lời giải cho bài toán này, đặc biệt chú ý cách xác định hằng số $C$.' Sau khi HS trình bày, GV nhận xét, đánh giá lời giải. 'Bài toán này cho thấy ý nghĩa của hằng số $C$ và cách chúng ta xác định một nguyên hàm cụ thể khi có thêm điều kiện ban đầu. Đây là dạng bài tập rất phổ biến và quan trọng.' GV có thể gợi mở về các ứng dụng của nguyên hàm trong thực tế, ví dụ: tìm quãng đường khi biết vận tốc, tìm hàm chi phí khi biết hàm chi phí biên. 'Nguyên hàm có rất nhiều ứng dụng trong các lĩnh vực khoa học, kỹ thuật và kinh tế.'</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tổng kết lại toàn bộ bài học. 'Hôm nay chúng ta đã cùng nhau tìm hiểu về khái niệm nguyên hàm. Các em cần ghi nhớ các điểm chính sau: Định nghĩa nguyên hàm, ý nghĩa của hằng số $C$ trong họ nguyên hàm, các tính chất cơ bản giúp chúng ta tính toán và đặc biệt là bảng nguyên hàm của các hàm số thường gặp.' GV nhấn mạnh lại tầm quan trọng của việc nắm vững các kiến thức này. 'Nguyên hàm là nền tảng cho các bài học tiếp theo về tích phân và ứng dụng, vì vậy hãy chắc chắn rằng các em đã hiểu rõ.'</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giao nhiệm vụ về nhà cho học sinh. 'Để củng cố và mở rộng kiến thức, các em hãy làm các bài tập còn lại trong Sách giáo khoa trang 96, từ Bài 1 đến Bài 4. Ngoài ra, các em hãy đọc trước bài 'Một số phương pháp tìm nguyên hàm' để chuẩn bị cho tiết học tiếp theo. Chúng ta sẽ học các kỹ thuật nâng cao hơn để tìm nguyên hàm của nhiều dạng hàm số khác nhau.' GV trả lời các câu hỏi cuối buổi và kết thúc bài giảng. 'Cảm ơn các em đã tích cực tham gia bài học hôm nay. Hẹn gặp lại các em vào buổi học tiếp theo!'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1828800"/>
            <a:ext cx="182880" cy="320040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828800"/>
            <a:ext cx="9601200" cy="3200400"/>
          </a:xfrm>
          <a:prstGeom prst="rect">
            <a:avLst/>
          </a:prstGeom>
          <a:noFill/>
        </p:spPr>
        <p:txBody>
          <a:bodyPr wrap="square">
            <a:spAutoFit/>
          </a:bodyPr>
          <a:lstStyle/>
          <a:p>
            <a:pPr>
              <a:defRPr sz="1800" b="1">
                <a:solidFill>
                  <a:srgbClr val="0066CC"/>
                </a:solidFill>
                <a:latin typeface="Times New Roman"/>
              </a:defRPr>
            </a:pPr>
            <a:r>
              <a:t>MÔN TOÁN HỌC - LỚP 12</a:t>
            </a:r>
          </a:p>
          <a:p>
            <a:pPr>
              <a:spcBef>
                <a:spcPts val="1500"/>
              </a:spcBef>
              <a:defRPr sz="4000" b="1">
                <a:solidFill>
                  <a:srgbClr val="003366"/>
                </a:solidFill>
                <a:latin typeface="Times New Roman"/>
              </a:defRPr>
            </a:pPr>
            <a:r>
              <a:t>NGUYÊN HÀM</a:t>
            </a:r>
          </a:p>
          <a:p>
            <a:pPr>
              <a:spcBef>
                <a:spcPts val="1000"/>
              </a:spcBef>
              <a:defRPr sz="2200">
                <a:solidFill>
                  <a:srgbClr val="2C3E50"/>
                </a:solidFill>
                <a:latin typeface="Times New Roman"/>
              </a:defRPr>
            </a:pPr>
            <a:r>
              <a:t>Môn Toán học - Lớp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KHỞI ĐỘNG: ĐẠO HÀM NGƯỢC</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Cho hàm số F(x) = x³ + 2x - 5. Hãy tìm đạo hàm F'(x).</a:t>
            </a:r>
          </a:p>
          <a:p>
            <a:pPr>
              <a:spcAft>
                <a:spcPts val="1000"/>
              </a:spcAft>
            </a:pPr>
            <a:r>
              <a:rPr sz="1800">
                <a:solidFill>
                  <a:srgbClr val="2C3E50"/>
                </a:solidFill>
                <a:latin typeface="Times New Roman"/>
              </a:rPr>
              <a:t>• Ngược lại, nếu biết f(x) = 3x² + 2, em có thể tìm được một hàm số F(x) nào đó mà F'(x) = f(x) không?</a:t>
            </a:r>
          </a:p>
          <a:p>
            <a:pPr>
              <a:spcAft>
                <a:spcPts val="1000"/>
              </a:spcAft>
            </a:pPr>
            <a:r>
              <a:rPr sz="1800">
                <a:solidFill>
                  <a:srgbClr val="2C3E50"/>
                </a:solidFill>
                <a:latin typeface="Times New Roman"/>
              </a:rPr>
              <a:t>• Có bao nhiêu hàm số F(x) như vậy?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I. ĐỊNH NGHĨA NGUYÊN HÀM</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Cho hàm số f(x) xác định trên khoảng K.</a:t>
            </a:r>
          </a:p>
          <a:p>
            <a:pPr>
              <a:spcAft>
                <a:spcPts val="1000"/>
              </a:spcAft>
            </a:pPr>
            <a:r>
              <a:rPr sz="1800">
                <a:solidFill>
                  <a:srgbClr val="2C3E50"/>
                </a:solidFill>
                <a:latin typeface="Times New Roman"/>
              </a:rPr>
              <a:t>• Hàm số F(x) được gọi là một nguyên hàm của f(x) trên K nếu F'(x) = f(x) với mọi x ∈ K.</a:t>
            </a:r>
          </a:p>
          <a:p>
            <a:pPr>
              <a:spcBef>
                <a:spcPts val="1500"/>
              </a:spcBef>
              <a:spcAft>
                <a:spcPts val="500"/>
              </a:spcAft>
            </a:pPr>
            <a:r>
              <a:rPr b="1" sz="2000">
                <a:solidFill>
                  <a:srgbClr val="0066CC"/>
                </a:solidFill>
                <a:latin typeface="Times New Roman"/>
              </a:rPr>
              <a:t>Công thức trọng tâm:  </a:t>
            </a:r>
            <a:r>
              <a:rPr b="1" sz="2000">
                <a:solidFill>
                  <a:srgbClr val="0066CC"/>
                </a:solidFill>
                <a:latin typeface="Times New Roman"/>
              </a:rPr>
              <a:t>F'(x) = f(x)</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II. ĐỊNH LÍ VỀ SỰ TỒN TẠI NGUYÊN HÀM</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Nếu F(x) là một nguyên hàm của f(x) trên khoảng K, thì mọi nguyên hàm của f(x) trên K đều có dạng F(x) + C, với C là một hằng số tùy ý.</a:t>
            </a:r>
          </a:p>
          <a:p>
            <a:pPr>
              <a:spcAft>
                <a:spcPts val="1000"/>
              </a:spcAft>
            </a:pPr>
            <a:r>
              <a:rPr sz="1800">
                <a:solidFill>
                  <a:srgbClr val="2C3E50"/>
                </a:solidFill>
                <a:latin typeface="Times New Roman"/>
              </a:rPr>
              <a:t>• Kí hiệu ∫ f(x) dx = F(x) + C. Đọc là 'nguyên hàm của f(x)'.</a:t>
            </a:r>
          </a:p>
          <a:p>
            <a:pPr>
              <a:spcBef>
                <a:spcPts val="1500"/>
              </a:spcBef>
              <a:spcAft>
                <a:spcPts val="500"/>
              </a:spcAft>
            </a:pPr>
            <a:r>
              <a:rPr b="1" sz="2000">
                <a:solidFill>
                  <a:srgbClr val="0066CC"/>
                </a:solidFill>
                <a:latin typeface="Times New Roman"/>
              </a:rPr>
              <a:t>Công thức trọng tâm:  </a:t>
            </a:r>
            <a:r>
              <a:rPr b="1" sz="2000">
                <a:solidFill>
                  <a:srgbClr val="0066CC"/>
                </a:solidFill>
                <a:latin typeface="Times New Roman"/>
              </a:rPr>
              <a:t>∫ f(x) dx = F(x) + 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III. TÍNH CHẤT CỦA NGUYÊN HÀM</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Tính chất 1: Đạo hàm của nguyên hàm là hàm số ban đầu: ( ∫ f(x) dx )' = f(x).</a:t>
            </a:r>
          </a:p>
          <a:p>
            <a:pPr>
              <a:spcAft>
                <a:spcPts val="1000"/>
              </a:spcAft>
            </a:pPr>
            <a:r>
              <a:rPr sz="1800">
                <a:solidFill>
                  <a:srgbClr val="2C3E50"/>
                </a:solidFill>
                <a:latin typeface="Times New Roman"/>
              </a:rPr>
              <a:t>• Tính chất 2: Hằng số có thể đưa ra ngoài dấu nguyên hàm: ∫ k f(x) dx = k ∫ f(x) dx (với k là hằng số khác 0).</a:t>
            </a:r>
          </a:p>
          <a:p>
            <a:pPr>
              <a:spcAft>
                <a:spcPts val="1000"/>
              </a:spcAft>
            </a:pPr>
            <a:r>
              <a:rPr sz="1800">
                <a:solidFill>
                  <a:srgbClr val="2C3E50"/>
                </a:solidFill>
                <a:latin typeface="Times New Roman"/>
              </a:rPr>
              <a:t>• Tính chất 3: Nguyên hàm của tổng (hiệu) bằng tổng (hiệu) các nguyên hàm: ∫ [f(x) ± g(x)] dx = ∫ f(x) dx ± ∫ g(x) dx.</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IV. BẢNG NGUYÊN HÀM CỦA MỘT SỐ HÀM SỐ THƯỜNG GẶP</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Dựa vào bảng đạo hàm, hãy điền công thức nguyên hàm tương ứng:</a:t>
            </a:r>
          </a:p>
          <a:p>
            <a:pPr>
              <a:spcAft>
                <a:spcPts val="1000"/>
              </a:spcAft>
            </a:pPr>
            <a:r>
              <a:rPr sz="1800">
                <a:solidFill>
                  <a:srgbClr val="2C3E50"/>
                </a:solidFill>
                <a:latin typeface="Times New Roman"/>
              </a:rPr>
              <a:t>• ∫ 0 dx = C</a:t>
            </a:r>
          </a:p>
          <a:p>
            <a:pPr>
              <a:spcAft>
                <a:spcPts val="1000"/>
              </a:spcAft>
            </a:pPr>
            <a:r>
              <a:rPr sz="1800">
                <a:solidFill>
                  <a:srgbClr val="2C3E50"/>
                </a:solidFill>
                <a:latin typeface="Times New Roman"/>
              </a:rPr>
              <a:t>• ∫ dx = x + C</a:t>
            </a:r>
          </a:p>
          <a:p>
            <a:pPr>
              <a:spcAft>
                <a:spcPts val="1000"/>
              </a:spcAft>
            </a:pPr>
            <a:r>
              <a:rPr sz="1800">
                <a:solidFill>
                  <a:srgbClr val="2C3E50"/>
                </a:solidFill>
                <a:latin typeface="Times New Roman"/>
              </a:rPr>
              <a:t>• ∫ x^α dx = fracxα⁺¹α+1 + C (với α ne -1)</a:t>
            </a:r>
          </a:p>
          <a:p>
            <a:pPr>
              <a:spcAft>
                <a:spcPts val="1000"/>
              </a:spcAft>
            </a:pPr>
            <a:r>
              <a:rPr sz="1800">
                <a:solidFill>
                  <a:srgbClr val="2C3E50"/>
                </a:solidFill>
                <a:latin typeface="Times New Roman"/>
              </a:rPr>
              <a:t>• ∫ frac1x dx = ln|x| + C</a:t>
            </a:r>
          </a:p>
          <a:p>
            <a:pPr>
              <a:spcAft>
                <a:spcPts val="1000"/>
              </a:spcAft>
            </a:pPr>
            <a:r>
              <a:rPr sz="1800">
                <a:solidFill>
                  <a:srgbClr val="2C3E50"/>
                </a:solidFill>
                <a:latin typeface="Times New Roman"/>
              </a:rPr>
              <a:t>• ∫ eˣ dx = eˣ + C</a:t>
            </a:r>
          </a:p>
          <a:p>
            <a:pPr>
              <a:spcAft>
                <a:spcPts val="1000"/>
              </a:spcAft>
            </a:pPr>
            <a:r>
              <a:rPr sz="1800">
                <a:solidFill>
                  <a:srgbClr val="2C3E50"/>
                </a:solidFill>
                <a:latin typeface="Times New Roman"/>
              </a:rPr>
              <a:t>• ∫ aˣ dx = fracaˣln a + C (với 0 &lt; a ne 1)</a:t>
            </a:r>
          </a:p>
          <a:p>
            <a:pPr>
              <a:spcAft>
                <a:spcPts val="1000"/>
              </a:spcAft>
            </a:pPr>
            <a:r>
              <a:rPr sz="1800">
                <a:solidFill>
                  <a:srgbClr val="2C3E50"/>
                </a:solidFill>
                <a:latin typeface="Times New Roman"/>
              </a:rPr>
              <a:t>• ∫ cos x dx = sin x + C</a:t>
            </a:r>
          </a:p>
          <a:p>
            <a:pPr>
              <a:spcAft>
                <a:spcPts val="1000"/>
              </a:spcAft>
            </a:pPr>
            <a:r>
              <a:rPr sz="1800">
                <a:solidFill>
                  <a:srgbClr val="2C3E50"/>
                </a:solidFill>
                <a:latin typeface="Times New Roman"/>
              </a:rPr>
              <a:t>• ∫ sin x dx = -cos x + C</a:t>
            </a:r>
          </a:p>
          <a:p>
            <a:pPr>
              <a:spcAft>
                <a:spcPts val="1000"/>
              </a:spcAft>
            </a:pPr>
            <a:r>
              <a:rPr sz="1800">
                <a:solidFill>
                  <a:srgbClr val="2C3E50"/>
                </a:solidFill>
                <a:latin typeface="Times New Roman"/>
              </a:rPr>
              <a:t>• ∫ frac1cos² x dx = tan x + C</a:t>
            </a:r>
          </a:p>
          <a:p>
            <a:pPr>
              <a:spcAft>
                <a:spcPts val="1000"/>
              </a:spcAft>
            </a:pPr>
            <a:r>
              <a:rPr sz="1800">
                <a:solidFill>
                  <a:srgbClr val="2C3E50"/>
                </a:solidFill>
                <a:latin typeface="Times New Roman"/>
              </a:rPr>
              <a:t>• ∫ frac1sin² x dx = -cot x + 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V. LUYỆN TẬP</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Bài 1: Tìm nguyên hàm của hàm số f(x) = x⁵ - 4x³ + 2x - 7.</a:t>
            </a:r>
          </a:p>
          <a:p>
            <a:pPr>
              <a:spcAft>
                <a:spcPts val="1000"/>
              </a:spcAft>
            </a:pPr>
            <a:r>
              <a:rPr sz="1800">
                <a:solidFill>
                  <a:srgbClr val="2C3E50"/>
                </a:solidFill>
                <a:latin typeface="Times New Roman"/>
              </a:rPr>
              <a:t>• Bài 2: Tìm nguyên hàm của hàm số f(x) = 3cos x + frac1sin² x.</a:t>
            </a:r>
          </a:p>
          <a:p>
            <a:pPr>
              <a:spcAft>
                <a:spcPts val="1000"/>
              </a:spcAft>
            </a:pPr>
            <a:r>
              <a:rPr sz="1800">
                <a:solidFill>
                  <a:srgbClr val="2C3E50"/>
                </a:solidFill>
                <a:latin typeface="Times New Roman"/>
              </a:rPr>
              <a:t>• Bài 3: Tìm nguyên hàm của hàm số f(x) = 5eˣ - frac2x (với x &gt; 0).</a:t>
            </a:r>
          </a:p>
          <a:p>
            <a:pPr>
              <a:spcAft>
                <a:spcPts val="1000"/>
              </a:spcAft>
            </a:pPr>
            <a:r>
              <a:rPr sz="1800">
                <a:solidFill>
                  <a:srgbClr val="2C3E50"/>
                </a:solidFill>
                <a:latin typeface="Times New Roman"/>
              </a:rPr>
              <a:t>• Thời gian làm bài: 7 phút.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ĐÁP ÁN LUYỆN TẬP: BÀI 1</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Bài 1: Tìm nguyên hàm của hàm số f(x) = x⁵ - 4x³ + 2x - 7.</a:t>
            </a:r>
          </a:p>
          <a:p>
            <a:pPr>
              <a:spcAft>
                <a:spcPts val="1000"/>
              </a:spcAft>
            </a:pPr>
            <a:r>
              <a:rPr sz="1800">
                <a:solidFill>
                  <a:srgbClr val="2C3E50"/>
                </a:solidFill>
                <a:latin typeface="Times New Roman"/>
              </a:rPr>
              <a:t>• Lời giải:</a:t>
            </a:r>
          </a:p>
          <a:p>
            <a:pPr>
              <a:spcAft>
                <a:spcPts val="1000"/>
              </a:spcAft>
            </a:pPr>
            <a:r>
              <a:rPr sz="1800">
                <a:solidFill>
                  <a:srgbClr val="2C3E50"/>
                </a:solidFill>
                <a:latin typeface="Times New Roman"/>
              </a:rPr>
              <a:t>• ∫ (x⁵ - 4x³ + 2x - 7) dx</a:t>
            </a:r>
          </a:p>
          <a:p>
            <a:pPr>
              <a:spcAft>
                <a:spcPts val="1000"/>
              </a:spcAft>
            </a:pPr>
            <a:r>
              <a:rPr sz="1800">
                <a:solidFill>
                  <a:srgbClr val="2C3E50"/>
                </a:solidFill>
                <a:latin typeface="Times New Roman"/>
              </a:rPr>
              <a:t>• = ∫ x⁵ dx - 4 ∫ x³ dx + 2 ∫ x dx - ∫ 7 dx</a:t>
            </a:r>
          </a:p>
          <a:p>
            <a:pPr>
              <a:spcAft>
                <a:spcPts val="1000"/>
              </a:spcAft>
            </a:pPr>
            <a:r>
              <a:rPr sz="1800">
                <a:solidFill>
                  <a:srgbClr val="2C3E50"/>
                </a:solidFill>
                <a:latin typeface="Times New Roman"/>
              </a:rPr>
              <a:t>• = fracx⁶6 - 4 fracx⁴4 + 2 fracx²2 - 7x + C</a:t>
            </a:r>
          </a:p>
          <a:p>
            <a:pPr>
              <a:spcAft>
                <a:spcPts val="1000"/>
              </a:spcAft>
            </a:pPr>
            <a:r>
              <a:rPr sz="1800">
                <a:solidFill>
                  <a:srgbClr val="2C3E50"/>
                </a:solidFill>
                <a:latin typeface="Times New Roman"/>
              </a:rPr>
              <a:t>• = fracx⁶6 - x⁴ + x² - 7x +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ĐÁP ÁN LUYỆN TẬP: BÀI 2</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Bài 2: Tìm nguyên hàm của hàm số f(x) = 3cos x + frac1sin² x.</a:t>
            </a:r>
          </a:p>
          <a:p>
            <a:pPr>
              <a:spcAft>
                <a:spcPts val="1000"/>
              </a:spcAft>
            </a:pPr>
            <a:r>
              <a:rPr sz="1800">
                <a:solidFill>
                  <a:srgbClr val="2C3E50"/>
                </a:solidFill>
                <a:latin typeface="Times New Roman"/>
              </a:rPr>
              <a:t>• Lời giải:</a:t>
            </a:r>
          </a:p>
          <a:p>
            <a:pPr>
              <a:spcAft>
                <a:spcPts val="1000"/>
              </a:spcAft>
            </a:pPr>
            <a:r>
              <a:rPr sz="1800">
                <a:solidFill>
                  <a:srgbClr val="2C3E50"/>
                </a:solidFill>
                <a:latin typeface="Times New Roman"/>
              </a:rPr>
              <a:t>• ∫ (3cos x + frac1sin² x) dx</a:t>
            </a:r>
          </a:p>
          <a:p>
            <a:pPr>
              <a:spcAft>
                <a:spcPts val="1000"/>
              </a:spcAft>
            </a:pPr>
            <a:r>
              <a:rPr sz="1800">
                <a:solidFill>
                  <a:srgbClr val="2C3E50"/>
                </a:solidFill>
                <a:latin typeface="Times New Roman"/>
              </a:rPr>
              <a:t>• = 3 ∫ cos x dx + ∫ frac1sin² x dx</a:t>
            </a:r>
          </a:p>
          <a:p>
            <a:pPr>
              <a:spcAft>
                <a:spcPts val="1000"/>
              </a:spcAft>
            </a:pPr>
            <a:r>
              <a:rPr sz="1800">
                <a:solidFill>
                  <a:srgbClr val="2C3E50"/>
                </a:solidFill>
                <a:latin typeface="Times New Roman"/>
              </a:rPr>
              <a:t>• = 3 sin x - cot x + 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ĐÁP ÁN LUYỆN TẬP: BÀI 3</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Bài 3: Tìm nguyên hàm của hàm số f(x) = 5eˣ - frac2x (với x &gt; 0).</a:t>
            </a:r>
          </a:p>
          <a:p>
            <a:pPr>
              <a:spcAft>
                <a:spcPts val="1000"/>
              </a:spcAft>
            </a:pPr>
            <a:r>
              <a:rPr sz="1800">
                <a:solidFill>
                  <a:srgbClr val="2C3E50"/>
                </a:solidFill>
                <a:latin typeface="Times New Roman"/>
              </a:rPr>
              <a:t>• Lời giải:</a:t>
            </a:r>
          </a:p>
          <a:p>
            <a:pPr>
              <a:spcAft>
                <a:spcPts val="1000"/>
              </a:spcAft>
            </a:pPr>
            <a:r>
              <a:rPr sz="1800">
                <a:solidFill>
                  <a:srgbClr val="2C3E50"/>
                </a:solidFill>
                <a:latin typeface="Times New Roman"/>
              </a:rPr>
              <a:t>• ∫ (5eˣ - frac2x) dx</a:t>
            </a:r>
          </a:p>
          <a:p>
            <a:pPr>
              <a:spcAft>
                <a:spcPts val="1000"/>
              </a:spcAft>
            </a:pPr>
            <a:r>
              <a:rPr sz="1800">
                <a:solidFill>
                  <a:srgbClr val="2C3E50"/>
                </a:solidFill>
                <a:latin typeface="Times New Roman"/>
              </a:rPr>
              <a:t>• = 5 ∫ eˣ dx - 2 ∫ frac1x dx</a:t>
            </a:r>
          </a:p>
          <a:p>
            <a:pPr>
              <a:spcAft>
                <a:spcPts val="1000"/>
              </a:spcAft>
            </a:pPr>
            <a:r>
              <a:rPr sz="1800">
                <a:solidFill>
                  <a:srgbClr val="2C3E50"/>
                </a:solidFill>
                <a:latin typeface="Times New Roman"/>
              </a:rPr>
              <a:t>• = 5eˣ - 2ln|x| + C</a:t>
            </a:r>
          </a:p>
          <a:p>
            <a:pPr>
              <a:spcAft>
                <a:spcPts val="1000"/>
              </a:spcAft>
            </a:pPr>
            <a:r>
              <a:rPr sz="1800">
                <a:solidFill>
                  <a:srgbClr val="2C3E50"/>
                </a:solidFill>
                <a:latin typeface="Times New Roman"/>
              </a:rPr>
              <a:t>• Vì x &gt; 0, nên |x| = x. Vậy: 5eˣ - 2ln x + 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VI. VẬN DỤNG</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Bài toán: Tìm nguyên hàm F(x) của hàm số f(x) = 3x² - 2x + 1, biết rằng đồ thị của F(x) đi qua điểm A(1; 4).</a:t>
            </a:r>
          </a:p>
          <a:p>
            <a:pPr>
              <a:spcAft>
                <a:spcPts val="1000"/>
              </a:spcAft>
            </a:pPr>
            <a:r>
              <a:rPr sz="1800">
                <a:solidFill>
                  <a:srgbClr val="2C3E50"/>
                </a:solidFill>
                <a:latin typeface="Times New Roman"/>
              </a:rPr>
              <a:t>• Hãy suy nghĩ cách giải trong 3 phút.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ĐÁP ÁN VẬN DỤNG</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Bước 1: Tìm nguyên hàm tổng quát của f(x).</a:t>
            </a:r>
          </a:p>
          <a:p>
            <a:pPr>
              <a:spcAft>
                <a:spcPts val="1000"/>
              </a:spcAft>
            </a:pPr>
            <a:r>
              <a:rPr sz="1800">
                <a:solidFill>
                  <a:srgbClr val="2C3E50"/>
                </a:solidFill>
                <a:latin typeface="Times New Roman"/>
              </a:rPr>
              <a:t>• ∫ (3x² - 2x + 1) dx = x³ - x² + x + C.</a:t>
            </a:r>
          </a:p>
          <a:p>
            <a:pPr>
              <a:spcAft>
                <a:spcPts val="1000"/>
              </a:spcAft>
            </a:pPr>
            <a:r>
              <a:rPr sz="1800">
                <a:solidFill>
                  <a:srgbClr val="2C3E50"/>
                </a:solidFill>
                <a:latin typeface="Times New Roman"/>
              </a:rPr>
              <a:t>• Vậy, F(x) = x³ - x² + x + C.</a:t>
            </a:r>
          </a:p>
          <a:p>
            <a:pPr>
              <a:spcAft>
                <a:spcPts val="1000"/>
              </a:spcAft>
            </a:pPr>
            <a:r>
              <a:rPr sz="1800">
                <a:solidFill>
                  <a:srgbClr val="2C3E50"/>
                </a:solidFill>
                <a:latin typeface="Times New Roman"/>
              </a:rPr>
              <a:t>• Bước 2: Sử dụng điều kiện để tìm C.</a:t>
            </a:r>
          </a:p>
          <a:p>
            <a:pPr>
              <a:spcAft>
                <a:spcPts val="1000"/>
              </a:spcAft>
            </a:pPr>
            <a:r>
              <a:rPr sz="1800">
                <a:solidFill>
                  <a:srgbClr val="2C3E50"/>
                </a:solidFill>
                <a:latin typeface="Times New Roman"/>
              </a:rPr>
              <a:t>• Đồ thị của F(x) đi qua điểm A(1; 4) có nghĩa là F(1) = 4.</a:t>
            </a:r>
          </a:p>
          <a:p>
            <a:pPr>
              <a:spcAft>
                <a:spcPts val="1000"/>
              </a:spcAft>
            </a:pPr>
            <a:r>
              <a:rPr sz="1800">
                <a:solidFill>
                  <a:srgbClr val="2C3E50"/>
                </a:solidFill>
                <a:latin typeface="Times New Roman"/>
              </a:rPr>
              <a:t>• Thay x = 1 vào F(x): F(1) = 1³ - 1² + 1 + C = 1 - 1 + 1 + C = 1 + C.</a:t>
            </a:r>
          </a:p>
          <a:p>
            <a:pPr>
              <a:spcAft>
                <a:spcPts val="1000"/>
              </a:spcAft>
            </a:pPr>
            <a:r>
              <a:rPr sz="1800">
                <a:solidFill>
                  <a:srgbClr val="2C3E50"/>
                </a:solidFill>
                <a:latin typeface="Times New Roman"/>
              </a:rPr>
              <a:t>• Do F(1) = 4, ta có 1 + C = 4 ⇒ C = 3.</a:t>
            </a:r>
          </a:p>
          <a:p>
            <a:pPr>
              <a:spcAft>
                <a:spcPts val="1000"/>
              </a:spcAft>
            </a:pPr>
            <a:r>
              <a:rPr sz="1800">
                <a:solidFill>
                  <a:srgbClr val="2C3E50"/>
                </a:solidFill>
                <a:latin typeface="Times New Roman"/>
              </a:rPr>
              <a:t>• Kết luận: Nguyên hàm cần tìm là F(x) = x³ - x² + x + 3.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TÓM TẮT BÀI HỌC</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Định nghĩa nguyên hàm: F'(x) = f(x).</a:t>
            </a:r>
          </a:p>
          <a:p>
            <a:pPr>
              <a:spcAft>
                <a:spcPts val="1000"/>
              </a:spcAft>
            </a:pPr>
            <a:r>
              <a:rPr sz="1800">
                <a:solidFill>
                  <a:srgbClr val="2C3E50"/>
                </a:solidFill>
                <a:latin typeface="Times New Roman"/>
              </a:rPr>
              <a:t>• Họ nguyên hàm: ∫ f(x) dx = F(x) + C.</a:t>
            </a:r>
          </a:p>
          <a:p>
            <a:pPr>
              <a:spcAft>
                <a:spcPts val="1000"/>
              </a:spcAft>
            </a:pPr>
            <a:r>
              <a:rPr sz="1800">
                <a:solidFill>
                  <a:srgbClr val="2C3E50"/>
                </a:solidFill>
                <a:latin typeface="Times New Roman"/>
              </a:rPr>
              <a:t>• Các tính chất cơ bản: Đạo hàm của nguyên hàm, hằng số, tổng/hiệu.</a:t>
            </a:r>
          </a:p>
          <a:p>
            <a:pPr>
              <a:spcAft>
                <a:spcPts val="1000"/>
              </a:spcAft>
            </a:pPr>
            <a:r>
              <a:rPr sz="1800">
                <a:solidFill>
                  <a:srgbClr val="2C3E50"/>
                </a:solidFill>
                <a:latin typeface="Times New Roman"/>
              </a:rPr>
              <a:t>• Bảng nguyên hàm của một số hàm số thường gặp.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DẶN DÒ VÀ KẾT THÚC</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Hoàn thành các bài tập còn lại trong Sách giáo khoa (trang 96, Bài 1-4).</a:t>
            </a:r>
          </a:p>
          <a:p>
            <a:pPr>
              <a:spcAft>
                <a:spcPts val="1000"/>
              </a:spcAft>
            </a:pPr>
            <a:r>
              <a:rPr sz="1800">
                <a:solidFill>
                  <a:srgbClr val="2C3E50"/>
                </a:solidFill>
                <a:latin typeface="Times New Roman"/>
              </a:rPr>
              <a:t>• Chuẩn bị bài 'Một số phương pháp tìm nguyên hàm' cho tiết học tiếp theo.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