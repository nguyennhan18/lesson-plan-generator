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Chào mừng các em học sinh đến với bài học đầu tiên của chương trình Giải tích 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Nhấn mạnh điều kiện đạo hàm dương thì hàm đồng biến.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Chỉ ra cho học sinh thấy sự tương ứng giữa dấu của tiếp tuyến và hình dáng đồ thị.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Cho học sinh 2 phút giải nhanh vào vở nháp.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"/>
            <a:ext cx="118872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SLIDE 1/4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"/>
            <a:ext cx="13716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TITLE SLIDE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051560"/>
            <a:ext cx="3291840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2563EB"/>
                </a:solidFill>
                <a:latin typeface="Arial"/>
              </a:rPr>
              <a:t>MÔN TOÁN HỌC - LỚP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0F2B5C"/>
                </a:solidFill>
                <a:latin typeface="Times New Roman"/>
              </a:rPr>
              <a:t>Tính đơn điệu và cực trị của hàm số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i="1">
                <a:solidFill>
                  <a:srgbClr val="475569"/>
                </a:solidFill>
                <a:latin typeface="Times New Roman"/>
              </a:rPr>
              <a:t>Bài 1 - Chương 1: Ứng dụng đạo hàm để khảo sát và vẽ đồ thị hàm số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64748B"/>
                </a:solidFill>
                <a:latin typeface="Arial"/>
              </a:rPr>
              <a:t>KẾ HOẠCH BÀI DẠY THEO CÔNG VĂN 5512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"/>
            <a:ext cx="118872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SLIDE 2/4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"/>
            <a:ext cx="13716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CONCEPT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B5C"/>
                </a:solidFill>
                <a:latin typeface="Times New Roman"/>
              </a:rPr>
              <a:t>1. Định lý về tính đơn điệu của hàm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  <a:latin typeface="Times New Roman"/>
              </a:rPr>
              <a:t>Mối liên hệ giữa dấu của đạo hàm f'(x) và chiều biến thiên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Cho hàm số y = f(x) có đạo hàm trên khoảng K.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Nếu f'(x) &gt; 0 với mọi x thuộc K thì hàm số f(x) đồng biến trên K.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Nếu f'(x) &lt; 0 với mọi x thuộc K thì hàm số f(x) nghịch biến trên K.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Nếu f'(x) = 0 với mọi x thuộc K thì hàm số f(x) là hàm hằng (không đổi).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20440"/>
            <a:ext cx="6400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52044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798800"/>
            <a:ext cx="5852160" cy="540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809744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Kế hoạch bài dạy môn Toán học - Lớp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09744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Trang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"/>
            <a:ext cx="118872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SLIDE 3/4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"/>
            <a:ext cx="13716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CONCEPT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B5C"/>
                </a:solidFill>
                <a:latin typeface="Times New Roman"/>
              </a:rPr>
              <a:t>2. Minh họa hình học: Khảo sát y = x³ - 3x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  <a:latin typeface="Times New Roman"/>
              </a:rPr>
              <a:t>Quan sát các điểm cực trị và khoảng đồng biến, nghịch biến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4389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300">
                <a:solidFill>
                  <a:srgbClr val="2563EB"/>
                </a:solidFill>
                <a:latin typeface="Arial"/>
              </a:rPr>
              <a:t>•  </a:t>
            </a:r>
            <a:r>
              <a:rPr sz="1300">
                <a:solidFill>
                  <a:srgbClr val="1E293B"/>
                </a:solidFill>
                <a:latin typeface="Times New Roman"/>
              </a:rPr>
              <a:t>Đạo hàm: y' = 3x² - 3 = 3(x² - 1).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563EB"/>
                </a:solidFill>
                <a:latin typeface="Arial"/>
              </a:rPr>
              <a:t>•  </a:t>
            </a:r>
            <a:r>
              <a:rPr sz="1300">
                <a:solidFill>
                  <a:srgbClr val="1E293B"/>
                </a:solidFill>
                <a:latin typeface="Times New Roman"/>
              </a:rPr>
              <a:t>Nghiệm đạo hàm: x = 1 hoặc x = -1.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563EB"/>
                </a:solidFill>
                <a:latin typeface="Arial"/>
              </a:rPr>
              <a:t>•  </a:t>
            </a:r>
            <a:r>
              <a:rPr sz="1300">
                <a:solidFill>
                  <a:srgbClr val="1E293B"/>
                </a:solidFill>
                <a:latin typeface="Times New Roman"/>
              </a:rPr>
              <a:t>Hàm số đồng biến trên (-∞, -1) và (1, +∞).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563EB"/>
                </a:solidFill>
                <a:latin typeface="Arial"/>
              </a:rPr>
              <a:t>•  </a:t>
            </a:r>
            <a:r>
              <a:rPr sz="1300">
                <a:solidFill>
                  <a:srgbClr val="1E293B"/>
                </a:solidFill>
                <a:latin typeface="Times New Roman"/>
              </a:rPr>
              <a:t>Hàm số nghịch biến trên (-1, 1).</a:t>
            </a:r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2563EB"/>
                </a:solidFill>
                <a:latin typeface="Arial"/>
              </a:rPr>
              <a:t>•  </a:t>
            </a:r>
            <a:r>
              <a:rPr sz="1300">
                <a:solidFill>
                  <a:srgbClr val="1E293B"/>
                </a:solidFill>
                <a:latin typeface="Times New Roman"/>
              </a:rPr>
              <a:t>Điểm cực đại: (-1, 2), Điểm cực tiểu: (1, -2).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438912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25844"/>
            <a:ext cx="4023360" cy="48647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120640" y="160020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673352"/>
            <a:ext cx="3291840" cy="22402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897880" y="3995928"/>
            <a:ext cx="1920240" cy="237744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0369A1"/>
                </a:solidFill>
                <a:latin typeface="Arial"/>
              </a:rPr>
              <a:t>📊 Đồ thị Matplotlib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42519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475569"/>
                </a:solidFill>
                <a:latin typeface="Arial"/>
              </a:rPr>
              <a:t>Đồ thị hàm số y = x³ - 3x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09744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Kế hoạch bài dạy môn Toán học - Lớp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809744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Trang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8872"/>
            <a:ext cx="1188720" cy="347472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SLIDE 4/4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06640" y="118872"/>
            <a:ext cx="137160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EXERCISE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3152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F2B5C"/>
                </a:solidFill>
                <a:latin typeface="Times New Roman"/>
              </a:rPr>
              <a:t>3. Bài tập vận dụng nhanh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75569"/>
                </a:solidFill>
                <a:latin typeface="Times New Roman"/>
              </a:rPr>
              <a:t>Tìm các khoảng đơn điệu của hàm số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📌 Bài toán: Tìm các khoảng đồng biến và nghịch biến của hàm số y = -x³ + 3x² - 2.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💡 Bước 1: Tính đạo hàm y' = -3x² + 6x.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💡 Bước 2: Cho y' = 0 &lt;=&gt; x = 0 hoặc x = 2.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563EB"/>
                </a:solidFill>
                <a:latin typeface="Arial"/>
              </a:rPr>
              <a:t>•  </a:t>
            </a:r>
            <a:r>
              <a:rPr sz="1500">
                <a:solidFill>
                  <a:srgbClr val="1E293B"/>
                </a:solidFill>
                <a:latin typeface="Times New Roman"/>
              </a:rPr>
              <a:t>💡 Bước 3: Lập bảng xét dấu đạo hàm y' để kết luận.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20440"/>
            <a:ext cx="64008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520440"/>
            <a:ext cx="54864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3755938"/>
            <a:ext cx="5852160" cy="6262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4809744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94A3B8"/>
                </a:solidFill>
                <a:latin typeface="Arial"/>
              </a:rPr>
              <a:t>Kế hoạch bài dạy môn Toán học - Lớp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809744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94A3B8"/>
                </a:solidFill>
                <a:latin typeface="Arial"/>
              </a:rPr>
              <a:t>Trang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