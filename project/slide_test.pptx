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Chào mừng các em đến với bài học hôm nay. Hôm nay chúng ta sẽ cùng nhau khám phá một khái niệm mới rất quan trọng trong giải tích, đó là 'Nguyên hàm'.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Để bắt đầu bài học, các em hãy cùng ôn lại một chút về đạo hàm. Thử tìm hàm số mà đạo hàm của nó là $2x$ và $\cos x$. Các em có nhận thấy điều gì đặc biệt về số lượng các hàm số như vậy không?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Vậy Nguyên hàm là gì? Từ bài khởi động, chúng ta thấy rằng việc tìm một hàm số mà đạo hàm của nó bằng một hàm cho trước chính là khái niệm về Nguyên hàm. Đây là định nghĩa chính thức của nó.</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Từ định nghĩa, chúng ta có một định lý quan trọng. Nếu chúng ta đã tìm được một nguyên hàm $F(x)$, thì tất cả các nguyên hàm khác của $f(x)$ sẽ có dạng $F(x)$ cộng thêm một hằng số $C$. Ký hiệu $\int f(x) dx$ được dùng để chỉ họ tất cả các nguyên hàm của $f(x)$.</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Nguyên hàm cũng có những tính chất tương tự như đạo hàm và tích phân mà chúng ta đã biết. Hai tính chất cơ bản này sẽ giúp chúng ta tính toán nguyên hàm của các hàm số phức tạp hơn.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Đây là bảng các nguyên hàm cơ bản mà các em cần nắm vững. Việc ghi nhớ và áp dụng bảng này sẽ giúp chúng ta giải quyết các bài toán tìm nguyên hàm một cách nhanh chóng và chính xác.</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Bây giờ chúng ta cùng áp dụng các kiến thức vừa học để làm một số bài tập đơn giản. Hãy thử tìm nguyên hàm của các hàm số này.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Tiếp theo là hai bài tập có độ phức tạp hơn một chút, đòi hỏi các em phải vận dụng linh hoạt các tính chất và bảng nguyên hàm cơ bản. Gợi ý: Hãy nghĩ đến việc đổi biến hoặc khai triển trước khi tìm nguyên hàm.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Trước khi kết thúc, thầy/cô muốn nhấn mạnh một số điểm quan trọng. Việc quên hằng số $C$ là một lỗi rất phổ biến. Hãy luôn nhớ kiểm tra lại kết quả và luyện tập thường xuyên nhé!</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Hôm nay chúng ta đã cùng nhau tìm hiểu về khái niệm Nguyên hàm, các tính chất cơ bản và bảng nguyên hàm. Đây là nền tảng quan trọng cho các bài học tiếp theo về tích phân. Các em hãy về nhà ôn tập kỹ và làm thêm bài tập nhé!</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ectangle 3"/>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400" y="1828800"/>
            <a:ext cx="182880" cy="320040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1828800"/>
            <a:ext cx="9601200" cy="3200400"/>
          </a:xfrm>
          <a:prstGeom prst="rect">
            <a:avLst/>
          </a:prstGeom>
          <a:noFill/>
        </p:spPr>
        <p:txBody>
          <a:bodyPr wrap="square">
            <a:spAutoFit/>
          </a:bodyPr>
          <a:lstStyle/>
          <a:p>
            <a:pPr>
              <a:defRPr sz="1800" b="1">
                <a:solidFill>
                  <a:srgbClr val="0066CC"/>
                </a:solidFill>
                <a:latin typeface="Times New Roman"/>
              </a:defRPr>
            </a:pPr>
            <a:r>
              <a:t>MÔN TOÁN HỌC - LỚP 12</a:t>
            </a:r>
          </a:p>
          <a:p>
            <a:pPr>
              <a:spcBef>
                <a:spcPts val="1500"/>
              </a:spcBef>
              <a:defRPr sz="4000" b="1">
                <a:solidFill>
                  <a:srgbClr val="003366"/>
                </a:solidFill>
                <a:latin typeface="Times New Roman"/>
              </a:defRPr>
            </a:pPr>
            <a:r>
              <a:t>Nguyên hàm</a:t>
            </a:r>
          </a:p>
          <a:p>
            <a:pPr>
              <a:spcBef>
                <a:spcPts val="1000"/>
              </a:spcBef>
              <a:defRPr sz="2200">
                <a:solidFill>
                  <a:srgbClr val="2C3E50"/>
                </a:solidFill>
                <a:latin typeface="Times New Roman"/>
              </a:defRPr>
            </a:pPr>
            <a:r>
              <a:t>Môn Toán học - Lớp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Khởi động: Đạo hàm ngược</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Hãy tìm hàm số </a:t>
            </a:r>
            <m:oMath xmlns:m="http://schemas.openxmlformats.org/officeDocument/2006/math">
              <m:box>
                <m:e>
                  <m:r>
                    <m:rPr>
                      <m:sty m:val="i"/>
                    </m:rPr>
                    <m:t>F</m:t>
                  </m:r>
                  <m:r>
                    <m:rPr>
                      <m:sty m:val="p"/>
                    </m:rPr>
                    <m:t>(</m:t>
                  </m:r>
                  <m:r>
                    <m:rPr>
                      <m:sty m:val="i"/>
                    </m:rPr>
                    <m:t>x</m:t>
                  </m:r>
                  <m:r>
                    <m:rPr>
                      <m:sty m:val="p"/>
                    </m:rPr>
                    <m:t>)</m:t>
                  </m:r>
                </m:e>
              </m:box>
            </m:oMath>
            <a:r>
              <a:rPr sz="1800">
                <a:solidFill>
                  <a:srgbClr val="2C3E50"/>
                </a:solidFill>
                <a:latin typeface="Times New Roman"/>
              </a:rPr>
              <a:t> sao cho </a:t>
            </a:r>
            <m:oMath xmlns:m="http://schemas.openxmlformats.org/officeDocument/2006/math">
              <m:box>
                <m:e>
                  <m:sSup>
                    <m:e>
                      <m:r>
                        <m:rPr>
                          <m:sty m:val="i"/>
                        </m:rPr>
                        <m:t>F</m:t>
                      </m:r>
                    </m:e>
                    <m:sup>
                      <m:r>
                        <m:rPr>
                          <m:sty m:val="i"/>
                        </m:rPr>
                        <m:t>′</m:t>
                      </m:r>
                    </m:sup>
                  </m:sSup>
                  <m:r>
                    <m:rPr>
                      <m:sty m:val="p"/>
                    </m:rPr>
                    <m:t>(</m:t>
                  </m:r>
                  <m:r>
                    <m:rPr>
                      <m:sty m:val="i"/>
                    </m:rPr>
                    <m:t>x</m:t>
                  </m:r>
                  <m:r>
                    <m:rPr>
                      <m:sty m:val="p"/>
                    </m:rPr>
                    <m:t>)</m:t>
                  </m:r>
                  <m:r>
                    <m:rPr>
                      <m:sty m:val="p"/>
                    </m:rPr>
                    <m:t>=</m:t>
                  </m:r>
                  <m:r>
                    <m:rPr>
                      <m:sty m:val="p"/>
                    </m:rPr>
                    <m:t>2</m:t>
                  </m:r>
                  <m:r>
                    <m:rPr>
                      <m:sty m:val="i"/>
                    </m:rPr>
                    <m:t>x</m:t>
                  </m:r>
                </m:e>
              </m:box>
            </m:oMath>
            <a:r>
              <a:rPr sz="1800">
                <a:solidFill>
                  <a:srgbClr val="2C3E50"/>
                </a:solidFill>
                <a:latin typeface="Times New Roman"/>
              </a:rPr>
              <a:t>.</a:t>
            </a:r>
          </a:p>
          <a:p>
            <a:pPr>
              <a:spcAft>
                <a:spcPts val="1000"/>
              </a:spcAft>
            </a:pPr>
            <a:r>
              <a:rPr sz="1800">
                <a:solidFill>
                  <a:srgbClr val="2C3E50"/>
                </a:solidFill>
                <a:latin typeface="Times New Roman"/>
              </a:rPr>
              <a:t>•  Hãy tìm hàm số </a:t>
            </a:r>
            <m:oMath xmlns:m="http://schemas.openxmlformats.org/officeDocument/2006/math">
              <m:box>
                <m:e>
                  <m:r>
                    <m:rPr>
                      <m:sty m:val="i"/>
                    </m:rPr>
                    <m:t>G</m:t>
                  </m:r>
                  <m:r>
                    <m:rPr>
                      <m:sty m:val="p"/>
                    </m:rPr>
                    <m:t>(</m:t>
                  </m:r>
                  <m:r>
                    <m:rPr>
                      <m:sty m:val="i"/>
                    </m:rPr>
                    <m:t>x</m:t>
                  </m:r>
                  <m:r>
                    <m:rPr>
                      <m:sty m:val="p"/>
                    </m:rPr>
                    <m:t>)</m:t>
                  </m:r>
                </m:e>
              </m:box>
            </m:oMath>
            <a:r>
              <a:rPr sz="1800">
                <a:solidFill>
                  <a:srgbClr val="2C3E50"/>
                </a:solidFill>
                <a:latin typeface="Times New Roman"/>
              </a:rPr>
              <a:t> sao cho </a:t>
            </a:r>
            <m:oMath xmlns:m="http://schemas.openxmlformats.org/officeDocument/2006/math">
              <m:box>
                <m:e>
                  <m:sSup>
                    <m:e>
                      <m:r>
                        <m:rPr>
                          <m:sty m:val="i"/>
                        </m:rPr>
                        <m:t>G</m:t>
                      </m:r>
                    </m:e>
                    <m:sup>
                      <m:r>
                        <m:rPr>
                          <m:sty m:val="i"/>
                        </m:rPr>
                        <m:t>′</m:t>
                      </m:r>
                    </m:sup>
                  </m:sSup>
                  <m:r>
                    <m:rPr>
                      <m:sty m:val="p"/>
                    </m:rPr>
                    <m:t>(</m:t>
                  </m:r>
                  <m:r>
                    <m:rPr>
                      <m:sty m:val="i"/>
                    </m:rPr>
                    <m:t>x</m:t>
                  </m:r>
                  <m:r>
                    <m:rPr>
                      <m:sty m:val="p"/>
                    </m:rPr>
                    <m:t>)</m:t>
                  </m:r>
                  <m:r>
                    <m:rPr>
                      <m:sty m:val="p"/>
                    </m:rPr>
                    <m:t>=</m:t>
                  </m:r>
                  <m:r>
                    <m:rPr>
                      <m:sty m:val="p"/>
                    </m:rPr>
                    <m:t>cos</m:t>
                  </m:r>
                  <m:r>
                    <m:rPr>
                      <m:sty m:val="i"/>
                    </m:rPr>
                    <m:t>x</m:t>
                  </m:r>
                </m:e>
              </m:box>
            </m:oMath>
            <a:r>
              <a:rPr sz="1800">
                <a:solidFill>
                  <a:srgbClr val="2C3E50"/>
                </a:solidFill>
                <a:latin typeface="Times New Roman"/>
              </a:rPr>
              <a:t>.</a:t>
            </a:r>
          </a:p>
          <a:p>
            <a:pPr>
              <a:spcAft>
                <a:spcPts val="1000"/>
              </a:spcAft>
            </a:pPr>
            <a:r>
              <a:rPr sz="1800">
                <a:solidFill>
                  <a:srgbClr val="2C3E50"/>
                </a:solidFill>
                <a:latin typeface="Times New Roman"/>
              </a:rPr>
              <a:t>•  Có bao nhiêu hàm số như vậy?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Định nghĩa Nguyên hàm</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Cho hàm số </a:t>
            </a:r>
            <m:oMath xmlns:m="http://schemas.openxmlformats.org/officeDocument/2006/math">
              <m:box>
                <m:e>
                  <m:r>
                    <m:rPr>
                      <m:sty m:val="i"/>
                    </m:rPr>
                    <m:t>f</m:t>
                  </m:r>
                  <m:r>
                    <m:rPr>
                      <m:sty m:val="p"/>
                    </m:rPr>
                    <m:t>(</m:t>
                  </m:r>
                  <m:r>
                    <m:rPr>
                      <m:sty m:val="i"/>
                    </m:rPr>
                    <m:t>x</m:t>
                  </m:r>
                  <m:r>
                    <m:rPr>
                      <m:sty m:val="p"/>
                    </m:rPr>
                    <m:t>)</m:t>
                  </m:r>
                </m:e>
              </m:box>
            </m:oMath>
            <a:r>
              <a:rPr sz="1800">
                <a:solidFill>
                  <a:srgbClr val="2C3E50"/>
                </a:solidFill>
                <a:latin typeface="Times New Roman"/>
              </a:rPr>
              <a:t> xác định trên khoảng </a:t>
            </a:r>
            <m:oMath xmlns:m="http://schemas.openxmlformats.org/officeDocument/2006/math">
              <m:box>
                <m:e>
                  <m:r>
                    <m:rPr>
                      <m:sty m:val="i"/>
                    </m:rPr>
                    <m:t>K</m:t>
                  </m:r>
                </m:e>
              </m:box>
            </m:oMath>
            <a:r>
              <a:rPr sz="1800">
                <a:solidFill>
                  <a:srgbClr val="2C3E50"/>
                </a:solidFill>
                <a:latin typeface="Times New Roman"/>
              </a:rPr>
              <a:t>.</a:t>
            </a:r>
          </a:p>
          <a:p>
            <a:pPr>
              <a:spcAft>
                <a:spcPts val="1000"/>
              </a:spcAft>
            </a:pPr>
            <a:r>
              <a:rPr sz="1800">
                <a:solidFill>
                  <a:srgbClr val="2C3E50"/>
                </a:solidFill>
                <a:latin typeface="Times New Roman"/>
              </a:rPr>
              <a:t>•  Hàm số </a:t>
            </a:r>
            <m:oMath xmlns:m="http://schemas.openxmlformats.org/officeDocument/2006/math">
              <m:box>
                <m:e>
                  <m:r>
                    <m:rPr>
                      <m:sty m:val="i"/>
                    </m:rPr>
                    <m:t>F</m:t>
                  </m:r>
                  <m:r>
                    <m:rPr>
                      <m:sty m:val="p"/>
                    </m:rPr>
                    <m:t>(</m:t>
                  </m:r>
                  <m:r>
                    <m:rPr>
                      <m:sty m:val="i"/>
                    </m:rPr>
                    <m:t>x</m:t>
                  </m:r>
                  <m:r>
                    <m:rPr>
                      <m:sty m:val="p"/>
                    </m:rPr>
                    <m:t>)</m:t>
                  </m:r>
                </m:e>
              </m:box>
            </m:oMath>
            <a:r>
              <a:rPr sz="1800">
                <a:solidFill>
                  <a:srgbClr val="2C3E50"/>
                </a:solidFill>
                <a:latin typeface="Times New Roman"/>
              </a:rPr>
              <a:t> được gọi là một nguyên hàm của </a:t>
            </a:r>
            <m:oMath xmlns:m="http://schemas.openxmlformats.org/officeDocument/2006/math">
              <m:box>
                <m:e>
                  <m:r>
                    <m:rPr>
                      <m:sty m:val="i"/>
                    </m:rPr>
                    <m:t>f</m:t>
                  </m:r>
                  <m:r>
                    <m:rPr>
                      <m:sty m:val="p"/>
                    </m:rPr>
                    <m:t>(</m:t>
                  </m:r>
                  <m:r>
                    <m:rPr>
                      <m:sty m:val="i"/>
                    </m:rPr>
                    <m:t>x</m:t>
                  </m:r>
                  <m:r>
                    <m:rPr>
                      <m:sty m:val="p"/>
                    </m:rPr>
                    <m:t>)</m:t>
                  </m:r>
                </m:e>
              </m:box>
            </m:oMath>
            <a:r>
              <a:rPr sz="1800">
                <a:solidFill>
                  <a:srgbClr val="2C3E50"/>
                </a:solidFill>
                <a:latin typeface="Times New Roman"/>
              </a:rPr>
              <a:t> trên </a:t>
            </a:r>
            <m:oMath xmlns:m="http://schemas.openxmlformats.org/officeDocument/2006/math">
              <m:box>
                <m:e>
                  <m:r>
                    <m:rPr>
                      <m:sty m:val="i"/>
                    </m:rPr>
                    <m:t>K</m:t>
                  </m:r>
                </m:e>
              </m:box>
            </m:oMath>
            <a:r>
              <a:rPr sz="1800">
                <a:solidFill>
                  <a:srgbClr val="2C3E50"/>
                </a:solidFill>
                <a:latin typeface="Times New Roman"/>
              </a:rPr>
              <a:t> nếu </a:t>
            </a:r>
            <m:oMath xmlns:m="http://schemas.openxmlformats.org/officeDocument/2006/math">
              <m:box>
                <m:e>
                  <m:sSup>
                    <m:e>
                      <m:r>
                        <m:rPr>
                          <m:sty m:val="i"/>
                        </m:rPr>
                        <m:t>F</m:t>
                      </m:r>
                    </m:e>
                    <m:sup>
                      <m:r>
                        <m:rPr>
                          <m:sty m:val="i"/>
                        </m:rPr>
                        <m:t>′</m:t>
                      </m:r>
                    </m:sup>
                  </m:sSup>
                  <m:r>
                    <m:rPr>
                      <m:sty m:val="p"/>
                    </m:rPr>
                    <m:t>(</m:t>
                  </m:r>
                  <m:r>
                    <m:rPr>
                      <m:sty m:val="i"/>
                    </m:rPr>
                    <m:t>x</m:t>
                  </m:r>
                  <m:r>
                    <m:rPr>
                      <m:sty m:val="p"/>
                    </m:rPr>
                    <m:t>)</m:t>
                  </m:r>
                  <m:r>
                    <m:rPr>
                      <m:sty m:val="p"/>
                    </m:rPr>
                    <m:t>=</m:t>
                  </m:r>
                  <m:r>
                    <m:rPr>
                      <m:sty m:val="i"/>
                    </m:rPr>
                    <m:t>f</m:t>
                  </m:r>
                  <m:r>
                    <m:rPr>
                      <m:sty m:val="p"/>
                    </m:rPr>
                    <m:t>(</m:t>
                  </m:r>
                  <m:r>
                    <m:rPr>
                      <m:sty m:val="i"/>
                    </m:rPr>
                    <m:t>x</m:t>
                  </m:r>
                  <m:r>
                    <m:rPr>
                      <m:sty m:val="p"/>
                    </m:rPr>
                    <m:t>)</m:t>
                  </m:r>
                </m:e>
              </m:box>
            </m:oMath>
            <a:r>
              <a:rPr sz="1800">
                <a:solidFill>
                  <a:srgbClr val="2C3E50"/>
                </a:solidFill>
                <a:latin typeface="Times New Roman"/>
              </a:rPr>
              <a:t> với mọi </a:t>
            </a:r>
            <m:oMath xmlns:m="http://schemas.openxmlformats.org/officeDocument/2006/math">
              <m:box>
                <m:e>
                  <m:r>
                    <m:rPr>
                      <m:sty m:val="i"/>
                    </m:rPr>
                    <m:t>x</m:t>
                  </m:r>
                  <m:r>
                    <m:rPr>
                      <m:sty m:val="p"/>
                    </m:rPr>
                    <m:t>∈</m:t>
                  </m:r>
                  <m:r>
                    <m:rPr>
                      <m:sty m:val="i"/>
                    </m:rPr>
                    <m:t>K</m:t>
                  </m:r>
                </m:e>
              </m:box>
            </m:oMath>
            <a:r>
              <a:rPr sz="1800">
                <a:solidFill>
                  <a:srgbClr val="2C3E50"/>
                </a:solidFill>
                <a:latin typeface="Times New Roman"/>
              </a:rPr>
              <a:t>.</a:t>
            </a:r>
          </a:p>
          <a:p>
            <a:pPr>
              <a:spcBef>
                <a:spcPts val="1500"/>
              </a:spcBef>
              <a:spcAft>
                <a:spcPts val="1000"/>
              </a:spcAft>
            </a:pPr>
            <a:r>
              <a:rPr b="1" sz="2000">
                <a:solidFill>
                  <a:srgbClr val="0066CC"/>
                </a:solidFill>
                <a:latin typeface="Times New Roman"/>
              </a:rPr>
              <a:t>Công thức trọng tâm:  </a:t>
            </a:r>
            <m:oMath xmlns:m="http://schemas.openxmlformats.org/officeDocument/2006/math">
              <m:box>
                <m:e>
                  <m:r>
                    <m:rPr>
                      <m:sty m:val="i"/>
                    </m:rPr>
                    <m:t>$</m:t>
                  </m:r>
                  <m:r>
                    <m:rPr>
                      <m:sty m:val="i"/>
                    </m:rPr>
                    <m:t>$</m:t>
                  </m:r>
                  <m:sSup>
                    <m:e>
                      <m:r>
                        <m:rPr>
                          <m:sty m:val="i"/>
                        </m:rPr>
                        <m:t>F</m:t>
                      </m:r>
                    </m:e>
                    <m:sup>
                      <m:r>
                        <m:rPr>
                          <m:sty m:val="i"/>
                        </m:rPr>
                        <m:t>′</m:t>
                      </m:r>
                    </m:sup>
                  </m:sSup>
                  <m:r>
                    <m:rPr>
                      <m:sty m:val="p"/>
                    </m:rPr>
                    <m:t>(</m:t>
                  </m:r>
                  <m:r>
                    <m:rPr>
                      <m:sty m:val="i"/>
                    </m:rPr>
                    <m:t>x</m:t>
                  </m:r>
                  <m:r>
                    <m:rPr>
                      <m:sty m:val="p"/>
                    </m:rPr>
                    <m:t>)</m:t>
                  </m:r>
                  <m:r>
                    <m:rPr>
                      <m:sty m:val="p"/>
                    </m:rPr>
                    <m:t>=</m:t>
                  </m:r>
                  <m:r>
                    <m:rPr>
                      <m:sty m:val="i"/>
                    </m:rPr>
                    <m:t>f</m:t>
                  </m:r>
                  <m:r>
                    <m:rPr>
                      <m:sty m:val="p"/>
                    </m:rPr>
                    <m:t>(</m:t>
                  </m:r>
                  <m:r>
                    <m:rPr>
                      <m:sty m:val="i"/>
                    </m:rPr>
                    <m:t>x</m:t>
                  </m:r>
                  <m:r>
                    <m:rPr>
                      <m:sty m:val="p"/>
                    </m:rPr>
                    <m:t>)</m:t>
                  </m:r>
                  <m:r>
                    <m:t/>
                  </m:r>
                  <m:r>
                    <m:rPr>
                      <m:sty m:val="p"/>
                    </m:rPr>
                    <m:t>∀</m:t>
                  </m:r>
                  <m:r>
                    <m:rPr>
                      <m:sty m:val="i"/>
                    </m:rPr>
                    <m:t>x</m:t>
                  </m:r>
                  <m:r>
                    <m:rPr>
                      <m:sty m:val="p"/>
                    </m:rPr>
                    <m:t>∈</m:t>
                  </m:r>
                  <m:r>
                    <m:rPr>
                      <m:sty m:val="i"/>
                    </m:rPr>
                    <m:t>K</m:t>
                  </m:r>
                  <m:r>
                    <m:rPr>
                      <m:sty m:val="i"/>
                    </m:rPr>
                    <m:t>$</m:t>
                  </m:r>
                  <m:r>
                    <m:rPr>
                      <m:sty m:val="i"/>
                    </m:rPr>
                    <m:t>$</m:t>
                  </m:r>
                </m:e>
              </m:box>
            </m:oMath>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Định lí về Nguyên hàm</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Nếu </a:t>
            </a:r>
            <m:oMath xmlns:m="http://schemas.openxmlformats.org/officeDocument/2006/math">
              <m:box>
                <m:e>
                  <m:r>
                    <m:rPr>
                      <m:sty m:val="i"/>
                    </m:rPr>
                    <m:t>F</m:t>
                  </m:r>
                  <m:r>
                    <m:rPr>
                      <m:sty m:val="p"/>
                    </m:rPr>
                    <m:t>(</m:t>
                  </m:r>
                  <m:r>
                    <m:rPr>
                      <m:sty m:val="i"/>
                    </m:rPr>
                    <m:t>x</m:t>
                  </m:r>
                  <m:r>
                    <m:rPr>
                      <m:sty m:val="p"/>
                    </m:rPr>
                    <m:t>)</m:t>
                  </m:r>
                </m:e>
              </m:box>
            </m:oMath>
            <a:r>
              <a:rPr sz="1800">
                <a:solidFill>
                  <a:srgbClr val="2C3E50"/>
                </a:solidFill>
                <a:latin typeface="Times New Roman"/>
              </a:rPr>
              <a:t> là một nguyên hàm của </a:t>
            </a:r>
            <m:oMath xmlns:m="http://schemas.openxmlformats.org/officeDocument/2006/math">
              <m:box>
                <m:e>
                  <m:r>
                    <m:rPr>
                      <m:sty m:val="i"/>
                    </m:rPr>
                    <m:t>f</m:t>
                  </m:r>
                  <m:r>
                    <m:rPr>
                      <m:sty m:val="p"/>
                    </m:rPr>
                    <m:t>(</m:t>
                  </m:r>
                  <m:r>
                    <m:rPr>
                      <m:sty m:val="i"/>
                    </m:rPr>
                    <m:t>x</m:t>
                  </m:r>
                  <m:r>
                    <m:rPr>
                      <m:sty m:val="p"/>
                    </m:rPr>
                    <m:t>)</m:t>
                  </m:r>
                </m:e>
              </m:box>
            </m:oMath>
            <a:r>
              <a:rPr sz="1800">
                <a:solidFill>
                  <a:srgbClr val="2C3E50"/>
                </a:solidFill>
                <a:latin typeface="Times New Roman"/>
              </a:rPr>
              <a:t> trên khoảng </a:t>
            </a:r>
            <m:oMath xmlns:m="http://schemas.openxmlformats.org/officeDocument/2006/math">
              <m:box>
                <m:e>
                  <m:r>
                    <m:rPr>
                      <m:sty m:val="i"/>
                    </m:rPr>
                    <m:t>K</m:t>
                  </m:r>
                </m:e>
              </m:box>
            </m:oMath>
            <a:r>
              <a:rPr sz="1800">
                <a:solidFill>
                  <a:srgbClr val="2C3E50"/>
                </a:solidFill>
                <a:latin typeface="Times New Roman"/>
              </a:rPr>
              <a:t>, thì mọi nguyên hàm của </a:t>
            </a:r>
            <m:oMath xmlns:m="http://schemas.openxmlformats.org/officeDocument/2006/math">
              <m:box>
                <m:e>
                  <m:r>
                    <m:rPr>
                      <m:sty m:val="i"/>
                    </m:rPr>
                    <m:t>f</m:t>
                  </m:r>
                  <m:r>
                    <m:rPr>
                      <m:sty m:val="p"/>
                    </m:rPr>
                    <m:t>(</m:t>
                  </m:r>
                  <m:r>
                    <m:rPr>
                      <m:sty m:val="i"/>
                    </m:rPr>
                    <m:t>x</m:t>
                  </m:r>
                  <m:r>
                    <m:rPr>
                      <m:sty m:val="p"/>
                    </m:rPr>
                    <m:t>)</m:t>
                  </m:r>
                </m:e>
              </m:box>
            </m:oMath>
            <a:r>
              <a:rPr sz="1800">
                <a:solidFill>
                  <a:srgbClr val="2C3E50"/>
                </a:solidFill>
                <a:latin typeface="Times New Roman"/>
              </a:rPr>
              <a:t> trên </a:t>
            </a:r>
            <m:oMath xmlns:m="http://schemas.openxmlformats.org/officeDocument/2006/math">
              <m:box>
                <m:e>
                  <m:r>
                    <m:rPr>
                      <m:sty m:val="i"/>
                    </m:rPr>
                    <m:t>K</m:t>
                  </m:r>
                </m:e>
              </m:box>
            </m:oMath>
            <a:r>
              <a:rPr sz="1800">
                <a:solidFill>
                  <a:srgbClr val="2C3E50"/>
                </a:solidFill>
                <a:latin typeface="Times New Roman"/>
              </a:rPr>
              <a:t> đều có dạng </a:t>
            </a:r>
            <m:oMath xmlns:m="http://schemas.openxmlformats.org/officeDocument/2006/math">
              <m:box>
                <m:e>
                  <m:r>
                    <m:rPr>
                      <m:sty m:val="i"/>
                    </m:rPr>
                    <m:t>F</m:t>
                  </m:r>
                  <m:r>
                    <m:rPr>
                      <m:sty m:val="p"/>
                    </m:rPr>
                    <m:t>(</m:t>
                  </m:r>
                  <m:r>
                    <m:rPr>
                      <m:sty m:val="i"/>
                    </m:rPr>
                    <m:t>x</m:t>
                  </m:r>
                  <m:r>
                    <m:rPr>
                      <m:sty m:val="p"/>
                    </m:rPr>
                    <m:t>)</m:t>
                  </m:r>
                  <m:r>
                    <m:rPr>
                      <m:sty m:val="p"/>
                    </m:rPr>
                    <m:t>+</m:t>
                  </m:r>
                  <m:r>
                    <m:rPr>
                      <m:sty m:val="i"/>
                    </m:rPr>
                    <m:t>C</m:t>
                  </m:r>
                </m:e>
              </m:box>
            </m:oMath>
            <a:r>
              <a:rPr sz="1800">
                <a:solidFill>
                  <a:srgbClr val="2C3E50"/>
                </a:solidFill>
                <a:latin typeface="Times New Roman"/>
              </a:rPr>
              <a:t>, với </a:t>
            </a:r>
            <m:oMath xmlns:m="http://schemas.openxmlformats.org/officeDocument/2006/math">
              <m:box>
                <m:e>
                  <m:r>
                    <m:rPr>
                      <m:sty m:val="i"/>
                    </m:rPr>
                    <m:t>C</m:t>
                  </m:r>
                </m:e>
              </m:box>
            </m:oMath>
            <a:r>
              <a:rPr sz="1800">
                <a:solidFill>
                  <a:srgbClr val="2C3E50"/>
                </a:solidFill>
                <a:latin typeface="Times New Roman"/>
              </a:rPr>
              <a:t> là một hằng số.</a:t>
            </a:r>
          </a:p>
          <a:p>
            <a:pPr>
              <a:spcAft>
                <a:spcPts val="1000"/>
              </a:spcAft>
            </a:pPr>
            <a:r>
              <a:rPr sz="1800">
                <a:solidFill>
                  <a:srgbClr val="2C3E50"/>
                </a:solidFill>
                <a:latin typeface="Times New Roman"/>
              </a:rPr>
              <a:t>•  Ngược lại, mọi hàm số có dạng </a:t>
            </a:r>
            <m:oMath xmlns:m="http://schemas.openxmlformats.org/officeDocument/2006/math">
              <m:box>
                <m:e>
                  <m:r>
                    <m:rPr>
                      <m:sty m:val="i"/>
                    </m:rPr>
                    <m:t>F</m:t>
                  </m:r>
                  <m:r>
                    <m:rPr>
                      <m:sty m:val="p"/>
                    </m:rPr>
                    <m:t>(</m:t>
                  </m:r>
                  <m:r>
                    <m:rPr>
                      <m:sty m:val="i"/>
                    </m:rPr>
                    <m:t>x</m:t>
                  </m:r>
                  <m:r>
                    <m:rPr>
                      <m:sty m:val="p"/>
                    </m:rPr>
                    <m:t>)</m:t>
                  </m:r>
                  <m:r>
                    <m:rPr>
                      <m:sty m:val="p"/>
                    </m:rPr>
                    <m:t>+</m:t>
                  </m:r>
                  <m:r>
                    <m:rPr>
                      <m:sty m:val="i"/>
                    </m:rPr>
                    <m:t>C</m:t>
                  </m:r>
                </m:e>
              </m:box>
            </m:oMath>
            <a:r>
              <a:rPr sz="1800">
                <a:solidFill>
                  <a:srgbClr val="2C3E50"/>
                </a:solidFill>
                <a:latin typeface="Times New Roman"/>
              </a:rPr>
              <a:t> đều là nguyên hàm của </a:t>
            </a:r>
            <m:oMath xmlns:m="http://schemas.openxmlformats.org/officeDocument/2006/math">
              <m:box>
                <m:e>
                  <m:r>
                    <m:rPr>
                      <m:sty m:val="i"/>
                    </m:rPr>
                    <m:t>f</m:t>
                  </m:r>
                  <m:r>
                    <m:rPr>
                      <m:sty m:val="p"/>
                    </m:rPr>
                    <m:t>(</m:t>
                  </m:r>
                  <m:r>
                    <m:rPr>
                      <m:sty m:val="i"/>
                    </m:rPr>
                    <m:t>x</m:t>
                  </m:r>
                  <m:r>
                    <m:rPr>
                      <m:sty m:val="p"/>
                    </m:rPr>
                    <m:t>)</m:t>
                  </m:r>
                </m:e>
              </m:box>
            </m:oMath>
            <a:r>
              <a:rPr sz="1800">
                <a:solidFill>
                  <a:srgbClr val="2C3E50"/>
                </a:solidFill>
                <a:latin typeface="Times New Roman"/>
              </a:rPr>
              <a:t> trên </a:t>
            </a:r>
            <m:oMath xmlns:m="http://schemas.openxmlformats.org/officeDocument/2006/math">
              <m:box>
                <m:e>
                  <m:r>
                    <m:rPr>
                      <m:sty m:val="i"/>
                    </m:rPr>
                    <m:t>K</m:t>
                  </m:r>
                </m:e>
              </m:box>
            </m:oMath>
            <a:r>
              <a:rPr sz="1800">
                <a:solidFill>
                  <a:srgbClr val="2C3E50"/>
                </a:solidFill>
                <a:latin typeface="Times New Roman"/>
              </a:rPr>
              <a:t>.</a:t>
            </a:r>
          </a:p>
          <a:p>
            <a:pPr>
              <a:spcBef>
                <a:spcPts val="1500"/>
              </a:spcBef>
              <a:spcAft>
                <a:spcPts val="1000"/>
              </a:spcAft>
            </a:pPr>
            <a:r>
              <a:rPr b="1" sz="2000">
                <a:solidFill>
                  <a:srgbClr val="0066CC"/>
                </a:solidFill>
                <a:latin typeface="Times New Roman"/>
              </a:rPr>
              <a:t>Công thức trọng tâm:  </a:t>
            </a:r>
            <m:oMath xmlns:m="http://schemas.openxmlformats.org/officeDocument/2006/math">
              <m:box>
                <m:e>
                  <m:r>
                    <m:rPr>
                      <m:sty m:val="i"/>
                    </m:rPr>
                    <m:t>$</m:t>
                  </m:r>
                  <m:r>
                    <m:rPr>
                      <m:sty m:val="i"/>
                    </m:rPr>
                    <m:t>$</m:t>
                  </m:r>
                  <m:r>
                    <m:rPr>
                      <m:sty m:val="p"/>
                    </m:rPr>
                    <m:t>∫</m:t>
                  </m:r>
                  <m:r>
                    <m:rPr>
                      <m:sty m:val="i"/>
                    </m:rPr>
                    <m:t>f</m:t>
                  </m:r>
                  <m:r>
                    <m:rPr>
                      <m:sty m:val="p"/>
                    </m:rPr>
                    <m:t>(</m:t>
                  </m:r>
                  <m:r>
                    <m:rPr>
                      <m:sty m:val="i"/>
                    </m:rPr>
                    <m:t>x</m:t>
                  </m:r>
                  <m:r>
                    <m:rPr>
                      <m:sty m:val="p"/>
                    </m:rPr>
                    <m:t>)</m:t>
                  </m:r>
                  <m:r>
                    <m:rPr>
                      <m:sty m:val="i"/>
                    </m:rPr>
                    <m:t>d</m:t>
                  </m:r>
                  <m:r>
                    <m:rPr>
                      <m:sty m:val="i"/>
                    </m:rPr>
                    <m:t>x</m:t>
                  </m:r>
                  <m:r>
                    <m:rPr>
                      <m:sty m:val="p"/>
                    </m:rPr>
                    <m:t>=</m:t>
                  </m:r>
                  <m:r>
                    <m:rPr>
                      <m:sty m:val="i"/>
                    </m:rPr>
                    <m:t>F</m:t>
                  </m:r>
                  <m:r>
                    <m:rPr>
                      <m:sty m:val="p"/>
                    </m:rPr>
                    <m:t>(</m:t>
                  </m:r>
                  <m:r>
                    <m:rPr>
                      <m:sty m:val="i"/>
                    </m:rPr>
                    <m:t>x</m:t>
                  </m:r>
                  <m:r>
                    <m:rPr>
                      <m:sty m:val="p"/>
                    </m:rPr>
                    <m:t>)</m:t>
                  </m:r>
                  <m:r>
                    <m:rPr>
                      <m:sty m:val="p"/>
                    </m:rPr>
                    <m:t>+</m:t>
                  </m:r>
                  <m:r>
                    <m:rPr>
                      <m:sty m:val="i"/>
                    </m:rPr>
                    <m:t>C</m:t>
                  </m:r>
                  <m:r>
                    <m:rPr>
                      <m:sty m:val="i"/>
                    </m:rPr>
                    <m:t>$</m:t>
                  </m:r>
                  <m:r>
                    <m:rPr>
                      <m:sty m:val="i"/>
                    </m:rPr>
                    <m:t>$</m:t>
                  </m:r>
                </m:e>
              </m:box>
            </m:oMath>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Tính chất của Nguyên hàm</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a:t>
            </a:r>
            <m:oMath xmlns:m="http://schemas.openxmlformats.org/officeDocument/2006/math">
              <m:box>
                <m:e>
                  <m:r>
                    <m:rPr>
                      <m:sty m:val="p"/>
                    </m:rPr>
                    <m:t>∫</m:t>
                  </m:r>
                  <m:r>
                    <m:rPr>
                      <m:sty m:val="i"/>
                    </m:rPr>
                    <m:t>k</m:t>
                  </m:r>
                  <m:r>
                    <m:rPr>
                      <m:sty m:val="i"/>
                    </m:rPr>
                    <m:t>f</m:t>
                  </m:r>
                  <m:r>
                    <m:rPr>
                      <m:sty m:val="p"/>
                    </m:rPr>
                    <m:t>(</m:t>
                  </m:r>
                  <m:r>
                    <m:rPr>
                      <m:sty m:val="i"/>
                    </m:rPr>
                    <m:t>x</m:t>
                  </m:r>
                  <m:r>
                    <m:rPr>
                      <m:sty m:val="p"/>
                    </m:rPr>
                    <m:t>)</m:t>
                  </m:r>
                  <m:r>
                    <m:rPr>
                      <m:sty m:val="i"/>
                    </m:rPr>
                    <m:t>d</m:t>
                  </m:r>
                  <m:r>
                    <m:rPr>
                      <m:sty m:val="i"/>
                    </m:rPr>
                    <m:t>x</m:t>
                  </m:r>
                  <m:r>
                    <m:rPr>
                      <m:sty m:val="p"/>
                    </m:rPr>
                    <m:t>=</m:t>
                  </m:r>
                  <m:r>
                    <m:rPr>
                      <m:sty m:val="i"/>
                    </m:rPr>
                    <m:t>k</m:t>
                  </m:r>
                  <m:r>
                    <m:rPr>
                      <m:sty m:val="p"/>
                    </m:rPr>
                    <m:t>∫</m:t>
                  </m:r>
                  <m:r>
                    <m:rPr>
                      <m:sty m:val="i"/>
                    </m:rPr>
                    <m:t>f</m:t>
                  </m:r>
                  <m:r>
                    <m:rPr>
                      <m:sty m:val="p"/>
                    </m:rPr>
                    <m:t>(</m:t>
                  </m:r>
                  <m:r>
                    <m:rPr>
                      <m:sty m:val="i"/>
                    </m:rPr>
                    <m:t>x</m:t>
                  </m:r>
                  <m:r>
                    <m:rPr>
                      <m:sty m:val="p"/>
                    </m:rPr>
                    <m:t>)</m:t>
                  </m:r>
                  <m:r>
                    <m:rPr>
                      <m:sty m:val="i"/>
                    </m:rPr>
                    <m:t>d</m:t>
                  </m:r>
                  <m:r>
                    <m:rPr>
                      <m:sty m:val="i"/>
                    </m:rPr>
                    <m:t>x</m:t>
                  </m:r>
                </m:e>
              </m:box>
            </m:oMath>
            <a:r>
              <a:rPr sz="1800">
                <a:solidFill>
                  <a:srgbClr val="2C3E50"/>
                </a:solidFill>
                <a:latin typeface="Times New Roman"/>
              </a:rPr>
              <a:t> (với </a:t>
            </a:r>
            <m:oMath xmlns:m="http://schemas.openxmlformats.org/officeDocument/2006/math">
              <m:box>
                <m:e>
                  <m:r>
                    <m:rPr>
                      <m:sty m:val="i"/>
                    </m:rPr>
                    <m:t>k</m:t>
                  </m:r>
                </m:e>
              </m:box>
            </m:oMath>
            <a:r>
              <a:rPr sz="1800">
                <a:solidFill>
                  <a:srgbClr val="2C3E50"/>
                </a:solidFill>
                <a:latin typeface="Times New Roman"/>
              </a:rPr>
              <a:t> là hằng số khác 0)</a:t>
            </a:r>
          </a:p>
          <a:p>
            <a:pPr>
              <a:spcAft>
                <a:spcPts val="1000"/>
              </a:spcAft>
            </a:pPr>
            <a:r>
              <a:rPr sz="1800">
                <a:solidFill>
                  <a:srgbClr val="2C3E50"/>
                </a:solidFill>
                <a:latin typeface="Times New Roman"/>
              </a:rPr>
              <a:t>•  </a:t>
            </a:r>
            <m:oMath xmlns:m="http://schemas.openxmlformats.org/officeDocument/2006/math">
              <m:box>
                <m:e>
                  <m:r>
                    <m:rPr>
                      <m:sty m:val="p"/>
                    </m:rPr>
                    <m:t>∫</m:t>
                  </m:r>
                  <m:r>
                    <m:rPr>
                      <m:sty m:val="p"/>
                    </m:rPr>
                    <m:t>[</m:t>
                  </m:r>
                  <m:r>
                    <m:rPr>
                      <m:sty m:val="i"/>
                    </m:rPr>
                    <m:t>f</m:t>
                  </m:r>
                  <m:r>
                    <m:rPr>
                      <m:sty m:val="p"/>
                    </m:rPr>
                    <m:t>(</m:t>
                  </m:r>
                  <m:r>
                    <m:rPr>
                      <m:sty m:val="i"/>
                    </m:rPr>
                    <m:t>x</m:t>
                  </m:r>
                  <m:r>
                    <m:rPr>
                      <m:sty m:val="p"/>
                    </m:rPr>
                    <m:t>)</m:t>
                  </m:r>
                  <m:r>
                    <m:rPr>
                      <m:sty m:val="i"/>
                    </m:rPr>
                    <m:t>±</m:t>
                  </m:r>
                  <m:r>
                    <m:rPr>
                      <m:sty m:val="i"/>
                    </m:rPr>
                    <m:t>g</m:t>
                  </m:r>
                  <m:r>
                    <m:rPr>
                      <m:sty m:val="p"/>
                    </m:rPr>
                    <m:t>(</m:t>
                  </m:r>
                  <m:r>
                    <m:rPr>
                      <m:sty m:val="i"/>
                    </m:rPr>
                    <m:t>x</m:t>
                  </m:r>
                  <m:r>
                    <m:rPr>
                      <m:sty m:val="p"/>
                    </m:rPr>
                    <m:t>)</m:t>
                  </m:r>
                  <m:r>
                    <m:rPr>
                      <m:sty m:val="p"/>
                    </m:rPr>
                    <m:t>]</m:t>
                  </m:r>
                  <m:r>
                    <m:rPr>
                      <m:sty m:val="i"/>
                    </m:rPr>
                    <m:t>d</m:t>
                  </m:r>
                  <m:r>
                    <m:rPr>
                      <m:sty m:val="i"/>
                    </m:rPr>
                    <m:t>x</m:t>
                  </m:r>
                  <m:r>
                    <m:rPr>
                      <m:sty m:val="p"/>
                    </m:rPr>
                    <m:t>=</m:t>
                  </m:r>
                  <m:r>
                    <m:rPr>
                      <m:sty m:val="p"/>
                    </m:rPr>
                    <m:t>∫</m:t>
                  </m:r>
                  <m:r>
                    <m:rPr>
                      <m:sty m:val="i"/>
                    </m:rPr>
                    <m:t>f</m:t>
                  </m:r>
                  <m:r>
                    <m:rPr>
                      <m:sty m:val="p"/>
                    </m:rPr>
                    <m:t>(</m:t>
                  </m:r>
                  <m:r>
                    <m:rPr>
                      <m:sty m:val="i"/>
                    </m:rPr>
                    <m:t>x</m:t>
                  </m:r>
                  <m:r>
                    <m:rPr>
                      <m:sty m:val="p"/>
                    </m:rPr>
                    <m:t>)</m:t>
                  </m:r>
                  <m:r>
                    <m:rPr>
                      <m:sty m:val="i"/>
                    </m:rPr>
                    <m:t>d</m:t>
                  </m:r>
                  <m:r>
                    <m:rPr>
                      <m:sty m:val="i"/>
                    </m:rPr>
                    <m:t>x</m:t>
                  </m:r>
                  <m:r>
                    <m:rPr>
                      <m:sty m:val="i"/>
                    </m:rPr>
                    <m:t>±</m:t>
                  </m:r>
                  <m:r>
                    <m:rPr>
                      <m:sty m:val="p"/>
                    </m:rPr>
                    <m:t>∫</m:t>
                  </m:r>
                  <m:r>
                    <m:rPr>
                      <m:sty m:val="i"/>
                    </m:rPr>
                    <m:t>g</m:t>
                  </m:r>
                  <m:r>
                    <m:rPr>
                      <m:sty m:val="p"/>
                    </m:rPr>
                    <m:t>(</m:t>
                  </m:r>
                  <m:r>
                    <m:rPr>
                      <m:sty m:val="i"/>
                    </m:rPr>
                    <m:t>x</m:t>
                  </m:r>
                  <m:r>
                    <m:rPr>
                      <m:sty m:val="p"/>
                    </m:rPr>
                    <m:t>)</m:t>
                  </m:r>
                  <m:r>
                    <m:rPr>
                      <m:sty m:val="i"/>
                    </m:rPr>
                    <m:t>d</m:t>
                  </m:r>
                  <m:r>
                    <m:rPr>
                      <m:sty m:val="i"/>
                    </m:rPr>
                    <m:t>x</m:t>
                  </m:r>
                </m:e>
              </m:box>
            </m:oMath>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Bảng Nguyên hàm cơ bản</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a:t>
            </a:r>
            <m:oMath xmlns:m="http://schemas.openxmlformats.org/officeDocument/2006/math">
              <m:box>
                <m:e>
                  <m:r>
                    <m:rPr>
                      <m:sty m:val="p"/>
                    </m:rPr>
                    <m:t>∫</m:t>
                  </m:r>
                  <m:r>
                    <m:rPr>
                      <m:sty m:val="i"/>
                    </m:rPr>
                    <m:t>d</m:t>
                  </m:r>
                  <m:r>
                    <m:rPr>
                      <m:sty m:val="i"/>
                    </m:rPr>
                    <m:t>x</m:t>
                  </m:r>
                  <m:r>
                    <m:rPr>
                      <m:sty m:val="p"/>
                    </m:rPr>
                    <m:t>=</m:t>
                  </m:r>
                  <m:r>
                    <m:rPr>
                      <m:sty m:val="i"/>
                    </m:rPr>
                    <m:t>x</m:t>
                  </m:r>
                  <m:r>
                    <m:rPr>
                      <m:sty m:val="p"/>
                    </m:rPr>
                    <m:t>+</m:t>
                  </m:r>
                  <m:r>
                    <m:rPr>
                      <m:sty m:val="i"/>
                    </m:rPr>
                    <m:t>C</m:t>
                  </m:r>
                </m:e>
              </m:box>
            </m:oMath>
          </a:p>
          <a:p>
            <a:pPr>
              <a:spcAft>
                <a:spcPts val="1000"/>
              </a:spcAft>
            </a:pPr>
            <a:r>
              <a:rPr sz="1800">
                <a:solidFill>
                  <a:srgbClr val="2C3E50"/>
                </a:solidFill>
                <a:latin typeface="Times New Roman"/>
              </a:rPr>
              <a:t>•  </a:t>
            </a:r>
            <m:oMath xmlns:m="http://schemas.openxmlformats.org/officeDocument/2006/math">
              <m:box>
                <m:e>
                  <m:r>
                    <m:rPr>
                      <m:sty m:val="p"/>
                    </m:rPr>
                    <m:t>∫</m:t>
                  </m:r>
                  <m:sSup>
                    <m:e>
                      <m:r>
                        <m:rPr>
                          <m:sty m:val="i"/>
                        </m:rPr>
                        <m:t>x</m:t>
                      </m:r>
                    </m:e>
                    <m:sup>
                      <m:r>
                        <m:rPr>
                          <m:sty m:val="i"/>
                        </m:rPr>
                        <m:t>n</m:t>
                      </m:r>
                    </m:sup>
                  </m:sSup>
                  <m:r>
                    <m:rPr>
                      <m:sty m:val="i"/>
                    </m:rPr>
                    <m:t>d</m:t>
                  </m:r>
                  <m:r>
                    <m:rPr>
                      <m:sty m:val="i"/>
                    </m:rPr>
                    <m:t>x</m:t>
                  </m:r>
                  <m:r>
                    <m:rPr>
                      <m:sty m:val="p"/>
                    </m:rPr>
                    <m:t>=</m:t>
                  </m:r>
                  <m:f>
                    <m:num>
                      <m:box>
                        <m:e>
                          <m:sSup>
                            <m:e>
                              <m:r>
                                <m:rPr>
                                  <m:sty m:val="i"/>
                                </m:rPr>
                                <m:t>x</m:t>
                              </m:r>
                            </m:e>
                            <m:sup>
                              <m:box>
                                <m:e>
                                  <m:r>
                                    <m:rPr>
                                      <m:sty m:val="i"/>
                                    </m:rPr>
                                    <m:t>n</m:t>
                                  </m:r>
                                  <m:r>
                                    <m:rPr>
                                      <m:sty m:val="p"/>
                                    </m:rPr>
                                    <m:t>+</m:t>
                                  </m:r>
                                  <m:r>
                                    <m:rPr>
                                      <m:sty m:val="p"/>
                                    </m:rPr>
                                    <m:t>1</m:t>
                                  </m:r>
                                </m:e>
                              </m:box>
                            </m:sup>
                          </m:sSup>
                        </m:e>
                      </m:box>
                    </m:num>
                    <m:den>
                      <m:box>
                        <m:e>
                          <m:r>
                            <m:rPr>
                              <m:sty m:val="i"/>
                            </m:rPr>
                            <m:t>n</m:t>
                          </m:r>
                          <m:r>
                            <m:rPr>
                              <m:sty m:val="p"/>
                            </m:rPr>
                            <m:t>+</m:t>
                          </m:r>
                          <m:r>
                            <m:rPr>
                              <m:sty m:val="p"/>
                            </m:rPr>
                            <m:t>1</m:t>
                          </m:r>
                        </m:e>
                      </m:box>
                    </m:den>
                  </m:f>
                  <m:r>
                    <m:rPr>
                      <m:sty m:val="p"/>
                    </m:rPr>
                    <m:t>+</m:t>
                  </m:r>
                  <m:r>
                    <m:rPr>
                      <m:sty m:val="i"/>
                    </m:rPr>
                    <m:t>C</m:t>
                  </m:r>
                  <m:r>
                    <m:t/>
                  </m:r>
                  <m:r>
                    <m:rPr>
                      <m:sty m:val="p"/>
                    </m:rPr>
                    <m:t>(</m:t>
                  </m:r>
                  <m:r>
                    <m:rPr>
                      <m:sty m:val="i"/>
                    </m:rPr>
                    <m:t>n</m:t>
                  </m:r>
                  <m:r>
                    <m:rPr>
                      <m:sty m:val="p"/>
                    </m:rPr>
                    <m:t>≠</m:t>
                  </m:r>
                  <m:r>
                    <m:rPr>
                      <m:sty m:val="p"/>
                    </m:rPr>
                    <m:t>−</m:t>
                  </m:r>
                  <m:r>
                    <m:rPr>
                      <m:sty m:val="p"/>
                    </m:rPr>
                    <m:t>1</m:t>
                  </m:r>
                  <m:r>
                    <m:rPr>
                      <m:sty m:val="p"/>
                    </m:rPr>
                    <m:t>)</m:t>
                  </m:r>
                </m:e>
              </m:box>
            </m:oMath>
          </a:p>
          <a:p>
            <a:pPr>
              <a:spcAft>
                <a:spcPts val="1000"/>
              </a:spcAft>
            </a:pPr>
            <a:r>
              <a:rPr sz="1800">
                <a:solidFill>
                  <a:srgbClr val="2C3E50"/>
                </a:solidFill>
                <a:latin typeface="Times New Roman"/>
              </a:rPr>
              <a:t>•  </a:t>
            </a:r>
            <m:oMath xmlns:m="http://schemas.openxmlformats.org/officeDocument/2006/math">
              <m:box>
                <m:e>
                  <m:r>
                    <m:rPr>
                      <m:sty m:val="p"/>
                    </m:rPr>
                    <m:t>∫</m:t>
                  </m:r>
                  <m:f>
                    <m:num>
                      <m:box>
                        <m:e>
                          <m:r>
                            <m:rPr>
                              <m:sty m:val="p"/>
                            </m:rPr>
                            <m:t>1</m:t>
                          </m:r>
                        </m:e>
                      </m:box>
                    </m:num>
                    <m:den>
                      <m:box>
                        <m:e>
                          <m:r>
                            <m:rPr>
                              <m:sty m:val="i"/>
                            </m:rPr>
                            <m:t>x</m:t>
                          </m:r>
                        </m:e>
                      </m:box>
                    </m:den>
                  </m:f>
                  <m:r>
                    <m:rPr>
                      <m:sty m:val="i"/>
                    </m:rPr>
                    <m:t>d</m:t>
                  </m:r>
                  <m:r>
                    <m:rPr>
                      <m:sty m:val="i"/>
                    </m:rPr>
                    <m:t>x</m:t>
                  </m:r>
                  <m:r>
                    <m:rPr>
                      <m:sty m:val="p"/>
                    </m:rPr>
                    <m:t>=</m:t>
                  </m:r>
                  <m:r>
                    <m:rPr>
                      <m:sty m:val="p"/>
                    </m:rPr>
                    <m:t>ln</m:t>
                  </m:r>
                  <m:r>
                    <m:rPr>
                      <m:sty m:val="p"/>
                    </m:rPr>
                    <m:t>|</m:t>
                  </m:r>
                  <m:r>
                    <m:rPr>
                      <m:sty m:val="i"/>
                    </m:rPr>
                    <m:t>x</m:t>
                  </m:r>
                  <m:r>
                    <m:rPr>
                      <m:sty m:val="p"/>
                    </m:rPr>
                    <m:t>|</m:t>
                  </m:r>
                  <m:r>
                    <m:rPr>
                      <m:sty m:val="p"/>
                    </m:rPr>
                    <m:t>+</m:t>
                  </m:r>
                  <m:r>
                    <m:rPr>
                      <m:sty m:val="i"/>
                    </m:rPr>
                    <m:t>C</m:t>
                  </m:r>
                </m:e>
              </m:box>
            </m:oMath>
          </a:p>
          <a:p>
            <a:pPr>
              <a:spcAft>
                <a:spcPts val="1000"/>
              </a:spcAft>
            </a:pPr>
            <a:r>
              <a:rPr sz="1800">
                <a:solidFill>
                  <a:srgbClr val="2C3E50"/>
                </a:solidFill>
                <a:latin typeface="Times New Roman"/>
              </a:rPr>
              <a:t>•  </a:t>
            </a:r>
            <m:oMath xmlns:m="http://schemas.openxmlformats.org/officeDocument/2006/math">
              <m:box>
                <m:e>
                  <m:r>
                    <m:rPr>
                      <m:sty m:val="p"/>
                    </m:rPr>
                    <m:t>∫</m:t>
                  </m:r>
                  <m:sSup>
                    <m:e>
                      <m:r>
                        <m:rPr>
                          <m:sty m:val="i"/>
                        </m:rPr>
                        <m:t>e</m:t>
                      </m:r>
                    </m:e>
                    <m:sup>
                      <m:r>
                        <m:rPr>
                          <m:sty m:val="i"/>
                        </m:rPr>
                        <m:t>x</m:t>
                      </m:r>
                    </m:sup>
                  </m:sSup>
                  <m:r>
                    <m:rPr>
                      <m:sty m:val="i"/>
                    </m:rPr>
                    <m:t>d</m:t>
                  </m:r>
                  <m:r>
                    <m:rPr>
                      <m:sty m:val="i"/>
                    </m:rPr>
                    <m:t>x</m:t>
                  </m:r>
                  <m:r>
                    <m:rPr>
                      <m:sty m:val="p"/>
                    </m:rPr>
                    <m:t>=</m:t>
                  </m:r>
                  <m:sSup>
                    <m:e>
                      <m:r>
                        <m:rPr>
                          <m:sty m:val="i"/>
                        </m:rPr>
                        <m:t>e</m:t>
                      </m:r>
                    </m:e>
                    <m:sup>
                      <m:r>
                        <m:rPr>
                          <m:sty m:val="i"/>
                        </m:rPr>
                        <m:t>x</m:t>
                      </m:r>
                    </m:sup>
                  </m:sSup>
                  <m:r>
                    <m:rPr>
                      <m:sty m:val="p"/>
                    </m:rPr>
                    <m:t>+</m:t>
                  </m:r>
                  <m:r>
                    <m:rPr>
                      <m:sty m:val="i"/>
                    </m:rPr>
                    <m:t>C</m:t>
                  </m:r>
                </m:e>
              </m:box>
            </m:oMath>
          </a:p>
          <a:p>
            <a:pPr>
              <a:spcAft>
                <a:spcPts val="1000"/>
              </a:spcAft>
            </a:pPr>
            <a:r>
              <a:rPr sz="1800">
                <a:solidFill>
                  <a:srgbClr val="2C3E50"/>
                </a:solidFill>
                <a:latin typeface="Times New Roman"/>
              </a:rPr>
              <a:t>•  </a:t>
            </a:r>
            <m:oMath xmlns:m="http://schemas.openxmlformats.org/officeDocument/2006/math">
              <m:box>
                <m:e>
                  <m:r>
                    <m:rPr>
                      <m:sty m:val="p"/>
                    </m:rPr>
                    <m:t>∫</m:t>
                  </m:r>
                  <m:r>
                    <m:rPr>
                      <m:sty m:val="p"/>
                    </m:rPr>
                    <m:t>cos</m:t>
                  </m:r>
                  <m:r>
                    <m:rPr>
                      <m:sty m:val="i"/>
                    </m:rPr>
                    <m:t>x</m:t>
                  </m:r>
                  <m:r>
                    <m:rPr>
                      <m:sty m:val="i"/>
                    </m:rPr>
                    <m:t>d</m:t>
                  </m:r>
                  <m:r>
                    <m:rPr>
                      <m:sty m:val="i"/>
                    </m:rPr>
                    <m:t>x</m:t>
                  </m:r>
                  <m:r>
                    <m:rPr>
                      <m:sty m:val="p"/>
                    </m:rPr>
                    <m:t>=</m:t>
                  </m:r>
                  <m:r>
                    <m:rPr>
                      <m:sty m:val="p"/>
                    </m:rPr>
                    <m:t>sin</m:t>
                  </m:r>
                  <m:r>
                    <m:rPr>
                      <m:sty m:val="i"/>
                    </m:rPr>
                    <m:t>x</m:t>
                  </m:r>
                  <m:r>
                    <m:rPr>
                      <m:sty m:val="p"/>
                    </m:rPr>
                    <m:t>+</m:t>
                  </m:r>
                  <m:r>
                    <m:rPr>
                      <m:sty m:val="i"/>
                    </m:rPr>
                    <m:t>C</m:t>
                  </m:r>
                </m:e>
              </m:box>
            </m:oMath>
          </a:p>
          <a:p>
            <a:pPr>
              <a:spcAft>
                <a:spcPts val="1000"/>
              </a:spcAft>
            </a:pPr>
            <a:r>
              <a:rPr sz="1800">
                <a:solidFill>
                  <a:srgbClr val="2C3E50"/>
                </a:solidFill>
                <a:latin typeface="Times New Roman"/>
              </a:rPr>
              <a:t>•  </a:t>
            </a:r>
            <m:oMath xmlns:m="http://schemas.openxmlformats.org/officeDocument/2006/math">
              <m:box>
                <m:e>
                  <m:r>
                    <m:rPr>
                      <m:sty m:val="p"/>
                    </m:rPr>
                    <m:t>∫</m:t>
                  </m:r>
                  <m:r>
                    <m:rPr>
                      <m:sty m:val="p"/>
                    </m:rPr>
                    <m:t>sin</m:t>
                  </m:r>
                  <m:r>
                    <m:rPr>
                      <m:sty m:val="i"/>
                    </m:rPr>
                    <m:t>x</m:t>
                  </m:r>
                  <m:r>
                    <m:rPr>
                      <m:sty m:val="i"/>
                    </m:rPr>
                    <m:t>d</m:t>
                  </m:r>
                  <m:r>
                    <m:rPr>
                      <m:sty m:val="i"/>
                    </m:rPr>
                    <m:t>x</m:t>
                  </m:r>
                  <m:r>
                    <m:rPr>
                      <m:sty m:val="p"/>
                    </m:rPr>
                    <m:t>=</m:t>
                  </m:r>
                  <m:r>
                    <m:rPr>
                      <m:sty m:val="p"/>
                    </m:rPr>
                    <m:t>−</m:t>
                  </m:r>
                  <m:r>
                    <m:rPr>
                      <m:sty m:val="p"/>
                    </m:rPr>
                    <m:t>cos</m:t>
                  </m:r>
                  <m:r>
                    <m:rPr>
                      <m:sty m:val="i"/>
                    </m:rPr>
                    <m:t>x</m:t>
                  </m:r>
                  <m:r>
                    <m:rPr>
                      <m:sty m:val="p"/>
                    </m:rPr>
                    <m:t>+</m:t>
                  </m:r>
                  <m:r>
                    <m:rPr>
                      <m:sty m:val="i"/>
                    </m:rPr>
                    <m:t>C</m:t>
                  </m:r>
                </m:e>
              </m:box>
            </m:oMath>
          </a:p>
          <a:p>
            <a:pPr>
              <a:spcAft>
                <a:spcPts val="1000"/>
              </a:spcAft>
            </a:pPr>
            <a:r>
              <a:rPr sz="1800">
                <a:solidFill>
                  <a:srgbClr val="2C3E50"/>
                </a:solidFill>
                <a:latin typeface="Times New Roman"/>
              </a:rPr>
              <a:t>•  </a:t>
            </a:r>
            <m:oMath xmlns:m="http://schemas.openxmlformats.org/officeDocument/2006/math">
              <m:box>
                <m:e>
                  <m:r>
                    <m:rPr>
                      <m:sty m:val="p"/>
                    </m:rPr>
                    <m:t>∫</m:t>
                  </m:r>
                  <m:f>
                    <m:num>
                      <m:box>
                        <m:e>
                          <m:r>
                            <m:rPr>
                              <m:sty m:val="p"/>
                            </m:rPr>
                            <m:t>1</m:t>
                          </m:r>
                        </m:e>
                      </m:box>
                    </m:num>
                    <m:den>
                      <m:box>
                        <m:e>
                          <m:sSup>
                            <m:e>
                              <m:r>
                                <m:rPr>
                                  <m:sty m:val="p"/>
                                </m:rPr>
                                <m:t>cos</m:t>
                              </m:r>
                            </m:e>
                            <m:sup>
                              <m:r>
                                <m:rPr>
                                  <m:sty m:val="p"/>
                                </m:rPr>
                                <m:t>2</m:t>
                              </m:r>
                            </m:sup>
                          </m:sSup>
                          <m:r>
                            <m:rPr>
                              <m:sty m:val="i"/>
                            </m:rPr>
                            <m:t>x</m:t>
                          </m:r>
                        </m:e>
                      </m:box>
                    </m:den>
                  </m:f>
                  <m:r>
                    <m:rPr>
                      <m:sty m:val="i"/>
                    </m:rPr>
                    <m:t>d</m:t>
                  </m:r>
                  <m:r>
                    <m:rPr>
                      <m:sty m:val="i"/>
                    </m:rPr>
                    <m:t>x</m:t>
                  </m:r>
                  <m:r>
                    <m:rPr>
                      <m:sty m:val="p"/>
                    </m:rPr>
                    <m:t>=</m:t>
                  </m:r>
                  <m:r>
                    <m:rPr>
                      <m:sty m:val="p"/>
                    </m:rPr>
                    <m:t>tan</m:t>
                  </m:r>
                  <m:r>
                    <m:rPr>
                      <m:sty m:val="i"/>
                    </m:rPr>
                    <m:t>x</m:t>
                  </m:r>
                  <m:r>
                    <m:rPr>
                      <m:sty m:val="p"/>
                    </m:rPr>
                    <m:t>+</m:t>
                  </m:r>
                  <m:r>
                    <m:rPr>
                      <m:sty m:val="i"/>
                    </m:rPr>
                    <m:t>C</m:t>
                  </m:r>
                </m:e>
              </m:box>
            </m:oMath>
          </a:p>
          <a:p>
            <a:pPr>
              <a:spcAft>
                <a:spcPts val="1000"/>
              </a:spcAft>
            </a:pPr>
            <a:r>
              <a:rPr sz="1800">
                <a:solidFill>
                  <a:srgbClr val="2C3E50"/>
                </a:solidFill>
                <a:latin typeface="Times New Roman"/>
              </a:rPr>
              <a:t>•  </a:t>
            </a:r>
            <m:oMath xmlns:m="http://schemas.openxmlformats.org/officeDocument/2006/math">
              <m:box>
                <m:e>
                  <m:r>
                    <m:rPr>
                      <m:sty m:val="p"/>
                    </m:rPr>
                    <m:t>∫</m:t>
                  </m:r>
                  <m:f>
                    <m:num>
                      <m:box>
                        <m:e>
                          <m:r>
                            <m:rPr>
                              <m:sty m:val="p"/>
                            </m:rPr>
                            <m:t>1</m:t>
                          </m:r>
                        </m:e>
                      </m:box>
                    </m:num>
                    <m:den>
                      <m:box>
                        <m:e>
                          <m:sSup>
                            <m:e>
                              <m:r>
                                <m:rPr>
                                  <m:sty m:val="p"/>
                                </m:rPr>
                                <m:t>sin</m:t>
                              </m:r>
                            </m:e>
                            <m:sup>
                              <m:r>
                                <m:rPr>
                                  <m:sty m:val="p"/>
                                </m:rPr>
                                <m:t>2</m:t>
                              </m:r>
                            </m:sup>
                          </m:sSup>
                          <m:r>
                            <m:rPr>
                              <m:sty m:val="i"/>
                            </m:rPr>
                            <m:t>x</m:t>
                          </m:r>
                        </m:e>
                      </m:box>
                    </m:den>
                  </m:f>
                  <m:r>
                    <m:rPr>
                      <m:sty m:val="i"/>
                    </m:rPr>
                    <m:t>d</m:t>
                  </m:r>
                  <m:r>
                    <m:rPr>
                      <m:sty m:val="i"/>
                    </m:rPr>
                    <m:t>x</m:t>
                  </m:r>
                  <m:r>
                    <m:rPr>
                      <m:sty m:val="p"/>
                    </m:rPr>
                    <m:t>=</m:t>
                  </m:r>
                  <m:r>
                    <m:rPr>
                      <m:sty m:val="p"/>
                    </m:rPr>
                    <m:t>−</m:t>
                  </m:r>
                  <m:r>
                    <m:rPr>
                      <m:sty m:val="p"/>
                    </m:rPr>
                    <m:t>cot</m:t>
                  </m:r>
                  <m:r>
                    <m:rPr>
                      <m:sty m:val="i"/>
                    </m:rPr>
                    <m:t>x</m:t>
                  </m:r>
                  <m:r>
                    <m:rPr>
                      <m:sty m:val="p"/>
                    </m:rPr>
                    <m:t>+</m:t>
                  </m:r>
                  <m:r>
                    <m:rPr>
                      <m:sty m:val="i"/>
                    </m:rPr>
                    <m:t>C</m:t>
                  </m:r>
                </m:e>
              </m:box>
            </m:oMath>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Bài tập vận dụng 1</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Tìm nguyên hàm của hàm số </a:t>
            </a:r>
            <m:oMath xmlns:m="http://schemas.openxmlformats.org/officeDocument/2006/math">
              <m:box>
                <m:e>
                  <m:r>
                    <m:rPr>
                      <m:sty m:val="i"/>
                    </m:rPr>
                    <m:t>f</m:t>
                  </m:r>
                  <m:r>
                    <m:rPr>
                      <m:sty m:val="p"/>
                    </m:rPr>
                    <m:t>(</m:t>
                  </m:r>
                  <m:r>
                    <m:rPr>
                      <m:sty m:val="i"/>
                    </m:rPr>
                    <m:t>x</m:t>
                  </m:r>
                  <m:r>
                    <m:rPr>
                      <m:sty m:val="p"/>
                    </m:rPr>
                    <m:t>)</m:t>
                  </m:r>
                  <m:r>
                    <m:rPr>
                      <m:sty m:val="p"/>
                    </m:rPr>
                    <m:t>=</m:t>
                  </m:r>
                  <m:sSup>
                    <m:e>
                      <m:r>
                        <m:rPr>
                          <m:sty m:val="i"/>
                        </m:rPr>
                        <m:t>x</m:t>
                      </m:r>
                    </m:e>
                    <m:sup>
                      <m:r>
                        <m:rPr>
                          <m:sty m:val="p"/>
                        </m:rPr>
                        <m:t>3</m:t>
                      </m:r>
                    </m:sup>
                  </m:sSup>
                  <m:r>
                    <m:rPr>
                      <m:sty m:val="p"/>
                    </m:rPr>
                    <m:t>−</m:t>
                  </m:r>
                  <m:r>
                    <m:rPr>
                      <m:sty m:val="p"/>
                    </m:rPr>
                    <m:t>3</m:t>
                  </m:r>
                  <m:sSup>
                    <m:e>
                      <m:r>
                        <m:rPr>
                          <m:sty m:val="i"/>
                        </m:rPr>
                        <m:t>x</m:t>
                      </m:r>
                    </m:e>
                    <m:sup>
                      <m:r>
                        <m:rPr>
                          <m:sty m:val="p"/>
                        </m:rPr>
                        <m:t>2</m:t>
                      </m:r>
                    </m:sup>
                  </m:sSup>
                  <m:r>
                    <m:rPr>
                      <m:sty m:val="p"/>
                    </m:rPr>
                    <m:t>+</m:t>
                  </m:r>
                  <m:r>
                    <m:rPr>
                      <m:sty m:val="p"/>
                    </m:rPr>
                    <m:t>2</m:t>
                  </m:r>
                </m:e>
              </m:box>
            </m:oMath>
            <a:r>
              <a:rPr sz="1800">
                <a:solidFill>
                  <a:srgbClr val="2C3E50"/>
                </a:solidFill>
                <a:latin typeface="Times New Roman"/>
              </a:rPr>
              <a:t>.</a:t>
            </a:r>
          </a:p>
          <a:p>
            <a:pPr>
              <a:spcAft>
                <a:spcPts val="1000"/>
              </a:spcAft>
            </a:pPr>
            <a:r>
              <a:rPr sz="1800">
                <a:solidFill>
                  <a:srgbClr val="2C3E50"/>
                </a:solidFill>
                <a:latin typeface="Times New Roman"/>
              </a:rPr>
              <a:t>•  Tìm nguyên hàm của hàm số </a:t>
            </a:r>
            <m:oMath xmlns:m="http://schemas.openxmlformats.org/officeDocument/2006/math">
              <m:box>
                <m:e>
                  <m:r>
                    <m:rPr>
                      <m:sty m:val="i"/>
                    </m:rPr>
                    <m:t>g</m:t>
                  </m:r>
                  <m:r>
                    <m:rPr>
                      <m:sty m:val="p"/>
                    </m:rPr>
                    <m:t>(</m:t>
                  </m:r>
                  <m:r>
                    <m:rPr>
                      <m:sty m:val="i"/>
                    </m:rPr>
                    <m:t>x</m:t>
                  </m:r>
                  <m:r>
                    <m:rPr>
                      <m:sty m:val="p"/>
                    </m:rPr>
                    <m:t>)</m:t>
                  </m:r>
                  <m:r>
                    <m:rPr>
                      <m:sty m:val="p"/>
                    </m:rPr>
                    <m:t>=</m:t>
                  </m:r>
                  <m:r>
                    <m:rPr>
                      <m:sty m:val="p"/>
                    </m:rPr>
                    <m:t>4</m:t>
                  </m:r>
                  <m:sSup>
                    <m:e>
                      <m:r>
                        <m:rPr>
                          <m:sty m:val="i"/>
                        </m:rPr>
                        <m:t>e</m:t>
                      </m:r>
                    </m:e>
                    <m:sup>
                      <m:r>
                        <m:rPr>
                          <m:sty m:val="i"/>
                        </m:rPr>
                        <m:t>x</m:t>
                      </m:r>
                    </m:sup>
                  </m:sSup>
                  <m:r>
                    <m:rPr>
                      <m:sty m:val="p"/>
                    </m:rPr>
                    <m:t>−</m:t>
                  </m:r>
                  <m:f>
                    <m:num>
                      <m:box>
                        <m:e>
                          <m:r>
                            <m:rPr>
                              <m:sty m:val="p"/>
                            </m:rPr>
                            <m:t>1</m:t>
                          </m:r>
                        </m:e>
                      </m:box>
                    </m:num>
                    <m:den>
                      <m:box>
                        <m:e>
                          <m:r>
                            <m:rPr>
                              <m:sty m:val="i"/>
                            </m:rPr>
                            <m:t>x</m:t>
                          </m:r>
                        </m:e>
                      </m:box>
                    </m:den>
                  </m:f>
                </m:e>
              </m:box>
            </m:oMath>
            <a:r>
              <a:rPr sz="1800">
                <a:solidFill>
                  <a:srgbClr val="2C3E50"/>
                </a:solidFill>
                <a:latin typeface="Times New Roman"/>
              </a:rPr>
              <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Bài tập vận dụng 2</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Tìm nguyên hàm của hàm số </a:t>
            </a:r>
            <m:oMath xmlns:m="http://schemas.openxmlformats.org/officeDocument/2006/math">
              <m:box>
                <m:e>
                  <m:r>
                    <m:rPr>
                      <m:sty m:val="i"/>
                    </m:rPr>
                    <m:t>h</m:t>
                  </m:r>
                  <m:r>
                    <m:rPr>
                      <m:sty m:val="p"/>
                    </m:rPr>
                    <m:t>(</m:t>
                  </m:r>
                  <m:r>
                    <m:rPr>
                      <m:sty m:val="i"/>
                    </m:rPr>
                    <m:t>x</m:t>
                  </m:r>
                  <m:r>
                    <m:rPr>
                      <m:sty m:val="p"/>
                    </m:rPr>
                    <m:t>)</m:t>
                  </m:r>
                  <m:r>
                    <m:rPr>
                      <m:sty m:val="p"/>
                    </m:rPr>
                    <m:t>=</m:t>
                  </m:r>
                  <m:r>
                    <m:rPr>
                      <m:sty m:val="p"/>
                    </m:rPr>
                    <m:t>sin</m:t>
                  </m:r>
                  <m:r>
                    <m:rPr>
                      <m:sty m:val="p"/>
                    </m:rPr>
                    <m:t>(</m:t>
                  </m:r>
                  <m:r>
                    <m:rPr>
                      <m:sty m:val="p"/>
                    </m:rPr>
                    <m:t>2</m:t>
                  </m:r>
                  <m:r>
                    <m:rPr>
                      <m:sty m:val="i"/>
                    </m:rPr>
                    <m:t>x</m:t>
                  </m:r>
                  <m:r>
                    <m:rPr>
                      <m:sty m:val="p"/>
                    </m:rPr>
                    <m:t>)</m:t>
                  </m:r>
                </m:e>
              </m:box>
            </m:oMath>
            <a:r>
              <a:rPr sz="1800">
                <a:solidFill>
                  <a:srgbClr val="2C3E50"/>
                </a:solidFill>
                <a:latin typeface="Times New Roman"/>
              </a:rPr>
              <a:t>.</a:t>
            </a:r>
          </a:p>
          <a:p>
            <a:pPr>
              <a:spcAft>
                <a:spcPts val="1000"/>
              </a:spcAft>
            </a:pPr>
            <a:r>
              <a:rPr sz="1800">
                <a:solidFill>
                  <a:srgbClr val="2C3E50"/>
                </a:solidFill>
                <a:latin typeface="Times New Roman"/>
              </a:rPr>
              <a:t>•  Tìm nguyên hàm của hàm số </a:t>
            </a:r>
            <m:oMath xmlns:m="http://schemas.openxmlformats.org/officeDocument/2006/math">
              <m:box>
                <m:e>
                  <m:r>
                    <m:rPr>
                      <m:sty m:val="i"/>
                    </m:rPr>
                    <m:t>k</m:t>
                  </m:r>
                  <m:r>
                    <m:rPr>
                      <m:sty m:val="p"/>
                    </m:rPr>
                    <m:t>(</m:t>
                  </m:r>
                  <m:r>
                    <m:rPr>
                      <m:sty m:val="i"/>
                    </m:rPr>
                    <m:t>x</m:t>
                  </m:r>
                  <m:r>
                    <m:rPr>
                      <m:sty m:val="p"/>
                    </m:rPr>
                    <m:t>)</m:t>
                  </m:r>
                  <m:r>
                    <m:rPr>
                      <m:sty m:val="p"/>
                    </m:rPr>
                    <m:t>=</m:t>
                  </m:r>
                  <m:r>
                    <m:rPr>
                      <m:sty m:val="p"/>
                    </m:rPr>
                    <m:t>(</m:t>
                  </m:r>
                  <m:r>
                    <m:rPr>
                      <m:sty m:val="i"/>
                    </m:rPr>
                    <m:t>x</m:t>
                  </m:r>
                  <m:r>
                    <m:rPr>
                      <m:sty m:val="p"/>
                    </m:rPr>
                    <m:t>+</m:t>
                  </m:r>
                  <m:r>
                    <m:rPr>
                      <m:sty m:val="p"/>
                    </m:rPr>
                    <m:t>1</m:t>
                  </m:r>
                  <m:sSup>
                    <m:e>
                      <m:r>
                        <m:rPr>
                          <m:sty m:val="p"/>
                        </m:rPr>
                        <m:t>)</m:t>
                      </m:r>
                    </m:e>
                    <m:sup>
                      <m:r>
                        <m:rPr>
                          <m:sty m:val="p"/>
                        </m:rPr>
                        <m:t>2</m:t>
                      </m:r>
                    </m:sup>
                  </m:sSup>
                </m:e>
              </m:box>
            </m:oMath>
            <a:r>
              <a:rPr sz="1800">
                <a:solidFill>
                  <a:srgbClr val="2C3E50"/>
                </a:solidFill>
                <a:latin typeface="Times New Roman"/>
              </a:rP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Lưu ý quan trọng khi tìm Nguyên hàm</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Luôn nhớ cộng hằng số </a:t>
            </a:r>
            <m:oMath xmlns:m="http://schemas.openxmlformats.org/officeDocument/2006/math">
              <m:box>
                <m:e>
                  <m:r>
                    <m:rPr>
                      <m:sty m:val="i"/>
                    </m:rPr>
                    <m:t>C</m:t>
                  </m:r>
                </m:e>
              </m:box>
            </m:oMath>
            <a:r>
              <a:rPr sz="1800">
                <a:solidFill>
                  <a:srgbClr val="2C3E50"/>
                </a:solidFill>
                <a:latin typeface="Times New Roman"/>
              </a:rPr>
              <a:t> vào kết quả!</a:t>
            </a:r>
          </a:p>
          <a:p>
            <a:pPr>
              <a:spcAft>
                <a:spcPts val="1000"/>
              </a:spcAft>
            </a:pPr>
            <a:r>
              <a:rPr sz="1800">
                <a:solidFill>
                  <a:srgbClr val="2C3E50"/>
                </a:solidFill>
                <a:latin typeface="Times New Roman"/>
              </a:rPr>
              <a:t>•  Kiểm tra lại bằng cách lấy đạo hàm của kết quả.</a:t>
            </a:r>
          </a:p>
          <a:p>
            <a:pPr>
              <a:spcAft>
                <a:spcPts val="1000"/>
              </a:spcAft>
            </a:pPr>
            <a:r>
              <a:rPr sz="1800">
                <a:solidFill>
                  <a:srgbClr val="2C3E50"/>
                </a:solidFill>
                <a:latin typeface="Times New Roman"/>
              </a:rPr>
              <a:t>•  Phân biệt rõ giữa nguyên hàm và đạo hàm.</a:t>
            </a:r>
          </a:p>
          <a:p>
            <a:pPr>
              <a:spcAft>
                <a:spcPts val="1000"/>
              </a:spcAft>
            </a:pPr>
            <a:r>
              <a:rPr sz="1800">
                <a:solidFill>
                  <a:srgbClr val="2C3E50"/>
                </a:solidFill>
                <a:latin typeface="Times New Roman"/>
              </a:rPr>
              <a:t>•  Thực hành thường xuyên để thành thạo bảng nguyên hàm cơ bản.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Tổng kết bài học</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**Định nghĩa Nguyên hàm**: </a:t>
            </a:r>
            <m:oMath xmlns:m="http://schemas.openxmlformats.org/officeDocument/2006/math">
              <m:box>
                <m:e>
                  <m:sSup>
                    <m:e>
                      <m:r>
                        <m:rPr>
                          <m:sty m:val="i"/>
                        </m:rPr>
                        <m:t>F</m:t>
                      </m:r>
                    </m:e>
                    <m:sup>
                      <m:r>
                        <m:rPr>
                          <m:sty m:val="i"/>
                        </m:rPr>
                        <m:t>′</m:t>
                      </m:r>
                    </m:sup>
                  </m:sSup>
                  <m:r>
                    <m:rPr>
                      <m:sty m:val="p"/>
                    </m:rPr>
                    <m:t>(</m:t>
                  </m:r>
                  <m:r>
                    <m:rPr>
                      <m:sty m:val="i"/>
                    </m:rPr>
                    <m:t>x</m:t>
                  </m:r>
                  <m:r>
                    <m:rPr>
                      <m:sty m:val="p"/>
                    </m:rPr>
                    <m:t>)</m:t>
                  </m:r>
                  <m:r>
                    <m:rPr>
                      <m:sty m:val="p"/>
                    </m:rPr>
                    <m:t>=</m:t>
                  </m:r>
                  <m:r>
                    <m:rPr>
                      <m:sty m:val="i"/>
                    </m:rPr>
                    <m:t>f</m:t>
                  </m:r>
                  <m:r>
                    <m:rPr>
                      <m:sty m:val="p"/>
                    </m:rPr>
                    <m:t>(</m:t>
                  </m:r>
                  <m:r>
                    <m:rPr>
                      <m:sty m:val="i"/>
                    </m:rPr>
                    <m:t>x</m:t>
                  </m:r>
                  <m:r>
                    <m:rPr>
                      <m:sty m:val="p"/>
                    </m:rPr>
                    <m:t>)</m:t>
                  </m:r>
                </m:e>
              </m:box>
            </m:oMath>
            <a:r>
              <a:rPr sz="1800">
                <a:solidFill>
                  <a:srgbClr val="2C3E50"/>
                </a:solidFill>
                <a:latin typeface="Times New Roman"/>
              </a:rPr>
              <a:t>.</a:t>
            </a:r>
          </a:p>
          <a:p>
            <a:pPr>
              <a:spcAft>
                <a:spcPts val="1000"/>
              </a:spcAft>
            </a:pPr>
            <a:r>
              <a:rPr sz="1800">
                <a:solidFill>
                  <a:srgbClr val="2C3E50"/>
                </a:solidFill>
                <a:latin typeface="Times New Roman"/>
              </a:rPr>
              <a:t>•  **Họ Nguyên hàm**: </a:t>
            </a:r>
            <m:oMath xmlns:m="http://schemas.openxmlformats.org/officeDocument/2006/math">
              <m:box>
                <m:e>
                  <m:r>
                    <m:rPr>
                      <m:sty m:val="p"/>
                    </m:rPr>
                    <m:t>∫</m:t>
                  </m:r>
                  <m:r>
                    <m:rPr>
                      <m:sty m:val="i"/>
                    </m:rPr>
                    <m:t>f</m:t>
                  </m:r>
                  <m:r>
                    <m:rPr>
                      <m:sty m:val="p"/>
                    </m:rPr>
                    <m:t>(</m:t>
                  </m:r>
                  <m:r>
                    <m:rPr>
                      <m:sty m:val="i"/>
                    </m:rPr>
                    <m:t>x</m:t>
                  </m:r>
                  <m:r>
                    <m:rPr>
                      <m:sty m:val="p"/>
                    </m:rPr>
                    <m:t>)</m:t>
                  </m:r>
                  <m:r>
                    <m:rPr>
                      <m:sty m:val="i"/>
                    </m:rPr>
                    <m:t>d</m:t>
                  </m:r>
                  <m:r>
                    <m:rPr>
                      <m:sty m:val="i"/>
                    </m:rPr>
                    <m:t>x</m:t>
                  </m:r>
                  <m:r>
                    <m:rPr>
                      <m:sty m:val="p"/>
                    </m:rPr>
                    <m:t>=</m:t>
                  </m:r>
                  <m:r>
                    <m:rPr>
                      <m:sty m:val="i"/>
                    </m:rPr>
                    <m:t>F</m:t>
                  </m:r>
                  <m:r>
                    <m:rPr>
                      <m:sty m:val="p"/>
                    </m:rPr>
                    <m:t>(</m:t>
                  </m:r>
                  <m:r>
                    <m:rPr>
                      <m:sty m:val="i"/>
                    </m:rPr>
                    <m:t>x</m:t>
                  </m:r>
                  <m:r>
                    <m:rPr>
                      <m:sty m:val="p"/>
                    </m:rPr>
                    <m:t>)</m:t>
                  </m:r>
                  <m:r>
                    <m:rPr>
                      <m:sty m:val="p"/>
                    </m:rPr>
                    <m:t>+</m:t>
                  </m:r>
                  <m:r>
                    <m:rPr>
                      <m:sty m:val="i"/>
                    </m:rPr>
                    <m:t>C</m:t>
                  </m:r>
                </m:e>
              </m:box>
            </m:oMath>
            <a:r>
              <a:rPr sz="1800">
                <a:solidFill>
                  <a:srgbClr val="2C3E50"/>
                </a:solidFill>
                <a:latin typeface="Times New Roman"/>
              </a:rPr>
              <a:t>.</a:t>
            </a:r>
          </a:p>
          <a:p>
            <a:pPr>
              <a:spcAft>
                <a:spcPts val="1000"/>
              </a:spcAft>
            </a:pPr>
            <a:r>
              <a:rPr sz="1800">
                <a:solidFill>
                  <a:srgbClr val="2C3E50"/>
                </a:solidFill>
                <a:latin typeface="Times New Roman"/>
              </a:rPr>
              <a:t>•  **Tính chất**: Hằng số, tổng/hiệu.</a:t>
            </a:r>
          </a:p>
          <a:p>
            <a:pPr>
              <a:spcAft>
                <a:spcPts val="1000"/>
              </a:spcAft>
            </a:pPr>
            <a:r>
              <a:rPr sz="1800">
                <a:solidFill>
                  <a:srgbClr val="2C3E50"/>
                </a:solidFill>
                <a:latin typeface="Times New Roman"/>
              </a:rPr>
              <a:t>•  **Bảng Nguyên hàm cơ bản**.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